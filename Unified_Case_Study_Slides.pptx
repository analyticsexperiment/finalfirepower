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4968" r:id="rId2"/>
    <p:sldId id="2147474969" r:id="rId3"/>
    <p:sldId id="2147474970" r:id="rId4"/>
    <p:sldId id="2147474971" r:id="rId5"/>
    <p:sldId id="214747497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94C047-0322-5B86-E388-650C64D7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317424"/>
            <a:ext cx="3508375" cy="1715143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SE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B0F1A822-CBCA-0B06-BFFB-92B3A7C245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32288" y="188912"/>
            <a:ext cx="7667625" cy="6300788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DAF44A-99EC-0FDF-9B6B-F980E26CB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5600" y="3345082"/>
            <a:ext cx="3508375" cy="17014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buFontTx/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lnSpc>
                <a:spcPct val="110000"/>
              </a:lnSpc>
              <a:buFontTx/>
              <a:buNone/>
              <a:defRPr sz="2000">
                <a:solidFill>
                  <a:schemeClr val="accent1"/>
                </a:solidFill>
              </a:defRPr>
            </a:lvl2pPr>
            <a:lvl3pPr marL="914400" indent="0">
              <a:lnSpc>
                <a:spcPct val="110000"/>
              </a:lnSpc>
              <a:buFontTx/>
              <a:buNone/>
              <a:defRPr sz="2000">
                <a:solidFill>
                  <a:schemeClr val="accent1"/>
                </a:solidFill>
              </a:defRPr>
            </a:lvl3pPr>
            <a:lvl4pPr marL="1371600" indent="0">
              <a:lnSpc>
                <a:spcPct val="110000"/>
              </a:lnSpc>
              <a:buFontTx/>
              <a:buNone/>
              <a:defRPr sz="2000">
                <a:solidFill>
                  <a:schemeClr val="accent1"/>
                </a:solidFill>
              </a:defRPr>
            </a:lvl4pPr>
            <a:lvl5pPr marL="1828800" indent="0">
              <a:lnSpc>
                <a:spcPct val="110000"/>
              </a:lnSpc>
              <a:buFontTx/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SE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650CA29-C8E6-0913-EA40-9CC87F9045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5602" y="5362048"/>
            <a:ext cx="3508374" cy="3243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accent1"/>
              </a:buClr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2pPr>
            <a:lvl3pPr marL="9144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4pPr>
            <a:lvl5pPr marL="18288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Presenter Name and Surname</a:t>
            </a:r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73CBF75A-98B9-4E6A-6A64-C5F743D8C9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5602" y="5695681"/>
            <a:ext cx="3508374" cy="3243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accent1"/>
              </a:buClr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2pPr>
            <a:lvl3pPr marL="9144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4pPr>
            <a:lvl5pPr marL="18288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 of presenter</a:t>
            </a:r>
            <a:endParaRPr lang="en-US" dirty="0"/>
          </a:p>
        </p:txBody>
      </p:sp>
      <p:pic>
        <p:nvPicPr>
          <p:cNvPr id="3" name="Picture Placeholder 7" descr="A person with purple hair&#10;&#10;Description automatically generated with medium confidence">
            <a:extLst>
              <a:ext uri="{FF2B5EF4-FFF2-40B4-BE49-F238E27FC236}">
                <a16:creationId xmlns:a16="http://schemas.microsoft.com/office/drawing/2014/main" id="{0D459A75-FEC6-6142-2BB0-C5487B4BEB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20096" y="185864"/>
            <a:ext cx="7667625" cy="63007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6B40C6D-BFEE-E1EA-F114-B4F1E5B2E54B}"/>
              </a:ext>
            </a:extLst>
          </p:cNvPr>
          <p:cNvSpPr/>
          <p:nvPr userDrawn="1"/>
        </p:nvSpPr>
        <p:spPr>
          <a:xfrm>
            <a:off x="10934949" y="6506308"/>
            <a:ext cx="1016000" cy="1823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9DCB6-8C44-F07A-3238-9E6BB00F3A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8045" y="378821"/>
            <a:ext cx="1741415" cy="47549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4DA63EE-5A91-9BAA-8209-0E2530527301}"/>
              </a:ext>
            </a:extLst>
          </p:cNvPr>
          <p:cNvSpPr/>
          <p:nvPr userDrawn="1"/>
        </p:nvSpPr>
        <p:spPr>
          <a:xfrm>
            <a:off x="0" y="6506308"/>
            <a:ext cx="1016000" cy="1823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444507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ldin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368300"/>
            <a:ext cx="11464925" cy="1260475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rgbClr val="00000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2" name="Platshållare för bildnummer 5">
            <a:extLst>
              <a:ext uri="{FF2B5EF4-FFF2-40B4-BE49-F238E27FC236}">
                <a16:creationId xmlns:a16="http://schemas.microsoft.com/office/drawing/2014/main" id="{21068CD0-1D2A-D6D6-9F0D-A69723B4C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20524" y="6612347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6816097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ldin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798763"/>
            <a:ext cx="11464925" cy="126047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3600" spc="-2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Platshållare för bildnummer 5">
            <a:extLst>
              <a:ext uri="{FF2B5EF4-FFF2-40B4-BE49-F238E27FC236}">
                <a16:creationId xmlns:a16="http://schemas.microsoft.com/office/drawing/2014/main" id="{7DDCE3BF-25A7-A8F9-318C-94F8D7BD9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4968" y="6499225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BCC9B-0ADA-8248-AF0E-BFEA913843C9}"/>
              </a:ext>
            </a:extLst>
          </p:cNvPr>
          <p:cNvSpPr txBox="1">
            <a:spLocks/>
          </p:cNvSpPr>
          <p:nvPr userDrawn="1"/>
        </p:nvSpPr>
        <p:spPr>
          <a:xfrm>
            <a:off x="10347896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800" dirty="0">
                <a:solidFill>
                  <a:schemeClr val="bg2"/>
                </a:solidFill>
              </a:rPr>
              <a:t>© eClerx </a:t>
            </a:r>
          </a:p>
        </p:txBody>
      </p:sp>
    </p:spTree>
    <p:extLst>
      <p:ext uri="{BB962C8B-B14F-4D97-AF65-F5344CB8AC3E}">
        <p14:creationId xmlns:p14="http://schemas.microsoft.com/office/powerpoint/2010/main" val="2911624417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ldin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368300"/>
            <a:ext cx="11464925" cy="1260475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rgbClr val="00000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D3872E-41EA-6A78-D1AE-D2F199A26D07}"/>
              </a:ext>
            </a:extLst>
          </p:cNvPr>
          <p:cNvSpPr/>
          <p:nvPr userDrawn="1"/>
        </p:nvSpPr>
        <p:spPr>
          <a:xfrm>
            <a:off x="3405493" y="1600200"/>
            <a:ext cx="8643072" cy="35903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203DB1-0D8C-2CE1-40EE-C9DB58D46BC5}"/>
              </a:ext>
            </a:extLst>
          </p:cNvPr>
          <p:cNvSpPr/>
          <p:nvPr userDrawn="1"/>
        </p:nvSpPr>
        <p:spPr>
          <a:xfrm>
            <a:off x="260302" y="1597152"/>
            <a:ext cx="2928395" cy="48730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17C43-AD52-5454-741F-6A012023C6F8}"/>
              </a:ext>
            </a:extLst>
          </p:cNvPr>
          <p:cNvSpPr txBox="1"/>
          <p:nvPr userDrawn="1"/>
        </p:nvSpPr>
        <p:spPr>
          <a:xfrm>
            <a:off x="341176" y="1695635"/>
            <a:ext cx="2689106" cy="33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B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90B45C-25BC-F344-570C-D5F767669314}"/>
              </a:ext>
            </a:extLst>
          </p:cNvPr>
          <p:cNvSpPr txBox="1"/>
          <p:nvPr userDrawn="1"/>
        </p:nvSpPr>
        <p:spPr>
          <a:xfrm>
            <a:off x="3463554" y="1695635"/>
            <a:ext cx="2689106" cy="33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B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eClerx Solution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24D060-3467-4159-9DA1-5BC93BF521DE}"/>
              </a:ext>
            </a:extLst>
          </p:cNvPr>
          <p:cNvSpPr/>
          <p:nvPr userDrawn="1"/>
        </p:nvSpPr>
        <p:spPr>
          <a:xfrm>
            <a:off x="3391031" y="5289012"/>
            <a:ext cx="8646640" cy="116966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BE1887-EE60-CB8C-A6A0-D67D76B5F3AE}"/>
              </a:ext>
            </a:extLst>
          </p:cNvPr>
          <p:cNvSpPr txBox="1"/>
          <p:nvPr userDrawn="1"/>
        </p:nvSpPr>
        <p:spPr>
          <a:xfrm>
            <a:off x="3529779" y="5581455"/>
            <a:ext cx="140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B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97B4ED-07DC-D443-3992-5D522D525C07}"/>
              </a:ext>
            </a:extLst>
          </p:cNvPr>
          <p:cNvSpPr txBox="1"/>
          <p:nvPr userDrawn="1"/>
        </p:nvSpPr>
        <p:spPr>
          <a:xfrm>
            <a:off x="341176" y="3505200"/>
            <a:ext cx="2689106" cy="33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B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Challenge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F2839D27-66CC-865C-7A30-E80C424CB65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781847" y="6660438"/>
            <a:ext cx="305102" cy="169863"/>
          </a:xfrm>
        </p:spPr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2816317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with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338" y="368300"/>
            <a:ext cx="11464925" cy="1260475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rgbClr val="00000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426D6-0C9C-9D41-7CB9-64F310CA75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48413" y="2024063"/>
            <a:ext cx="5472111" cy="410691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1pPr>
            <a:lvl2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2pPr>
            <a:lvl3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3pPr>
            <a:lvl4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4pPr>
            <a:lvl5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E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B370772C-3D48-0A38-E64D-E927B1D3D45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7338" y="2024063"/>
            <a:ext cx="5472111" cy="410691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E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9F6387-BB37-28A5-9DDA-677F0ED701C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024063"/>
            <a:ext cx="0" cy="3950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8DDB97-FC67-4BBF-477F-604B1AF2C07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50781881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with thre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338" y="368300"/>
            <a:ext cx="11464925" cy="1260475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rgbClr val="00000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426D6-0C9C-9D41-7CB9-64F310CA75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32289" y="2024063"/>
            <a:ext cx="3496637" cy="410691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1pPr>
            <a:lvl2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2pPr>
            <a:lvl3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3pPr>
            <a:lvl4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4pPr>
            <a:lvl5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E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B370772C-3D48-0A38-E64D-E927B1D3D45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7338" y="2024063"/>
            <a:ext cx="3496637" cy="410691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1pPr>
            <a:lvl2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2pPr>
            <a:lvl3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3pPr>
            <a:lvl4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4pPr>
            <a:lvl5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E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A0549588-AE11-012D-501E-7C360552855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34662" y="2024063"/>
            <a:ext cx="3496637" cy="410691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1pPr>
            <a:lvl2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2pPr>
            <a:lvl3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3pPr>
            <a:lvl4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4pPr>
            <a:lvl5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EC612A-E59E-5272-2702-DF4BECF6D742}"/>
              </a:ext>
            </a:extLst>
          </p:cNvPr>
          <p:cNvCxnSpPr>
            <a:cxnSpLocks/>
          </p:cNvCxnSpPr>
          <p:nvPr userDrawn="1"/>
        </p:nvCxnSpPr>
        <p:spPr>
          <a:xfrm>
            <a:off x="4078454" y="2024063"/>
            <a:ext cx="0" cy="3950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B22AC3-A5FC-9066-BF63-84D301CAC6EB}"/>
              </a:ext>
            </a:extLst>
          </p:cNvPr>
          <p:cNvCxnSpPr>
            <a:cxnSpLocks/>
          </p:cNvCxnSpPr>
          <p:nvPr userDrawn="1"/>
        </p:nvCxnSpPr>
        <p:spPr>
          <a:xfrm>
            <a:off x="8064046" y="2024063"/>
            <a:ext cx="0" cy="3950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9A8588-4A0A-B0CE-7375-93519ADCB23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45992921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008AB74-75D7-49BE-B9AC-653E7CF10BE0}"/>
              </a:ext>
            </a:extLst>
          </p:cNvPr>
          <p:cNvSpPr/>
          <p:nvPr userDrawn="1"/>
        </p:nvSpPr>
        <p:spPr>
          <a:xfrm>
            <a:off x="4332289" y="188913"/>
            <a:ext cx="7667624" cy="631031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600" y="1015873"/>
            <a:ext cx="3508376" cy="2689693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 spc="-20" baseline="0"/>
            </a:lvl1pPr>
          </a:lstStyle>
          <a:p>
            <a:r>
              <a:rPr lang="en-US" noProof="0" dirty="0"/>
              <a:t>Agenda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6A7B8-50E1-E324-F5B3-96BE2F6057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0614" y="1628775"/>
            <a:ext cx="7189911" cy="43561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40000"/>
              </a:lnSpc>
              <a:buClr>
                <a:schemeClr val="accent1"/>
              </a:buClr>
              <a:defRPr sz="2400">
                <a:solidFill>
                  <a:srgbClr val="000000"/>
                </a:solidFill>
              </a:defRPr>
            </a:lvl1pPr>
            <a:lvl2pPr>
              <a:lnSpc>
                <a:spcPct val="140000"/>
              </a:lnSpc>
              <a:buClr>
                <a:schemeClr val="accent1"/>
              </a:buClr>
              <a:defRPr sz="2400">
                <a:solidFill>
                  <a:srgbClr val="000000"/>
                </a:solidFill>
              </a:defRPr>
            </a:lvl2pPr>
            <a:lvl3pPr>
              <a:lnSpc>
                <a:spcPct val="140000"/>
              </a:lnSpc>
              <a:buClr>
                <a:schemeClr val="accent1"/>
              </a:buClr>
              <a:defRPr sz="2400">
                <a:solidFill>
                  <a:srgbClr val="000000"/>
                </a:solidFill>
              </a:defRPr>
            </a:lvl3pPr>
            <a:lvl4pPr>
              <a:lnSpc>
                <a:spcPct val="140000"/>
              </a:lnSpc>
              <a:buClr>
                <a:schemeClr val="accent1"/>
              </a:buClr>
              <a:defRPr sz="2400">
                <a:solidFill>
                  <a:srgbClr val="000000"/>
                </a:solidFill>
              </a:defRPr>
            </a:lvl4pPr>
            <a:lvl5pPr>
              <a:lnSpc>
                <a:spcPct val="140000"/>
              </a:lnSpc>
              <a:buClr>
                <a:schemeClr val="accent1"/>
              </a:buClr>
              <a:defRPr sz="24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9BE4A-E45B-E543-9761-FB68FB5C27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0614" y="368300"/>
            <a:ext cx="7189911" cy="716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January 1, 2024</a:t>
            </a:r>
            <a:endParaRPr lang="en-SE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9A73ED8-B5C0-5D3B-A3D8-37C1CE47DA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3955" y="368300"/>
            <a:ext cx="3508376" cy="8874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40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eClerx</a:t>
            </a:r>
            <a:endParaRPr lang="en-S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62F0A6-A24D-421D-4954-BDC9CCB489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28320046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F692F-D5FF-F486-C448-F92EE38AB2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5600" y="368299"/>
            <a:ext cx="11464924" cy="56165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Clr>
                <a:schemeClr val="accent1"/>
              </a:buClr>
              <a:buNone/>
              <a:defRPr sz="2800" spc="-90" baseline="0">
                <a:solidFill>
                  <a:srgbClr val="000000"/>
                </a:solidFill>
              </a:defRPr>
            </a:lvl1pPr>
            <a:lvl2pPr marL="457200" indent="0">
              <a:buClr>
                <a:schemeClr val="accent1"/>
              </a:buClr>
              <a:buNone/>
              <a:defRPr>
                <a:solidFill>
                  <a:schemeClr val="tx1"/>
                </a:solidFill>
              </a:defRPr>
            </a:lvl2pPr>
            <a:lvl3pPr marL="914400" indent="0">
              <a:buClr>
                <a:schemeClr val="accent1"/>
              </a:buClr>
              <a:buNone/>
              <a:defRPr>
                <a:solidFill>
                  <a:schemeClr val="tx1"/>
                </a:solidFill>
              </a:defRPr>
            </a:lvl3pPr>
            <a:lvl4pPr marL="1371600" indent="0">
              <a:buClr>
                <a:schemeClr val="accent1"/>
              </a:buClr>
              <a:buNone/>
              <a:defRPr>
                <a:solidFill>
                  <a:schemeClr val="tx1"/>
                </a:solidFill>
              </a:defRPr>
            </a:lvl4pPr>
            <a:lvl5pPr marL="1828800" indent="0">
              <a:buClr>
                <a:schemeClr val="accent1"/>
              </a:buClr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2E60BC-21AD-D8CB-013C-9967363393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00844084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368300"/>
            <a:ext cx="3508375" cy="1922439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6A7B8-50E1-E324-F5B3-96BE2F6057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5600" y="2492374"/>
            <a:ext cx="3508375" cy="379569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6EAD00-DD4D-87AC-1AD3-2CFF026934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32287" y="188913"/>
            <a:ext cx="7667625" cy="630078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SE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C7A55C-EEF1-7B96-C7C6-EDFB2680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50190136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368300"/>
            <a:ext cx="11464924" cy="1460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6EAD00-DD4D-87AC-1AD3-2CFF026934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5600" y="2024062"/>
            <a:ext cx="11464924" cy="43164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SE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2AEEB6-86F2-E203-4F90-F6BB2C100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99562388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599" y="368301"/>
            <a:ext cx="11464925" cy="109474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Executive summary</a:t>
            </a:r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4E5E1-4793-6CBC-CB33-1B7598241F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55600" y="2024063"/>
            <a:ext cx="5487988" cy="1643162"/>
          </a:xfrm>
          <a:prstGeom prst="rect">
            <a:avLst/>
          </a:prstGeom>
        </p:spPr>
        <p:txBody>
          <a:bodyPr lIns="0" tIns="0" rIns="0" bIns="0"/>
          <a:lstStyle>
            <a:lvl1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1pPr>
            <a:lvl2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2pPr>
            <a:lvl3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3pPr>
            <a:lvl4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4pPr>
            <a:lvl5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6F9712-478D-0B32-77E0-604B79CE8E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599" y="1628775"/>
            <a:ext cx="5487988" cy="5946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Goal of project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6F461C0-BC6F-5A4B-199E-3A51568E4F0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5600" y="4334126"/>
            <a:ext cx="5487988" cy="1643162"/>
          </a:xfrm>
          <a:prstGeom prst="rect">
            <a:avLst/>
          </a:prstGeom>
        </p:spPr>
        <p:txBody>
          <a:bodyPr lIns="0" tIns="0" rIns="0" bIns="0"/>
          <a:lstStyle>
            <a:lvl1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1pPr>
            <a:lvl2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2pPr>
            <a:lvl3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3pPr>
            <a:lvl4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4pPr>
            <a:lvl5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E5BFD72-2544-833D-13B1-36F93D49EA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5599" y="3938838"/>
            <a:ext cx="5487988" cy="5946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Main methodology and approach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5000B35-A3B8-D601-8568-71FDEEA45D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8413" y="1628775"/>
            <a:ext cx="5487988" cy="5946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Main deliverables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A0F7F4C-E855-9971-55DD-335A56F6AE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48414" y="4334126"/>
            <a:ext cx="5487988" cy="1643162"/>
          </a:xfrm>
          <a:prstGeom prst="rect">
            <a:avLst/>
          </a:prstGeom>
        </p:spPr>
        <p:txBody>
          <a:bodyPr lIns="0" tIns="0" rIns="0" bIns="0"/>
          <a:lstStyle>
            <a:lvl1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1pPr>
            <a:lvl2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2pPr>
            <a:lvl3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3pPr>
            <a:lvl4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4pPr>
            <a:lvl5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4AD8337-0768-B5C4-A255-65E4A7891D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48413" y="3938838"/>
            <a:ext cx="5487988" cy="5946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Scope and prerequisites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8C9FDE-9B56-C06B-E8CC-7ABA180B65DE}"/>
              </a:ext>
            </a:extLst>
          </p:cNvPr>
          <p:cNvCxnSpPr/>
          <p:nvPr userDrawn="1"/>
        </p:nvCxnSpPr>
        <p:spPr>
          <a:xfrm>
            <a:off x="355600" y="1628775"/>
            <a:ext cx="54879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88080A-90A8-93D8-888C-36410436B564}"/>
              </a:ext>
            </a:extLst>
          </p:cNvPr>
          <p:cNvCxnSpPr>
            <a:cxnSpLocks/>
          </p:cNvCxnSpPr>
          <p:nvPr userDrawn="1"/>
        </p:nvCxnSpPr>
        <p:spPr>
          <a:xfrm>
            <a:off x="6348413" y="1628775"/>
            <a:ext cx="54879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E8315D-F2C6-1F7C-2219-2399A360CAD6}"/>
              </a:ext>
            </a:extLst>
          </p:cNvPr>
          <p:cNvCxnSpPr/>
          <p:nvPr userDrawn="1"/>
        </p:nvCxnSpPr>
        <p:spPr>
          <a:xfrm>
            <a:off x="355600" y="3933056"/>
            <a:ext cx="54879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C12A48-1856-86A9-2820-DF703F1C9533}"/>
              </a:ext>
            </a:extLst>
          </p:cNvPr>
          <p:cNvCxnSpPr>
            <a:cxnSpLocks/>
          </p:cNvCxnSpPr>
          <p:nvPr userDrawn="1"/>
        </p:nvCxnSpPr>
        <p:spPr>
          <a:xfrm>
            <a:off x="6348413" y="3933056"/>
            <a:ext cx="54879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ED55140-0D5B-C43F-0E99-1D1EDCE9452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8413" y="2024063"/>
            <a:ext cx="5487988" cy="1643162"/>
          </a:xfrm>
          <a:prstGeom prst="rect">
            <a:avLst/>
          </a:prstGeom>
        </p:spPr>
        <p:txBody>
          <a:bodyPr lIns="0" tIns="0" rIns="0" bIns="0"/>
          <a:lstStyle>
            <a:lvl1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1pPr>
            <a:lvl2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2pPr>
            <a:lvl3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3pPr>
            <a:lvl4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4pPr>
            <a:lvl5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7524FE-EAF3-1B9D-8B66-AF035EFADD8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85009312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599" y="1025421"/>
            <a:ext cx="11464925" cy="755962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chemeClr val="accent1"/>
                </a:solidFill>
              </a:defRPr>
            </a:lvl1pPr>
          </a:lstStyle>
          <a:p>
            <a:r>
              <a:rPr lang="en-US" noProof="0" dirty="0"/>
              <a:t>Name of presentation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B7D466-6F42-A983-3F8D-2BBCC72326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5600" y="368300"/>
            <a:ext cx="7972425" cy="8533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lnSpc>
                <a:spcPct val="0"/>
              </a:lnSpc>
              <a:buNone/>
              <a:defRPr sz="4000"/>
            </a:lvl2pPr>
            <a:lvl3pPr marL="914400" indent="0">
              <a:lnSpc>
                <a:spcPct val="0"/>
              </a:lnSpc>
              <a:buNone/>
              <a:defRPr sz="4000"/>
            </a:lvl3pPr>
            <a:lvl4pPr marL="1371600" indent="0">
              <a:lnSpc>
                <a:spcPct val="0"/>
              </a:lnSpc>
              <a:buNone/>
              <a:defRPr sz="4000"/>
            </a:lvl4pPr>
            <a:lvl5pPr marL="1828800" indent="0">
              <a:lnSpc>
                <a:spcPct val="0"/>
              </a:lnSpc>
              <a:buNone/>
              <a:defRPr sz="4000"/>
            </a:lvl5pPr>
          </a:lstStyle>
          <a:p>
            <a:pPr lvl="0"/>
            <a:r>
              <a:rPr lang="en-SE" dirty="0"/>
              <a:t>Appendix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02D20E-1DB9-485F-D676-38888F0F78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44924476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bar info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87C109B3-A2F1-0D14-695A-39A70E946DB7}"/>
              </a:ext>
            </a:extLst>
          </p:cNvPr>
          <p:cNvSpPr/>
          <p:nvPr userDrawn="1"/>
        </p:nvSpPr>
        <p:spPr>
          <a:xfrm>
            <a:off x="3139440" y="5167072"/>
            <a:ext cx="8680535" cy="82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entagon 41">
            <a:extLst>
              <a:ext uri="{FF2B5EF4-FFF2-40B4-BE49-F238E27FC236}">
                <a16:creationId xmlns:a16="http://schemas.microsoft.com/office/drawing/2014/main" id="{4CFAD694-B4F7-1F43-42EB-419ECB0A8FB6}"/>
              </a:ext>
            </a:extLst>
          </p:cNvPr>
          <p:cNvSpPr/>
          <p:nvPr userDrawn="1"/>
        </p:nvSpPr>
        <p:spPr>
          <a:xfrm>
            <a:off x="425873" y="5167072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33DB9E-4254-41D9-10B3-C414E2856DCE}"/>
              </a:ext>
            </a:extLst>
          </p:cNvPr>
          <p:cNvSpPr/>
          <p:nvPr userDrawn="1"/>
        </p:nvSpPr>
        <p:spPr>
          <a:xfrm>
            <a:off x="3139440" y="4282496"/>
            <a:ext cx="8680535" cy="82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entagon 40">
            <a:extLst>
              <a:ext uri="{FF2B5EF4-FFF2-40B4-BE49-F238E27FC236}">
                <a16:creationId xmlns:a16="http://schemas.microsoft.com/office/drawing/2014/main" id="{6E3E3A11-3856-87D9-3DE2-686E0687651F}"/>
              </a:ext>
            </a:extLst>
          </p:cNvPr>
          <p:cNvSpPr/>
          <p:nvPr userDrawn="1"/>
        </p:nvSpPr>
        <p:spPr>
          <a:xfrm>
            <a:off x="425873" y="4282496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3A4DE0-0B66-A47D-97CC-89C159969AFD}"/>
              </a:ext>
            </a:extLst>
          </p:cNvPr>
          <p:cNvSpPr/>
          <p:nvPr userDrawn="1"/>
        </p:nvSpPr>
        <p:spPr>
          <a:xfrm>
            <a:off x="3139440" y="3397922"/>
            <a:ext cx="8680535" cy="82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Pentagon 39">
            <a:extLst>
              <a:ext uri="{FF2B5EF4-FFF2-40B4-BE49-F238E27FC236}">
                <a16:creationId xmlns:a16="http://schemas.microsoft.com/office/drawing/2014/main" id="{19D4252C-0198-9D44-0426-5C7C0A4D8DC4}"/>
              </a:ext>
            </a:extLst>
          </p:cNvPr>
          <p:cNvSpPr/>
          <p:nvPr userDrawn="1"/>
        </p:nvSpPr>
        <p:spPr>
          <a:xfrm>
            <a:off x="425873" y="3397922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F6CEE7-92FA-B601-655D-D9F12787A1DC}"/>
              </a:ext>
            </a:extLst>
          </p:cNvPr>
          <p:cNvSpPr/>
          <p:nvPr userDrawn="1"/>
        </p:nvSpPr>
        <p:spPr>
          <a:xfrm>
            <a:off x="3139440" y="2513348"/>
            <a:ext cx="8680535" cy="82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Pentagon 38">
            <a:extLst>
              <a:ext uri="{FF2B5EF4-FFF2-40B4-BE49-F238E27FC236}">
                <a16:creationId xmlns:a16="http://schemas.microsoft.com/office/drawing/2014/main" id="{984DCC72-5A25-9929-931E-81748844C4AE}"/>
              </a:ext>
            </a:extLst>
          </p:cNvPr>
          <p:cNvSpPr/>
          <p:nvPr userDrawn="1"/>
        </p:nvSpPr>
        <p:spPr>
          <a:xfrm>
            <a:off x="425873" y="2513348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992C44-E9A6-ECE6-E943-D0D95D393C32}"/>
              </a:ext>
            </a:extLst>
          </p:cNvPr>
          <p:cNvSpPr/>
          <p:nvPr userDrawn="1"/>
        </p:nvSpPr>
        <p:spPr>
          <a:xfrm>
            <a:off x="3139440" y="1628776"/>
            <a:ext cx="8680535" cy="82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entagon 37">
            <a:extLst>
              <a:ext uri="{FF2B5EF4-FFF2-40B4-BE49-F238E27FC236}">
                <a16:creationId xmlns:a16="http://schemas.microsoft.com/office/drawing/2014/main" id="{CD8A181A-D2E4-3903-59AD-AD83363A8F71}"/>
              </a:ext>
            </a:extLst>
          </p:cNvPr>
          <p:cNvSpPr/>
          <p:nvPr userDrawn="1"/>
        </p:nvSpPr>
        <p:spPr>
          <a:xfrm>
            <a:off x="425873" y="1628774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368300"/>
            <a:ext cx="11464925" cy="887413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1E7A0C6D-4A6B-0B73-012F-D768C52DD21B}"/>
              </a:ext>
            </a:extLst>
          </p:cNvPr>
          <p:cNvSpPr/>
          <p:nvPr userDrawn="1"/>
        </p:nvSpPr>
        <p:spPr>
          <a:xfrm>
            <a:off x="355598" y="1628774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8BFFFD5-ADE1-B80E-32C5-13541464A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1944" y="1707932"/>
            <a:ext cx="3179380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1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466BC050-8878-AFEF-39E7-F55EC88961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5814" y="1707932"/>
            <a:ext cx="7576456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1</a:t>
            </a:r>
          </a:p>
        </p:txBody>
      </p:sp>
      <p:sp>
        <p:nvSpPr>
          <p:cNvPr id="23" name="Pentagon 22">
            <a:extLst>
              <a:ext uri="{FF2B5EF4-FFF2-40B4-BE49-F238E27FC236}">
                <a16:creationId xmlns:a16="http://schemas.microsoft.com/office/drawing/2014/main" id="{E4136209-1808-0372-6D44-480282115F05}"/>
              </a:ext>
            </a:extLst>
          </p:cNvPr>
          <p:cNvSpPr/>
          <p:nvPr userDrawn="1"/>
        </p:nvSpPr>
        <p:spPr>
          <a:xfrm>
            <a:off x="355598" y="2513348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6881399A-DACB-0227-CEC0-456C7CA6EF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1944" y="2607487"/>
            <a:ext cx="3179380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2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8E0DC1B-3D13-2A7B-CB05-CF2F1470A9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5814" y="2607487"/>
            <a:ext cx="7576456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1</a:t>
            </a: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C951C138-03A0-C20E-377B-8F8F1C88886A}"/>
              </a:ext>
            </a:extLst>
          </p:cNvPr>
          <p:cNvSpPr/>
          <p:nvPr userDrawn="1"/>
        </p:nvSpPr>
        <p:spPr>
          <a:xfrm>
            <a:off x="355598" y="3397922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AE06709E-4901-3098-D4FC-F390D39F90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944" y="3486213"/>
            <a:ext cx="3179380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3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73297F45-2D45-BD04-9274-03B4A43D62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65814" y="3486213"/>
            <a:ext cx="7576456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1</a:t>
            </a:r>
          </a:p>
        </p:txBody>
      </p:sp>
      <p:sp>
        <p:nvSpPr>
          <p:cNvPr id="31" name="Pentagon 30">
            <a:extLst>
              <a:ext uri="{FF2B5EF4-FFF2-40B4-BE49-F238E27FC236}">
                <a16:creationId xmlns:a16="http://schemas.microsoft.com/office/drawing/2014/main" id="{41DD82B9-F467-7E2F-D9CF-8E88B66E792D}"/>
              </a:ext>
            </a:extLst>
          </p:cNvPr>
          <p:cNvSpPr/>
          <p:nvPr userDrawn="1"/>
        </p:nvSpPr>
        <p:spPr>
          <a:xfrm>
            <a:off x="355598" y="4282496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C65E02A-82B9-7895-B95F-508E835FC4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1944" y="4372254"/>
            <a:ext cx="3179380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4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4B3DD3D4-67B1-1657-BED7-B6CB7304CA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65814" y="4372254"/>
            <a:ext cx="7576456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1</a:t>
            </a:r>
          </a:p>
        </p:txBody>
      </p:sp>
      <p:sp>
        <p:nvSpPr>
          <p:cNvPr id="35" name="Pentagon 34">
            <a:extLst>
              <a:ext uri="{FF2B5EF4-FFF2-40B4-BE49-F238E27FC236}">
                <a16:creationId xmlns:a16="http://schemas.microsoft.com/office/drawing/2014/main" id="{03C3428E-1637-FE00-FDD8-C0DC6776FC96}"/>
              </a:ext>
            </a:extLst>
          </p:cNvPr>
          <p:cNvSpPr/>
          <p:nvPr userDrawn="1"/>
        </p:nvSpPr>
        <p:spPr>
          <a:xfrm>
            <a:off x="355598" y="5167072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DB7C856-3D5F-84B7-A047-6833CA8FC3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1944" y="5246230"/>
            <a:ext cx="3179380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5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E35564D4-39B8-13FA-9982-F39CF16EE84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65814" y="5246230"/>
            <a:ext cx="7576456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8953FF-2FB0-9842-D791-84B4DED5156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69835251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eader-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368303"/>
            <a:ext cx="11464925" cy="1260475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C0802E-63C6-56F1-5FBF-CCDD943FAE9F}"/>
              </a:ext>
            </a:extLst>
          </p:cNvPr>
          <p:cNvSpPr/>
          <p:nvPr userDrawn="1"/>
        </p:nvSpPr>
        <p:spPr>
          <a:xfrm>
            <a:off x="3405493" y="1600200"/>
            <a:ext cx="5426040" cy="480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2FF0F1-D91D-FBF4-A535-D86C9DC7A0BF}"/>
              </a:ext>
            </a:extLst>
          </p:cNvPr>
          <p:cNvSpPr/>
          <p:nvPr userDrawn="1"/>
        </p:nvSpPr>
        <p:spPr>
          <a:xfrm>
            <a:off x="260302" y="1597152"/>
            <a:ext cx="2928395" cy="47902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E47C81-E412-2A1D-F564-50EF04FA2026}"/>
              </a:ext>
            </a:extLst>
          </p:cNvPr>
          <p:cNvSpPr txBox="1"/>
          <p:nvPr userDrawn="1"/>
        </p:nvSpPr>
        <p:spPr>
          <a:xfrm>
            <a:off x="341176" y="1695635"/>
            <a:ext cx="2689106" cy="33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B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Challenge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A3FCDB-2D7D-0C30-04BC-1F5B9F79573D}"/>
              </a:ext>
            </a:extLst>
          </p:cNvPr>
          <p:cNvSpPr txBox="1"/>
          <p:nvPr userDrawn="1"/>
        </p:nvSpPr>
        <p:spPr>
          <a:xfrm>
            <a:off x="3463554" y="1695635"/>
            <a:ext cx="2689106" cy="33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B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eClerx Solution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8EAF57-7D30-4375-1936-6FE6C04E9B57}"/>
              </a:ext>
            </a:extLst>
          </p:cNvPr>
          <p:cNvSpPr/>
          <p:nvPr userDrawn="1"/>
        </p:nvSpPr>
        <p:spPr>
          <a:xfrm>
            <a:off x="9048328" y="1600200"/>
            <a:ext cx="2928395" cy="480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492AF1-5BAF-8E4B-273B-E49C5E54A661}"/>
              </a:ext>
            </a:extLst>
          </p:cNvPr>
          <p:cNvSpPr txBox="1"/>
          <p:nvPr userDrawn="1"/>
        </p:nvSpPr>
        <p:spPr>
          <a:xfrm>
            <a:off x="9129202" y="1695635"/>
            <a:ext cx="2689106" cy="33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B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Impact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B618F2-0DE3-B0D0-4580-2E936A3A03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03030778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94C047-0322-5B86-E388-650C64D7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1" y="368300"/>
            <a:ext cx="9679353" cy="2124075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spc="-4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5A9BD5-0B8C-CFCE-DFB4-6333F21E8D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5601" y="4857955"/>
            <a:ext cx="5487987" cy="3243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accent1"/>
              </a:buClr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2pPr>
            <a:lvl3pPr marL="9144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4pPr>
            <a:lvl5pPr marL="18288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Presenter Name and Surname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DBBCDC4-83BB-942D-8965-7F0FDA82EA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5601" y="5191588"/>
            <a:ext cx="5487987" cy="3243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accent1"/>
              </a:buClr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2pPr>
            <a:lvl3pPr marL="9144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4pPr>
            <a:lvl5pPr marL="18288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 of presenter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467BEF-CE97-6DA2-97CE-5C09322758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600" y="2501645"/>
            <a:ext cx="9679353" cy="9740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sub header</a:t>
            </a:r>
            <a:endParaRPr lang="en-US" dirty="0"/>
          </a:p>
        </p:txBody>
      </p:sp>
      <p:sp>
        <p:nvSpPr>
          <p:cNvPr id="10" name="Platshållare för bildnummer 5">
            <a:extLst>
              <a:ext uri="{FF2B5EF4-FFF2-40B4-BE49-F238E27FC236}">
                <a16:creationId xmlns:a16="http://schemas.microsoft.com/office/drawing/2014/main" id="{CAF7F56E-847D-9CD9-C291-ADE3EECB5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5541" y="6564624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CD18CB7-779D-9A98-6AAC-F6350515AB63}"/>
              </a:ext>
            </a:extLst>
          </p:cNvPr>
          <p:cNvSpPr txBox="1">
            <a:spLocks/>
          </p:cNvSpPr>
          <p:nvPr userDrawn="1"/>
        </p:nvSpPr>
        <p:spPr>
          <a:xfrm>
            <a:off x="10338469" y="6564623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800" dirty="0">
                <a:solidFill>
                  <a:schemeClr val="bg1"/>
                </a:solidFill>
              </a:rPr>
              <a:t>© eClerx 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8C44521-DE6E-D7A3-8E00-F0075E467318}"/>
              </a:ext>
            </a:extLst>
          </p:cNvPr>
          <p:cNvSpPr txBox="1">
            <a:spLocks/>
          </p:cNvSpPr>
          <p:nvPr userDrawn="1"/>
        </p:nvSpPr>
        <p:spPr>
          <a:xfrm>
            <a:off x="-657127" y="6564623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1100" dirty="0">
                <a:solidFill>
                  <a:schemeClr val="bg1"/>
                </a:solidFill>
                <a:latin typeface="Edmondsans Regular" panose="02000000000000000000" pitchFamily="2" charset="77"/>
              </a:rPr>
              <a:t>eClerx </a:t>
            </a:r>
          </a:p>
        </p:txBody>
      </p:sp>
    </p:spTree>
    <p:extLst>
      <p:ext uri="{BB962C8B-B14F-4D97-AF65-F5344CB8AC3E}">
        <p14:creationId xmlns:p14="http://schemas.microsoft.com/office/powerpoint/2010/main" val="1868430773"/>
      </p:ext>
    </p:extLst>
  </p:cSld>
  <p:clrMapOvr>
    <a:masterClrMapping/>
  </p:clrMapOvr>
  <p:transition spd="med"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DD2EC1-D7EA-CCB9-0B51-DB933EACF3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5600" y="368300"/>
            <a:ext cx="11464925" cy="56165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Clr>
                <a:schemeClr val="tx1"/>
              </a:buClr>
              <a:buNone/>
              <a:defRPr sz="4400" spc="-90" baseline="0">
                <a:solidFill>
                  <a:schemeClr val="bg1"/>
                </a:solidFill>
              </a:defRPr>
            </a:lvl1pPr>
            <a:lvl2pPr marL="457200" indent="0">
              <a:buClr>
                <a:schemeClr val="tx1"/>
              </a:buClr>
              <a:buNone/>
              <a:defRPr>
                <a:solidFill>
                  <a:schemeClr val="bg1"/>
                </a:solidFill>
              </a:defRPr>
            </a:lvl2pPr>
            <a:lvl3pPr marL="914400" indent="0">
              <a:buClr>
                <a:schemeClr val="tx1"/>
              </a:buClr>
              <a:buNone/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tx1"/>
              </a:buClr>
              <a:buNone/>
              <a:defRPr>
                <a:solidFill>
                  <a:schemeClr val="bg1"/>
                </a:solidFill>
              </a:defRPr>
            </a:lvl4pPr>
            <a:lvl5pPr marL="1828800" indent="0">
              <a:buClr>
                <a:schemeClr val="tx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D80637C1-3FA6-7B96-0BC7-8E2B66CEF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2815" y="6593493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8EFD667-27EB-6E98-401D-AC21EE49D208}"/>
              </a:ext>
            </a:extLst>
          </p:cNvPr>
          <p:cNvSpPr txBox="1">
            <a:spLocks/>
          </p:cNvSpPr>
          <p:nvPr userDrawn="1"/>
        </p:nvSpPr>
        <p:spPr>
          <a:xfrm>
            <a:off x="10295743" y="6593492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800" dirty="0">
                <a:solidFill>
                  <a:schemeClr val="bg1"/>
                </a:solidFill>
              </a:rPr>
              <a:t>© eClerx 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A7F991A-17A1-8BC8-BE9B-2E17BCDCD90D}"/>
              </a:ext>
            </a:extLst>
          </p:cNvPr>
          <p:cNvSpPr txBox="1">
            <a:spLocks/>
          </p:cNvSpPr>
          <p:nvPr userDrawn="1"/>
        </p:nvSpPr>
        <p:spPr>
          <a:xfrm>
            <a:off x="-699853" y="6593492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1100" dirty="0">
                <a:solidFill>
                  <a:schemeClr val="bg1"/>
                </a:solidFill>
                <a:latin typeface="Edmondsans Regular" panose="02000000000000000000" pitchFamily="2" charset="77"/>
              </a:rPr>
              <a:t>eClerx </a:t>
            </a:r>
          </a:p>
        </p:txBody>
      </p:sp>
    </p:spTree>
    <p:extLst>
      <p:ext uri="{BB962C8B-B14F-4D97-AF65-F5344CB8AC3E}">
        <p14:creationId xmlns:p14="http://schemas.microsoft.com/office/powerpoint/2010/main" val="3107857126"/>
      </p:ext>
    </p:extLst>
  </p:cSld>
  <p:clrMapOvr>
    <a:masterClrMapping/>
  </p:clrMapOvr>
  <p:transition spd="med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with graphi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94C047-0322-5B86-E388-650C64D7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368301"/>
            <a:ext cx="3508374" cy="5616574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spc="-4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FC7708F-135E-55ED-175A-2B346F546A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51338" y="188913"/>
            <a:ext cx="7648575" cy="6300786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>
              <a:buClr>
                <a:schemeClr val="tx1"/>
              </a:buClr>
              <a:defRPr/>
            </a:lvl1pPr>
          </a:lstStyle>
          <a:p>
            <a:endParaRPr lang="en-SE" dirty="0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883AD955-EF03-0715-446E-715C57590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4968" y="6499225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34C88A0-30FB-2E06-A7F0-1F94B57DC2D4}"/>
              </a:ext>
            </a:extLst>
          </p:cNvPr>
          <p:cNvSpPr txBox="1">
            <a:spLocks/>
          </p:cNvSpPr>
          <p:nvPr userDrawn="1"/>
        </p:nvSpPr>
        <p:spPr>
          <a:xfrm>
            <a:off x="10347896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800" dirty="0">
                <a:solidFill>
                  <a:schemeClr val="bg1"/>
                </a:solidFill>
              </a:rPr>
              <a:t>© eClerx 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C2EFAED-A518-1FFC-8075-8442025A6BC3}"/>
              </a:ext>
            </a:extLst>
          </p:cNvPr>
          <p:cNvSpPr txBox="1">
            <a:spLocks/>
          </p:cNvSpPr>
          <p:nvPr userDrawn="1"/>
        </p:nvSpPr>
        <p:spPr>
          <a:xfrm>
            <a:off x="-647700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1100" dirty="0">
                <a:solidFill>
                  <a:schemeClr val="bg1"/>
                </a:solidFill>
                <a:latin typeface="Edmondsans Regular" panose="02000000000000000000" pitchFamily="2" charset="77"/>
              </a:rPr>
              <a:t>eClerx </a:t>
            </a:r>
          </a:p>
        </p:txBody>
      </p:sp>
    </p:spTree>
    <p:extLst>
      <p:ext uri="{BB962C8B-B14F-4D97-AF65-F5344CB8AC3E}">
        <p14:creationId xmlns:p14="http://schemas.microsoft.com/office/powerpoint/2010/main" val="3652174926"/>
      </p:ext>
    </p:extLst>
  </p:cSld>
  <p:clrMapOvr>
    <a:masterClrMapping/>
  </p:clrMapOvr>
  <p:transition spd="med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–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1D2A341-997A-FB60-76C7-D1724E6B96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5599" y="2024063"/>
            <a:ext cx="11464925" cy="43164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E94C047-0322-5B86-E388-650C64D7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368300"/>
            <a:ext cx="11480800" cy="1260475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10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8028A36B-3A86-0DFA-8C7A-BED8934629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4968" y="6499225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68658AF-1254-18D3-0178-B7582B9E053D}"/>
              </a:ext>
            </a:extLst>
          </p:cNvPr>
          <p:cNvSpPr txBox="1">
            <a:spLocks/>
          </p:cNvSpPr>
          <p:nvPr userDrawn="1"/>
        </p:nvSpPr>
        <p:spPr>
          <a:xfrm>
            <a:off x="10347896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800" dirty="0">
                <a:solidFill>
                  <a:schemeClr val="bg1"/>
                </a:solidFill>
              </a:rPr>
              <a:t>© eClerx 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7822B7C-5638-A287-FEB4-28265F051AF7}"/>
              </a:ext>
            </a:extLst>
          </p:cNvPr>
          <p:cNvSpPr txBox="1">
            <a:spLocks/>
          </p:cNvSpPr>
          <p:nvPr userDrawn="1"/>
        </p:nvSpPr>
        <p:spPr>
          <a:xfrm>
            <a:off x="-647700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1100" dirty="0">
                <a:solidFill>
                  <a:schemeClr val="bg1"/>
                </a:solidFill>
                <a:latin typeface="Edmondsans Regular" panose="02000000000000000000" pitchFamily="2" charset="77"/>
              </a:rPr>
              <a:t>eClerx </a:t>
            </a:r>
          </a:p>
        </p:txBody>
      </p:sp>
    </p:spTree>
    <p:extLst>
      <p:ext uri="{BB962C8B-B14F-4D97-AF65-F5344CB8AC3E}">
        <p14:creationId xmlns:p14="http://schemas.microsoft.com/office/powerpoint/2010/main" val="3374248755"/>
      </p:ext>
    </p:extLst>
  </p:cSld>
  <p:clrMapOvr>
    <a:masterClrMapping/>
  </p:clrMapOvr>
  <p:transition spd="med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large image,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94C047-0322-5B86-E388-650C64D7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368300"/>
            <a:ext cx="3508375" cy="2124076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SE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B0F1A822-CBCA-0B06-BFFB-92B3A7C245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32288" y="188912"/>
            <a:ext cx="7667625" cy="6300788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DAF44A-99EC-0FDF-9B6B-F980E26CB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5600" y="2492375"/>
            <a:ext cx="3508375" cy="34925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buFontTx/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lnSpc>
                <a:spcPct val="110000"/>
              </a:lnSpc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>
              <a:lnSpc>
                <a:spcPct val="110000"/>
              </a:lnSpc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>
              <a:lnSpc>
                <a:spcPct val="110000"/>
              </a:lnSpc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>
              <a:lnSpc>
                <a:spcPct val="110000"/>
              </a:lnSpc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SE" dirty="0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D2AEB397-1E47-0D8A-3FA1-7E1E8E14E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4968" y="6499225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18629A8-F46A-A8AD-27B3-2FA1122FEC82}"/>
              </a:ext>
            </a:extLst>
          </p:cNvPr>
          <p:cNvSpPr txBox="1">
            <a:spLocks/>
          </p:cNvSpPr>
          <p:nvPr userDrawn="1"/>
        </p:nvSpPr>
        <p:spPr>
          <a:xfrm>
            <a:off x="10347896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800" dirty="0">
                <a:solidFill>
                  <a:schemeClr val="bg1"/>
                </a:solidFill>
              </a:rPr>
              <a:t>© eClerx 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4D63E75-EF75-4500-88BF-6E48F0E49F11}"/>
              </a:ext>
            </a:extLst>
          </p:cNvPr>
          <p:cNvSpPr txBox="1">
            <a:spLocks/>
          </p:cNvSpPr>
          <p:nvPr userDrawn="1"/>
        </p:nvSpPr>
        <p:spPr>
          <a:xfrm>
            <a:off x="-647700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1100" dirty="0">
                <a:solidFill>
                  <a:schemeClr val="bg1"/>
                </a:solidFill>
                <a:latin typeface="Edmondsans Regular" panose="02000000000000000000" pitchFamily="2" charset="77"/>
              </a:rPr>
              <a:t>eClerx </a:t>
            </a:r>
          </a:p>
        </p:txBody>
      </p:sp>
    </p:spTree>
    <p:extLst>
      <p:ext uri="{BB962C8B-B14F-4D97-AF65-F5344CB8AC3E}">
        <p14:creationId xmlns:p14="http://schemas.microsoft.com/office/powerpoint/2010/main" val="279541785"/>
      </p:ext>
    </p:extLst>
  </p:cSld>
  <p:clrMapOvr>
    <a:masterClrMapping/>
  </p:clrMapOvr>
  <p:transition spd="med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9E452D-D83D-9CA1-39E0-A60F7DA4CD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5599" y="1628775"/>
            <a:ext cx="11464924" cy="312594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10000"/>
              </a:lnSpc>
              <a:buFontTx/>
              <a:buNone/>
              <a:defRPr sz="2800">
                <a:solidFill>
                  <a:schemeClr val="bg1"/>
                </a:solidFill>
              </a:defRPr>
            </a:lvl1pPr>
            <a:lvl2pPr marL="457200" indent="0" algn="l">
              <a:buFontTx/>
              <a:buNone/>
              <a:defRPr/>
            </a:lvl2pPr>
            <a:lvl3pPr marL="914400" indent="0" algn="l">
              <a:buFontTx/>
              <a:buNone/>
              <a:defRPr/>
            </a:lvl3pPr>
            <a:lvl4pPr marL="1371600" indent="0" algn="l">
              <a:buFontTx/>
              <a:buNone/>
              <a:defRPr/>
            </a:lvl4pPr>
            <a:lvl5pPr marL="1828800" indent="0" algn="l">
              <a:buFontTx/>
              <a:buNone/>
              <a:defRPr/>
            </a:lvl5pPr>
          </a:lstStyle>
          <a:p>
            <a:pPr lvl="0"/>
            <a:r>
              <a:rPr lang="en-GB" dirty="0"/>
              <a:t>“Click here to insert a relevant quote that aligns with the theme or message of your presentation. Choose a quote that resonates with your audience and reinforces the key takeaways you want them to remember.”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07687E-1317-B0E7-E417-CE0DC505F4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5600" y="5050210"/>
            <a:ext cx="11464925" cy="63917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2800"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Name Surname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F227152-EECF-0D1F-5D73-665CD10D11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5602286"/>
            <a:ext cx="11464925" cy="3825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Title/job description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A2D288-3D76-7EA2-7360-6F15FF0601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368299"/>
            <a:ext cx="11449048" cy="12604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here to add headline</a:t>
            </a:r>
            <a:endParaRPr lang="en-US" dirty="0"/>
          </a:p>
        </p:txBody>
      </p:sp>
      <p:sp>
        <p:nvSpPr>
          <p:cNvPr id="3" name="Platshållare för bildnummer 5">
            <a:extLst>
              <a:ext uri="{FF2B5EF4-FFF2-40B4-BE49-F238E27FC236}">
                <a16:creationId xmlns:a16="http://schemas.microsoft.com/office/drawing/2014/main" id="{D91BA3FF-3083-B300-1DCA-19030A2C9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4968" y="6499225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6B0E2-56D0-B881-653D-68AE8EFF9CD0}"/>
              </a:ext>
            </a:extLst>
          </p:cNvPr>
          <p:cNvSpPr txBox="1">
            <a:spLocks/>
          </p:cNvSpPr>
          <p:nvPr userDrawn="1"/>
        </p:nvSpPr>
        <p:spPr>
          <a:xfrm>
            <a:off x="10347896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800" dirty="0">
                <a:solidFill>
                  <a:schemeClr val="bg1"/>
                </a:solidFill>
              </a:rPr>
              <a:t>© eClerx 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0EE8072-D366-CA98-7784-072B4F6E8E6F}"/>
              </a:ext>
            </a:extLst>
          </p:cNvPr>
          <p:cNvSpPr txBox="1">
            <a:spLocks/>
          </p:cNvSpPr>
          <p:nvPr userDrawn="1"/>
        </p:nvSpPr>
        <p:spPr>
          <a:xfrm>
            <a:off x="-647700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1100" dirty="0">
                <a:solidFill>
                  <a:schemeClr val="bg1"/>
                </a:solidFill>
                <a:latin typeface="Edmondsans Regular" panose="02000000000000000000" pitchFamily="2" charset="77"/>
              </a:rPr>
              <a:t>eClerx </a:t>
            </a:r>
          </a:p>
        </p:txBody>
      </p:sp>
    </p:spTree>
    <p:extLst>
      <p:ext uri="{BB962C8B-B14F-4D97-AF65-F5344CB8AC3E}">
        <p14:creationId xmlns:p14="http://schemas.microsoft.com/office/powerpoint/2010/main" val="3761992672"/>
      </p:ext>
    </p:extLst>
  </p:cSld>
  <p:clrMapOvr>
    <a:masterClrMapping/>
  </p:clrMapOvr>
  <p:transition spd="med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s and cont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erson wearing glasses&#10;&#10;Description automatically generated with low confidence">
            <a:extLst>
              <a:ext uri="{FF2B5EF4-FFF2-40B4-BE49-F238E27FC236}">
                <a16:creationId xmlns:a16="http://schemas.microsoft.com/office/drawing/2014/main" id="{5697B9FC-5667-3C3F-B0CE-AA919FDEFC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4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214225" cy="685800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E94C047-0322-5B86-E388-650C64D728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601" y="1155026"/>
            <a:ext cx="11464924" cy="133735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spc="-4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Thank you message</a:t>
            </a: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77EE7908-1DBE-0CCA-4D77-8B51FF1CCB5A}"/>
              </a:ext>
            </a:extLst>
          </p:cNvPr>
          <p:cNvSpPr txBox="1">
            <a:spLocks/>
          </p:cNvSpPr>
          <p:nvPr userDrawn="1"/>
        </p:nvSpPr>
        <p:spPr>
          <a:xfrm>
            <a:off x="339725" y="368300"/>
            <a:ext cx="11480800" cy="936625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0" i="0" kern="1200" spc="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pc="-40" baseline="0" dirty="0">
                <a:solidFill>
                  <a:schemeClr val="accent1"/>
                </a:solidFill>
              </a:rPr>
              <a:t>eClerx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4601C07-DD6C-C8EF-820A-3FBEA9C639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5602" y="2523995"/>
            <a:ext cx="3508374" cy="4197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accent1"/>
              </a:buClr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2pPr>
            <a:lvl3pPr marL="9144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4pPr>
            <a:lvl5pPr marL="18288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Contact information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543CDE1-0608-48BB-140B-48F18140EE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5602" y="3016565"/>
            <a:ext cx="3508374" cy="15289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accent1"/>
              </a:buClr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2pPr>
            <a:lvl3pPr marL="9144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4pPr>
            <a:lvl5pPr marL="18288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Name Surname</a:t>
            </a:r>
          </a:p>
          <a:p>
            <a:pPr lvl="0"/>
            <a:r>
              <a:rPr lang="en-GB" dirty="0"/>
              <a:t>Phone</a:t>
            </a:r>
          </a:p>
          <a:p>
            <a:pPr lvl="0"/>
            <a:r>
              <a:rPr lang="en-GB" dirty="0"/>
              <a:t>email</a:t>
            </a:r>
            <a:endParaRPr lang="en-SE" dirty="0"/>
          </a:p>
        </p:txBody>
      </p:sp>
      <p:sp>
        <p:nvSpPr>
          <p:cNvPr id="3" name="Platshållare för bildnummer 5">
            <a:extLst>
              <a:ext uri="{FF2B5EF4-FFF2-40B4-BE49-F238E27FC236}">
                <a16:creationId xmlns:a16="http://schemas.microsoft.com/office/drawing/2014/main" id="{3860E6C4-2F2C-C2F4-96AE-C16C3DC98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4968" y="6499225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23B42AA-E6FD-FCB8-E950-38459E0B3238}"/>
              </a:ext>
            </a:extLst>
          </p:cNvPr>
          <p:cNvSpPr txBox="1">
            <a:spLocks/>
          </p:cNvSpPr>
          <p:nvPr userDrawn="1"/>
        </p:nvSpPr>
        <p:spPr>
          <a:xfrm>
            <a:off x="10347896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800" dirty="0">
                <a:solidFill>
                  <a:schemeClr val="bg1"/>
                </a:solidFill>
              </a:rPr>
              <a:t>© eClerx 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1DA7A90-9B1A-E024-FFA5-5A1A288914C4}"/>
              </a:ext>
            </a:extLst>
          </p:cNvPr>
          <p:cNvSpPr txBox="1">
            <a:spLocks/>
          </p:cNvSpPr>
          <p:nvPr userDrawn="1"/>
        </p:nvSpPr>
        <p:spPr>
          <a:xfrm>
            <a:off x="-647700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1100" dirty="0">
                <a:solidFill>
                  <a:schemeClr val="bg1"/>
                </a:solidFill>
                <a:latin typeface="Edmondsans Regular" panose="02000000000000000000" pitchFamily="2" charset="77"/>
              </a:rPr>
              <a:t>eClerx </a:t>
            </a:r>
          </a:p>
        </p:txBody>
      </p:sp>
    </p:spTree>
    <p:extLst>
      <p:ext uri="{BB962C8B-B14F-4D97-AF65-F5344CB8AC3E}">
        <p14:creationId xmlns:p14="http://schemas.microsoft.com/office/powerpoint/2010/main" val="499063435"/>
      </p:ext>
    </p:extLst>
  </p:cSld>
  <p:clrMapOvr>
    <a:masterClrMapping/>
  </p:clrMapOvr>
  <p:transition spd="med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5">
            <a:extLst>
              <a:ext uri="{FF2B5EF4-FFF2-40B4-BE49-F238E27FC236}">
                <a16:creationId xmlns:a16="http://schemas.microsoft.com/office/drawing/2014/main" id="{7C7041E1-D285-433A-4FD4-4025842C9E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917635" y="2814200"/>
            <a:ext cx="2356731" cy="1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262130"/>
      </p:ext>
    </p:extLst>
  </p:cSld>
  <p:clrMapOvr>
    <a:masterClrMapping/>
  </p:clrMapOvr>
  <p:transition spd="med"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D012A630-F4E5-C456-5B5D-680339EA7E30}"/>
              </a:ext>
            </a:extLst>
          </p:cNvPr>
          <p:cNvSpPr txBox="1">
            <a:spLocks/>
          </p:cNvSpPr>
          <p:nvPr userDrawn="1"/>
        </p:nvSpPr>
        <p:spPr>
          <a:xfrm>
            <a:off x="192088" y="6499225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sv-SE"/>
            </a:defPPr>
            <a:lvl1pPr marL="0" algn="l" defTabSz="914400" rtl="0" eaLnBrk="1" latinLnBrk="0" hangingPunct="1">
              <a:defRPr sz="800" b="0" i="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v-S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F692F-D5FF-F486-C448-F92EE38AB2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5600" y="368299"/>
            <a:ext cx="11464924" cy="56165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Clr>
                <a:schemeClr val="accent1"/>
              </a:buClr>
              <a:buNone/>
              <a:defRPr sz="4800" spc="-90" baseline="0">
                <a:solidFill>
                  <a:schemeClr val="tx1"/>
                </a:solidFill>
              </a:defRPr>
            </a:lvl1pPr>
            <a:lvl2pPr marL="457200" indent="0">
              <a:buClr>
                <a:schemeClr val="accent1"/>
              </a:buClr>
              <a:buNone/>
              <a:defRPr>
                <a:solidFill>
                  <a:schemeClr val="tx1"/>
                </a:solidFill>
              </a:defRPr>
            </a:lvl2pPr>
            <a:lvl3pPr marL="914400" indent="0">
              <a:buClr>
                <a:schemeClr val="accent1"/>
              </a:buClr>
              <a:buNone/>
              <a:defRPr>
                <a:solidFill>
                  <a:schemeClr val="tx1"/>
                </a:solidFill>
              </a:defRPr>
            </a:lvl3pPr>
            <a:lvl4pPr marL="1371600" indent="0">
              <a:buClr>
                <a:schemeClr val="accent1"/>
              </a:buClr>
              <a:buNone/>
              <a:defRPr>
                <a:solidFill>
                  <a:schemeClr val="tx1"/>
                </a:solidFill>
              </a:defRPr>
            </a:lvl4pPr>
            <a:lvl5pPr marL="1828800" indent="0">
              <a:buClr>
                <a:schemeClr val="accent1"/>
              </a:buClr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3934690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85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70BA994-9AA1-2442-9E40-6DDEEF7D1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4968" y="6644395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B222E-9F42-1743-96B9-B4398B4D272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417906B-46F9-4B70-8992-65AF7030CA14}"/>
              </a:ext>
            </a:extLst>
          </p:cNvPr>
          <p:cNvSpPr txBox="1">
            <a:spLocks/>
          </p:cNvSpPr>
          <p:nvPr userDrawn="1"/>
        </p:nvSpPr>
        <p:spPr>
          <a:xfrm>
            <a:off x="10347896" y="664439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800" dirty="0">
                <a:solidFill>
                  <a:schemeClr val="tx1"/>
                </a:solidFill>
              </a:rPr>
              <a:t>© eClerx 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A7718AD-EF1C-9E00-CEC0-72886D3DDB28}"/>
              </a:ext>
            </a:extLst>
          </p:cNvPr>
          <p:cNvSpPr txBox="1">
            <a:spLocks/>
          </p:cNvSpPr>
          <p:nvPr userDrawn="1"/>
        </p:nvSpPr>
        <p:spPr>
          <a:xfrm>
            <a:off x="-647700" y="664439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1100" dirty="0">
                <a:solidFill>
                  <a:schemeClr val="tx1"/>
                </a:solidFill>
                <a:latin typeface="Edmondsans Regular" panose="02000000000000000000" pitchFamily="2" charset="77"/>
              </a:rPr>
              <a:t>eClerx </a:t>
            </a:r>
          </a:p>
        </p:txBody>
      </p:sp>
    </p:spTree>
    <p:extLst>
      <p:ext uri="{BB962C8B-B14F-4D97-AF65-F5344CB8AC3E}">
        <p14:creationId xmlns:p14="http://schemas.microsoft.com/office/powerpoint/2010/main" val="380834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ransition spd="med">
    <p:pull/>
  </p:transition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0" i="0" kern="1200" spc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0"/>
        </a:spcBef>
        <a:buClr>
          <a:srgbClr val="C1002B"/>
        </a:buClr>
        <a:buFont typeface="Wingdings" pitchFamily="2" charset="2"/>
        <a:buChar char="§"/>
        <a:defRPr sz="1200" b="0" i="0" kern="1200">
          <a:solidFill>
            <a:schemeClr val="bg1">
              <a:lumMod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0"/>
        </a:spcBef>
        <a:buClr>
          <a:srgbClr val="C1002B"/>
        </a:buClr>
        <a:buFont typeface="Wingdings" pitchFamily="2" charset="2"/>
        <a:buChar char="§"/>
        <a:defRPr sz="1200" b="0" i="0" kern="1200">
          <a:solidFill>
            <a:schemeClr val="bg1">
              <a:lumMod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0"/>
        </a:spcBef>
        <a:buClr>
          <a:srgbClr val="C1002B"/>
        </a:buClr>
        <a:buFont typeface="Wingdings" pitchFamily="2" charset="2"/>
        <a:buChar char="§"/>
        <a:defRPr sz="1200" b="0" i="0" kern="1200">
          <a:solidFill>
            <a:schemeClr val="bg1">
              <a:lumMod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0"/>
        </a:spcBef>
        <a:buClr>
          <a:srgbClr val="C1002B"/>
        </a:buClr>
        <a:buFont typeface="Wingdings" pitchFamily="2" charset="2"/>
        <a:buChar char="§"/>
        <a:defRPr sz="1200" b="0" i="0" kern="1200">
          <a:solidFill>
            <a:schemeClr val="bg1">
              <a:lumMod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0"/>
        </a:spcBef>
        <a:buClr>
          <a:srgbClr val="C1002B"/>
        </a:buClr>
        <a:buFont typeface="Wingdings" pitchFamily="2" charset="2"/>
        <a:buChar char="§"/>
        <a:defRPr sz="1200" b="0" i="0" kern="1200">
          <a:solidFill>
            <a:schemeClr val="bg1">
              <a:lumMod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1570">
          <p15:clr>
            <a:srgbClr val="F26B43"/>
          </p15:clr>
        </p15:guide>
        <p15:guide id="16" orient="horz" pos="232">
          <p15:clr>
            <a:srgbClr val="F26B43"/>
          </p15:clr>
        </p15:guide>
        <p15:guide id="18" orient="horz" pos="3770">
          <p15:clr>
            <a:srgbClr val="F26B43"/>
          </p15:clr>
        </p15:guide>
        <p15:guide id="20" pos="224">
          <p15:clr>
            <a:srgbClr val="F26B43"/>
          </p15:clr>
        </p15:guide>
        <p15:guide id="21" orient="horz" pos="791">
          <p15:clr>
            <a:srgbClr val="F26B43"/>
          </p15:clr>
        </p15:guide>
        <p15:guide id="22" pos="7446">
          <p15:clr>
            <a:srgbClr val="F26B43"/>
          </p15:clr>
        </p15:guide>
        <p15:guide id="23" orient="horz" pos="4088">
          <p15:clr>
            <a:srgbClr val="F26B43"/>
          </p15:clr>
        </p15:guide>
        <p15:guide id="24" pos="121">
          <p15:clr>
            <a:srgbClr val="F26B43"/>
          </p15:clr>
        </p15:guide>
        <p15:guide id="25" orient="horz" pos="119">
          <p15:clr>
            <a:srgbClr val="F26B43"/>
          </p15:clr>
        </p15:guide>
        <p15:guide id="26" pos="7559">
          <p15:clr>
            <a:srgbClr val="F26B43"/>
          </p15:clr>
        </p15:guide>
        <p15:guide id="27" orient="horz" pos="4201">
          <p15:clr>
            <a:srgbClr val="F26B43"/>
          </p15:clr>
        </p15:guide>
        <p15:guide id="32" orient="horz" pos="1026">
          <p15:clr>
            <a:srgbClr val="F26B43"/>
          </p15:clr>
        </p15:guide>
        <p15:guide id="35" pos="4929">
          <p15:clr>
            <a:srgbClr val="F26B43"/>
          </p15:clr>
        </p15:guide>
        <p15:guide id="36" pos="5246">
          <p15:clr>
            <a:srgbClr val="F26B43"/>
          </p15:clr>
        </p15:guide>
        <p15:guide id="38" pos="2729">
          <p15:clr>
            <a:srgbClr val="F26B43"/>
          </p15:clr>
        </p15:guide>
        <p15:guide id="39" pos="2434">
          <p15:clr>
            <a:srgbClr val="F26B43"/>
          </p15:clr>
        </p15:guide>
        <p15:guide id="41" pos="3681">
          <p15:clr>
            <a:srgbClr val="F26B43"/>
          </p15:clr>
        </p15:guide>
        <p15:guide id="42" pos="3999">
          <p15:clr>
            <a:srgbClr val="F26B43"/>
          </p15:clr>
        </p15:guide>
        <p15:guide id="43" orient="horz" pos="127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0.svg"/><Relationship Id="rId7" Type="http://schemas.openxmlformats.org/officeDocument/2006/relationships/image" Target="../media/image17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10" Type="http://schemas.openxmlformats.org/officeDocument/2006/relationships/image" Target="../media/image24.svg"/><Relationship Id="rId4" Type="http://schemas.openxmlformats.org/officeDocument/2006/relationships/image" Target="../media/image15.svg"/><Relationship Id="rId9" Type="http://schemas.openxmlformats.org/officeDocument/2006/relationships/image" Target="../media/image2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10" Type="http://schemas.openxmlformats.org/officeDocument/2006/relationships/image" Target="../media/image32.svg"/><Relationship Id="rId4" Type="http://schemas.openxmlformats.org/officeDocument/2006/relationships/image" Target="../media/image27.svg"/><Relationship Id="rId9" Type="http://schemas.openxmlformats.org/officeDocument/2006/relationships/image" Target="../media/image3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4.svg"/><Relationship Id="rId7" Type="http://schemas.openxmlformats.org/officeDocument/2006/relationships/image" Target="../media/image36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35.svg"/><Relationship Id="rId10" Type="http://schemas.openxmlformats.org/officeDocument/2006/relationships/image" Target="../media/image39.svg"/><Relationship Id="rId4" Type="http://schemas.openxmlformats.org/officeDocument/2006/relationships/image" Target="../media/image17.svg"/><Relationship Id="rId9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801392-319D-44E9-B4F2-59D5EE0E48B4}"/>
              </a:ext>
            </a:extLst>
          </p:cNvPr>
          <p:cNvSpPr/>
          <p:nvPr/>
        </p:nvSpPr>
        <p:spPr>
          <a:xfrm>
            <a:off x="3354672" y="913772"/>
            <a:ext cx="8658567" cy="359461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77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9C331C-CC1E-4325-8026-EE0129F78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C98B77-332E-004E-BD2A-A6DBBD4442FD}" type="slidenum">
              <a:rPr kumimoji="0" lang="sv-S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sv-S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EB1CF-8656-4969-A45E-64364A31DC03}"/>
              </a:ext>
            </a:extLst>
          </p:cNvPr>
          <p:cNvSpPr/>
          <p:nvPr/>
        </p:nvSpPr>
        <p:spPr>
          <a:xfrm>
            <a:off x="382093" y="914400"/>
            <a:ext cx="2807491" cy="55881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D0393-ECDD-4C4C-8754-EC549620B290}"/>
              </a:ext>
            </a:extLst>
          </p:cNvPr>
          <p:cNvSpPr txBox="1"/>
          <p:nvPr/>
        </p:nvSpPr>
        <p:spPr>
          <a:xfrm>
            <a:off x="417240" y="1037401"/>
            <a:ext cx="2688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3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Business Context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A8843-6FDF-413C-B81D-1E05DA449E1D}"/>
              </a:ext>
            </a:extLst>
          </p:cNvPr>
          <p:cNvSpPr txBox="1"/>
          <p:nvPr/>
        </p:nvSpPr>
        <p:spPr>
          <a:xfrm>
            <a:off x="382093" y="3333722"/>
            <a:ext cx="2688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3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Business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B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Challenges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34854-D71F-4D82-A796-7D8990EAC131}"/>
              </a:ext>
            </a:extLst>
          </p:cNvPr>
          <p:cNvSpPr txBox="1"/>
          <p:nvPr/>
        </p:nvSpPr>
        <p:spPr>
          <a:xfrm>
            <a:off x="373557" y="1392836"/>
            <a:ext cx="2807088" cy="1858667"/>
          </a:xfrm>
          <a:prstGeom prst="rect">
            <a:avLst/>
          </a:prstGeom>
          <a:noFill/>
        </p:spPr>
        <p:txBody>
          <a:bodyPr wrap="square" lIns="71994" tIns="0" rIns="71994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consumer-facing digital client aimed to improve cookie-banner opt-in rates while maintaining privacy compliance.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Consent outcomes varied across websites, but the drivers behind user acceptance were not clearly understood.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E7D527-9F89-40C3-8562-49284B4B8465}"/>
              </a:ext>
            </a:extLst>
          </p:cNvPr>
          <p:cNvSpPr txBox="1"/>
          <p:nvPr/>
        </p:nvSpPr>
        <p:spPr>
          <a:xfrm>
            <a:off x="367337" y="3754495"/>
            <a:ext cx="2834069" cy="2519925"/>
          </a:xfrm>
          <a:prstGeom prst="rect">
            <a:avLst/>
          </a:prstGeom>
          <a:noFill/>
        </p:spPr>
        <p:txBody>
          <a:bodyPr wrap="square" lIns="71994" tIns="0" rIns="71994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Limited visibility into why users accept or reject cookie consent across websites.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evidence-based method to compare banner variants and measure consent performance.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Difficulty identifying which banner experience can improve opt-in rates without compromising compliance.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08256F-1D41-410F-BAD4-A88694BEEC2E}"/>
              </a:ext>
            </a:extLst>
          </p:cNvPr>
          <p:cNvSpPr txBox="1"/>
          <p:nvPr/>
        </p:nvSpPr>
        <p:spPr>
          <a:xfrm>
            <a:off x="3567837" y="956914"/>
            <a:ext cx="33142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eClerx Recommended Solution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FD2BFC-4B86-4160-99A6-A5AC3EF8F3FF}"/>
              </a:ext>
            </a:extLst>
          </p:cNvPr>
          <p:cNvSpPr/>
          <p:nvPr/>
        </p:nvSpPr>
        <p:spPr>
          <a:xfrm>
            <a:off x="9352994" y="5431974"/>
            <a:ext cx="2263758" cy="1047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" name="Title 6">
            <a:extLst>
              <a:ext uri="{FF2B5EF4-FFF2-40B4-BE49-F238E27FC236}">
                <a16:creationId xmlns:a16="http://schemas.microsoft.com/office/drawing/2014/main" id="{43BE8344-E263-45D7-AE84-8D5505EB2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86" y="303066"/>
            <a:ext cx="11873140" cy="468193"/>
          </a:xfrm>
        </p:spPr>
        <p:txBody>
          <a:bodyPr vert="horz"/>
          <a:lstStyle/>
          <a:p>
            <a:r>
              <a:rPr lang="en-US" sz="24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Case Study - </a:t>
            </a:r>
            <a:r>
              <a:rPr lang="en-US" sz="2400" b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OneTrust</a:t>
            </a:r>
            <a:r>
              <a:rPr lang="en-US" sz="24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 A/B Testing for Consent Performance Improvement</a:t>
            </a:r>
            <a:br>
              <a:rPr lang="en-US" sz="24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</a:br>
            <a:endParaRPr lang="en-US" sz="2400" b="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FC88D19-5F54-4C5A-8F19-129CF2532F2C}"/>
              </a:ext>
            </a:extLst>
          </p:cNvPr>
          <p:cNvSpPr/>
          <p:nvPr/>
        </p:nvSpPr>
        <p:spPr>
          <a:xfrm>
            <a:off x="3347504" y="4577940"/>
            <a:ext cx="8658568" cy="19246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8CE407F-05AC-4E8F-90C0-58910B4A838A}"/>
              </a:ext>
            </a:extLst>
          </p:cNvPr>
          <p:cNvSpPr txBox="1"/>
          <p:nvPr/>
        </p:nvSpPr>
        <p:spPr>
          <a:xfrm>
            <a:off x="3355376" y="4561609"/>
            <a:ext cx="2688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3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Business Benefits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110BABF-E4F3-49AD-9CB7-13E726A576AD}"/>
              </a:ext>
            </a:extLst>
          </p:cNvPr>
          <p:cNvGrpSpPr/>
          <p:nvPr/>
        </p:nvGrpSpPr>
        <p:grpSpPr>
          <a:xfrm>
            <a:off x="3402662" y="1368935"/>
            <a:ext cx="8370824" cy="2573512"/>
            <a:chOff x="4851400" y="1739900"/>
            <a:chExt cx="10617200" cy="3556000"/>
          </a:xfrm>
        </p:grpSpPr>
        <p:sp>
          <p:nvSpPr>
            <p:cNvPr id="105" name="Flow Card 1">
              <a:extLst>
                <a:ext uri="{FF2B5EF4-FFF2-40B4-BE49-F238E27FC236}">
                  <a16:creationId xmlns:a16="http://schemas.microsoft.com/office/drawing/2014/main" id="{3439280F-828F-455C-8286-FA8625AD87DE}"/>
                </a:ext>
              </a:extLst>
            </p:cNvPr>
            <p:cNvSpPr/>
            <p:nvPr/>
          </p:nvSpPr>
          <p:spPr>
            <a:xfrm>
              <a:off x="48514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6" name="Flow Badge 1">
              <a:extLst>
                <a:ext uri="{FF2B5EF4-FFF2-40B4-BE49-F238E27FC236}">
                  <a16:creationId xmlns:a16="http://schemas.microsoft.com/office/drawing/2014/main" id="{146B46AC-A39C-43C6-8AF0-D72C2E98B8CD}"/>
                </a:ext>
              </a:extLst>
            </p:cNvPr>
            <p:cNvSpPr/>
            <p:nvPr/>
          </p:nvSpPr>
          <p:spPr>
            <a:xfrm>
              <a:off x="54737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1" name="Flow Badge Text 1">
              <a:extLst>
                <a:ext uri="{FF2B5EF4-FFF2-40B4-BE49-F238E27FC236}">
                  <a16:creationId xmlns:a16="http://schemas.microsoft.com/office/drawing/2014/main" id="{F857A09D-2126-4199-82C8-57E095EF6630}"/>
                </a:ext>
              </a:extLst>
            </p:cNvPr>
            <p:cNvSpPr txBox="1"/>
            <p:nvPr/>
          </p:nvSpPr>
          <p:spPr>
            <a:xfrm>
              <a:off x="5473700" y="1879600"/>
              <a:ext cx="355600" cy="261610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2" name="Flow Icon Circle 1">
              <a:extLst>
                <a:ext uri="{FF2B5EF4-FFF2-40B4-BE49-F238E27FC236}">
                  <a16:creationId xmlns:a16="http://schemas.microsoft.com/office/drawing/2014/main" id="{B51D2572-C480-4A2A-8EEF-F03C02E6956C}"/>
                </a:ext>
              </a:extLst>
            </p:cNvPr>
            <p:cNvSpPr/>
            <p:nvPr/>
          </p:nvSpPr>
          <p:spPr>
            <a:xfrm>
              <a:off x="52705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16" name="Flow Icon Image 1">
              <a:extLst>
                <a:ext uri="{FF2B5EF4-FFF2-40B4-BE49-F238E27FC236}">
                  <a16:creationId xmlns:a16="http://schemas.microsoft.com/office/drawing/2014/main" id="{C49C0A3C-5634-4A3B-BB39-DDE34CE4771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422900" y="2501900"/>
              <a:ext cx="457200" cy="457200"/>
            </a:xfrm>
            <a:prstGeom prst="rect">
              <a:avLst/>
            </a:prstGeom>
          </p:spPr>
        </p:pic>
        <p:sp>
          <p:nvSpPr>
            <p:cNvPr id="121" name="Flow Title 1">
              <a:extLst>
                <a:ext uri="{FF2B5EF4-FFF2-40B4-BE49-F238E27FC236}">
                  <a16:creationId xmlns:a16="http://schemas.microsoft.com/office/drawing/2014/main" id="{A50DAF96-5CF3-41E1-BB40-C102E66A01EE}"/>
                </a:ext>
              </a:extLst>
            </p:cNvPr>
            <p:cNvSpPr txBox="1"/>
            <p:nvPr/>
          </p:nvSpPr>
          <p:spPr>
            <a:xfrm>
              <a:off x="4953001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Identify</a:t>
              </a:r>
            </a:p>
          </p:txBody>
        </p:sp>
        <p:sp>
          <p:nvSpPr>
            <p:cNvPr id="123" name="Flow Body 1">
              <a:extLst>
                <a:ext uri="{FF2B5EF4-FFF2-40B4-BE49-F238E27FC236}">
                  <a16:creationId xmlns:a16="http://schemas.microsoft.com/office/drawing/2014/main" id="{2786180A-BB7C-4853-AA8D-227CA5418F84}"/>
                </a:ext>
              </a:extLst>
            </p:cNvPr>
            <p:cNvSpPr txBox="1"/>
            <p:nvPr/>
          </p:nvSpPr>
          <p:spPr>
            <a:xfrm>
              <a:off x="4965699" y="3632286"/>
              <a:ext cx="1371600" cy="1382148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Review current banner performance and define optimization goals</a:t>
              </a:r>
              <a:endPara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24" name="Flow Arrow 1">
              <a:extLst>
                <a:ext uri="{FF2B5EF4-FFF2-40B4-BE49-F238E27FC236}">
                  <a16:creationId xmlns:a16="http://schemas.microsoft.com/office/drawing/2014/main" id="{138B586C-2D7F-451D-95B0-D1A6DD4F6306}"/>
                </a:ext>
              </a:extLst>
            </p:cNvPr>
            <p:cNvCxnSpPr/>
            <p:nvPr/>
          </p:nvCxnSpPr>
          <p:spPr>
            <a:xfrm>
              <a:off x="64770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Flow Card 2">
              <a:extLst>
                <a:ext uri="{FF2B5EF4-FFF2-40B4-BE49-F238E27FC236}">
                  <a16:creationId xmlns:a16="http://schemas.microsoft.com/office/drawing/2014/main" id="{E73761A6-BBEF-4716-9098-62C47272B2AE}"/>
                </a:ext>
              </a:extLst>
            </p:cNvPr>
            <p:cNvSpPr/>
            <p:nvPr/>
          </p:nvSpPr>
          <p:spPr>
            <a:xfrm>
              <a:off x="66548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9" name="Flow Badge 2">
              <a:extLst>
                <a:ext uri="{FF2B5EF4-FFF2-40B4-BE49-F238E27FC236}">
                  <a16:creationId xmlns:a16="http://schemas.microsoft.com/office/drawing/2014/main" id="{C9D6FD7B-7E87-4F9E-8252-59A0C6ECBDBB}"/>
                </a:ext>
              </a:extLst>
            </p:cNvPr>
            <p:cNvSpPr/>
            <p:nvPr/>
          </p:nvSpPr>
          <p:spPr>
            <a:xfrm>
              <a:off x="72771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1" name="Flow Badge Text 2">
              <a:extLst>
                <a:ext uri="{FF2B5EF4-FFF2-40B4-BE49-F238E27FC236}">
                  <a16:creationId xmlns:a16="http://schemas.microsoft.com/office/drawing/2014/main" id="{8EB40419-A781-4B59-9F1C-4388FEDE5E91}"/>
                </a:ext>
              </a:extLst>
            </p:cNvPr>
            <p:cNvSpPr txBox="1"/>
            <p:nvPr/>
          </p:nvSpPr>
          <p:spPr>
            <a:xfrm>
              <a:off x="7277100" y="1879600"/>
              <a:ext cx="355600" cy="261610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42" name="Flow Icon Circle 2">
              <a:extLst>
                <a:ext uri="{FF2B5EF4-FFF2-40B4-BE49-F238E27FC236}">
                  <a16:creationId xmlns:a16="http://schemas.microsoft.com/office/drawing/2014/main" id="{67E149F4-C8F2-4878-9838-61FF66BB684F}"/>
                </a:ext>
              </a:extLst>
            </p:cNvPr>
            <p:cNvSpPr/>
            <p:nvPr/>
          </p:nvSpPr>
          <p:spPr>
            <a:xfrm>
              <a:off x="70739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48" name="Flow Icon Image 2">
              <a:extLst>
                <a:ext uri="{FF2B5EF4-FFF2-40B4-BE49-F238E27FC236}">
                  <a16:creationId xmlns:a16="http://schemas.microsoft.com/office/drawing/2014/main" id="{458F29F4-B270-4CF2-A549-0592BC62175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26300" y="2501900"/>
              <a:ext cx="457200" cy="457200"/>
            </a:xfrm>
            <a:prstGeom prst="rect">
              <a:avLst/>
            </a:prstGeom>
          </p:spPr>
        </p:pic>
        <p:sp>
          <p:nvSpPr>
            <p:cNvPr id="156" name="Flow Title 2">
              <a:extLst>
                <a:ext uri="{FF2B5EF4-FFF2-40B4-BE49-F238E27FC236}">
                  <a16:creationId xmlns:a16="http://schemas.microsoft.com/office/drawing/2014/main" id="{2016BDCA-CC04-4A05-BB4E-5EB239103132}"/>
                </a:ext>
              </a:extLst>
            </p:cNvPr>
            <p:cNvSpPr txBox="1"/>
            <p:nvPr/>
          </p:nvSpPr>
          <p:spPr>
            <a:xfrm>
              <a:off x="67564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Design</a:t>
              </a:r>
            </a:p>
          </p:txBody>
        </p:sp>
        <p:sp>
          <p:nvSpPr>
            <p:cNvPr id="160" name="Flow Body 2">
              <a:extLst>
                <a:ext uri="{FF2B5EF4-FFF2-40B4-BE49-F238E27FC236}">
                  <a16:creationId xmlns:a16="http://schemas.microsoft.com/office/drawing/2014/main" id="{1AFBEC8F-A65E-4892-95B8-77A6EEAEA556}"/>
                </a:ext>
              </a:extLst>
            </p:cNvPr>
            <p:cNvSpPr txBox="1"/>
            <p:nvPr/>
          </p:nvSpPr>
          <p:spPr>
            <a:xfrm>
              <a:off x="6769100" y="3657600"/>
              <a:ext cx="1371600" cy="1169510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Create variants for placement, wording, buttons and content layout</a:t>
              </a:r>
              <a:endPara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65" name="Flow Arrow 2">
              <a:extLst>
                <a:ext uri="{FF2B5EF4-FFF2-40B4-BE49-F238E27FC236}">
                  <a16:creationId xmlns:a16="http://schemas.microsoft.com/office/drawing/2014/main" id="{A1D56DA8-AFF9-41F6-BB3E-6D0B28AF1052}"/>
                </a:ext>
              </a:extLst>
            </p:cNvPr>
            <p:cNvCxnSpPr/>
            <p:nvPr/>
          </p:nvCxnSpPr>
          <p:spPr>
            <a:xfrm>
              <a:off x="82804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Flow Card 3">
              <a:extLst>
                <a:ext uri="{FF2B5EF4-FFF2-40B4-BE49-F238E27FC236}">
                  <a16:creationId xmlns:a16="http://schemas.microsoft.com/office/drawing/2014/main" id="{1261DD49-AD45-4200-87EA-490B9F95E4ED}"/>
                </a:ext>
              </a:extLst>
            </p:cNvPr>
            <p:cNvSpPr/>
            <p:nvPr/>
          </p:nvSpPr>
          <p:spPr>
            <a:xfrm>
              <a:off x="84582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4" name="Flow Badge 3">
              <a:extLst>
                <a:ext uri="{FF2B5EF4-FFF2-40B4-BE49-F238E27FC236}">
                  <a16:creationId xmlns:a16="http://schemas.microsoft.com/office/drawing/2014/main" id="{2E259E15-A164-4302-B7DA-5C4CCB0D0508}"/>
                </a:ext>
              </a:extLst>
            </p:cNvPr>
            <p:cNvSpPr/>
            <p:nvPr/>
          </p:nvSpPr>
          <p:spPr>
            <a:xfrm>
              <a:off x="90805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5" name="Flow Badge Text 3">
              <a:extLst>
                <a:ext uri="{FF2B5EF4-FFF2-40B4-BE49-F238E27FC236}">
                  <a16:creationId xmlns:a16="http://schemas.microsoft.com/office/drawing/2014/main" id="{ABFF859B-95B8-4E99-A66D-ECB2D193B5E4}"/>
                </a:ext>
              </a:extLst>
            </p:cNvPr>
            <p:cNvSpPr txBox="1"/>
            <p:nvPr/>
          </p:nvSpPr>
          <p:spPr>
            <a:xfrm>
              <a:off x="9080500" y="1879600"/>
              <a:ext cx="355600" cy="261610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76" name="Flow Icon Circle 3">
              <a:extLst>
                <a:ext uri="{FF2B5EF4-FFF2-40B4-BE49-F238E27FC236}">
                  <a16:creationId xmlns:a16="http://schemas.microsoft.com/office/drawing/2014/main" id="{72809646-DF59-426F-BC9D-AB50731493C8}"/>
                </a:ext>
              </a:extLst>
            </p:cNvPr>
            <p:cNvSpPr/>
            <p:nvPr/>
          </p:nvSpPr>
          <p:spPr>
            <a:xfrm>
              <a:off x="88773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77" name="Flow Icon Image 3">
              <a:extLst>
                <a:ext uri="{FF2B5EF4-FFF2-40B4-BE49-F238E27FC236}">
                  <a16:creationId xmlns:a16="http://schemas.microsoft.com/office/drawing/2014/main" id="{CD76A612-163C-4DC4-9502-A235A4EE80E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029700" y="2501900"/>
              <a:ext cx="457200" cy="457200"/>
            </a:xfrm>
            <a:prstGeom prst="rect">
              <a:avLst/>
            </a:prstGeom>
          </p:spPr>
        </p:pic>
        <p:sp>
          <p:nvSpPr>
            <p:cNvPr id="178" name="Flow Title 3">
              <a:extLst>
                <a:ext uri="{FF2B5EF4-FFF2-40B4-BE49-F238E27FC236}">
                  <a16:creationId xmlns:a16="http://schemas.microsoft.com/office/drawing/2014/main" id="{70154094-E40F-46CA-9D8E-2B06A435C48E}"/>
                </a:ext>
              </a:extLst>
            </p:cNvPr>
            <p:cNvSpPr txBox="1"/>
            <p:nvPr/>
          </p:nvSpPr>
          <p:spPr>
            <a:xfrm>
              <a:off x="85598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Launch</a:t>
              </a:r>
            </a:p>
          </p:txBody>
        </p:sp>
        <p:sp>
          <p:nvSpPr>
            <p:cNvPr id="179" name="Flow Body 3">
              <a:extLst>
                <a:ext uri="{FF2B5EF4-FFF2-40B4-BE49-F238E27FC236}">
                  <a16:creationId xmlns:a16="http://schemas.microsoft.com/office/drawing/2014/main" id="{BD258850-9547-4DAD-AFA2-697221B381DA}"/>
                </a:ext>
              </a:extLst>
            </p:cNvPr>
            <p:cNvSpPr txBox="1"/>
            <p:nvPr/>
          </p:nvSpPr>
          <p:spPr>
            <a:xfrm>
              <a:off x="8572501" y="3657600"/>
              <a:ext cx="1371600" cy="1169510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Deploy A/B tests in OneTrust across selected sites or user segments</a:t>
              </a: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80" name="Flow Arrow 3">
              <a:extLst>
                <a:ext uri="{FF2B5EF4-FFF2-40B4-BE49-F238E27FC236}">
                  <a16:creationId xmlns:a16="http://schemas.microsoft.com/office/drawing/2014/main" id="{93133BF5-48A3-4AB9-946D-AF7FB31C7C5B}"/>
                </a:ext>
              </a:extLst>
            </p:cNvPr>
            <p:cNvCxnSpPr/>
            <p:nvPr/>
          </p:nvCxnSpPr>
          <p:spPr>
            <a:xfrm>
              <a:off x="100838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Flow Card 4">
              <a:extLst>
                <a:ext uri="{FF2B5EF4-FFF2-40B4-BE49-F238E27FC236}">
                  <a16:creationId xmlns:a16="http://schemas.microsoft.com/office/drawing/2014/main" id="{0E98FE19-70A3-429B-811D-99CF34EA625A}"/>
                </a:ext>
              </a:extLst>
            </p:cNvPr>
            <p:cNvSpPr/>
            <p:nvPr/>
          </p:nvSpPr>
          <p:spPr>
            <a:xfrm>
              <a:off x="102616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2" name="Flow Badge 4">
              <a:extLst>
                <a:ext uri="{FF2B5EF4-FFF2-40B4-BE49-F238E27FC236}">
                  <a16:creationId xmlns:a16="http://schemas.microsoft.com/office/drawing/2014/main" id="{E3E16296-C0EA-4C41-9732-49A8A3FB4A70}"/>
                </a:ext>
              </a:extLst>
            </p:cNvPr>
            <p:cNvSpPr/>
            <p:nvPr/>
          </p:nvSpPr>
          <p:spPr>
            <a:xfrm>
              <a:off x="108839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3" name="Flow Badge Text 4">
              <a:extLst>
                <a:ext uri="{FF2B5EF4-FFF2-40B4-BE49-F238E27FC236}">
                  <a16:creationId xmlns:a16="http://schemas.microsoft.com/office/drawing/2014/main" id="{E66069A7-6999-4355-BADB-ED6DAD8444BC}"/>
                </a:ext>
              </a:extLst>
            </p:cNvPr>
            <p:cNvSpPr txBox="1"/>
            <p:nvPr/>
          </p:nvSpPr>
          <p:spPr>
            <a:xfrm>
              <a:off x="10883900" y="1879600"/>
              <a:ext cx="355600" cy="261610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84" name="Flow Icon Circle 4">
              <a:extLst>
                <a:ext uri="{FF2B5EF4-FFF2-40B4-BE49-F238E27FC236}">
                  <a16:creationId xmlns:a16="http://schemas.microsoft.com/office/drawing/2014/main" id="{631C3979-B90C-4313-816E-4BB622C2FF9F}"/>
                </a:ext>
              </a:extLst>
            </p:cNvPr>
            <p:cNvSpPr/>
            <p:nvPr/>
          </p:nvSpPr>
          <p:spPr>
            <a:xfrm>
              <a:off x="106807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85" name="Flow Icon Image 4">
              <a:extLst>
                <a:ext uri="{FF2B5EF4-FFF2-40B4-BE49-F238E27FC236}">
                  <a16:creationId xmlns:a16="http://schemas.microsoft.com/office/drawing/2014/main" id="{97007FD2-872B-4368-A361-7DDA5ABF01F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833100" y="2501900"/>
              <a:ext cx="457200" cy="457200"/>
            </a:xfrm>
            <a:prstGeom prst="rect">
              <a:avLst/>
            </a:prstGeom>
          </p:spPr>
        </p:pic>
        <p:sp>
          <p:nvSpPr>
            <p:cNvPr id="186" name="Flow Title 4">
              <a:extLst>
                <a:ext uri="{FF2B5EF4-FFF2-40B4-BE49-F238E27FC236}">
                  <a16:creationId xmlns:a16="http://schemas.microsoft.com/office/drawing/2014/main" id="{700531C8-8BA1-4B5D-896A-B9470D274D22}"/>
                </a:ext>
              </a:extLst>
            </p:cNvPr>
            <p:cNvSpPr txBox="1"/>
            <p:nvPr/>
          </p:nvSpPr>
          <p:spPr>
            <a:xfrm>
              <a:off x="103632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Measure</a:t>
              </a:r>
            </a:p>
          </p:txBody>
        </p:sp>
        <p:sp>
          <p:nvSpPr>
            <p:cNvPr id="187" name="Flow Body 4">
              <a:extLst>
                <a:ext uri="{FF2B5EF4-FFF2-40B4-BE49-F238E27FC236}">
                  <a16:creationId xmlns:a16="http://schemas.microsoft.com/office/drawing/2014/main" id="{D065C13A-58F9-43F6-A601-3A9F867E61D0}"/>
                </a:ext>
              </a:extLst>
            </p:cNvPr>
            <p:cNvSpPr txBox="1"/>
            <p:nvPr/>
          </p:nvSpPr>
          <p:spPr>
            <a:xfrm>
              <a:off x="10375900" y="3657600"/>
              <a:ext cx="1371600" cy="1169510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Track opt-in rates, interactions, and drop-off across variants</a:t>
              </a:r>
              <a:endPara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88" name="Flow Arrow 4">
              <a:extLst>
                <a:ext uri="{FF2B5EF4-FFF2-40B4-BE49-F238E27FC236}">
                  <a16:creationId xmlns:a16="http://schemas.microsoft.com/office/drawing/2014/main" id="{D6AA9DF1-E242-455D-BFD9-FA2C0D148C57}"/>
                </a:ext>
              </a:extLst>
            </p:cNvPr>
            <p:cNvCxnSpPr/>
            <p:nvPr/>
          </p:nvCxnSpPr>
          <p:spPr>
            <a:xfrm>
              <a:off x="118872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Flow Card 5">
              <a:extLst>
                <a:ext uri="{FF2B5EF4-FFF2-40B4-BE49-F238E27FC236}">
                  <a16:creationId xmlns:a16="http://schemas.microsoft.com/office/drawing/2014/main" id="{EE054984-3DF7-4305-A427-616751587A3D}"/>
                </a:ext>
              </a:extLst>
            </p:cNvPr>
            <p:cNvSpPr/>
            <p:nvPr/>
          </p:nvSpPr>
          <p:spPr>
            <a:xfrm>
              <a:off x="120650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0" name="Flow Badge 5">
              <a:extLst>
                <a:ext uri="{FF2B5EF4-FFF2-40B4-BE49-F238E27FC236}">
                  <a16:creationId xmlns:a16="http://schemas.microsoft.com/office/drawing/2014/main" id="{9EA32569-9ECA-4969-B271-430D13B483C2}"/>
                </a:ext>
              </a:extLst>
            </p:cNvPr>
            <p:cNvSpPr/>
            <p:nvPr/>
          </p:nvSpPr>
          <p:spPr>
            <a:xfrm>
              <a:off x="126873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1" name="Flow Badge Text 5">
              <a:extLst>
                <a:ext uri="{FF2B5EF4-FFF2-40B4-BE49-F238E27FC236}">
                  <a16:creationId xmlns:a16="http://schemas.microsoft.com/office/drawing/2014/main" id="{6A347994-2F26-44FB-A77F-6E4D26BA21CC}"/>
                </a:ext>
              </a:extLst>
            </p:cNvPr>
            <p:cNvSpPr txBox="1"/>
            <p:nvPr/>
          </p:nvSpPr>
          <p:spPr>
            <a:xfrm>
              <a:off x="12699492" y="1894989"/>
              <a:ext cx="333756" cy="261610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92" name="Flow Icon Circle 5">
              <a:extLst>
                <a:ext uri="{FF2B5EF4-FFF2-40B4-BE49-F238E27FC236}">
                  <a16:creationId xmlns:a16="http://schemas.microsoft.com/office/drawing/2014/main" id="{B1A6238A-61EB-49F3-B1C8-344B802EEB7E}"/>
                </a:ext>
              </a:extLst>
            </p:cNvPr>
            <p:cNvSpPr/>
            <p:nvPr/>
          </p:nvSpPr>
          <p:spPr>
            <a:xfrm>
              <a:off x="124841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93" name="Flow Icon Image 5">
              <a:extLst>
                <a:ext uri="{FF2B5EF4-FFF2-40B4-BE49-F238E27FC236}">
                  <a16:creationId xmlns:a16="http://schemas.microsoft.com/office/drawing/2014/main" id="{F74E2AF9-2F8A-4D29-9F28-43A83DA0966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36500" y="2501900"/>
              <a:ext cx="457200" cy="457200"/>
            </a:xfrm>
            <a:prstGeom prst="rect">
              <a:avLst/>
            </a:prstGeom>
          </p:spPr>
        </p:pic>
        <p:sp>
          <p:nvSpPr>
            <p:cNvPr id="194" name="Flow Title 5">
              <a:extLst>
                <a:ext uri="{FF2B5EF4-FFF2-40B4-BE49-F238E27FC236}">
                  <a16:creationId xmlns:a16="http://schemas.microsoft.com/office/drawing/2014/main" id="{C94B1930-0729-4AF3-B5D4-4C1752078177}"/>
                </a:ext>
              </a:extLst>
            </p:cNvPr>
            <p:cNvSpPr txBox="1"/>
            <p:nvPr/>
          </p:nvSpPr>
          <p:spPr>
            <a:xfrm>
              <a:off x="121666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Select</a:t>
              </a:r>
            </a:p>
          </p:txBody>
        </p:sp>
        <p:sp>
          <p:nvSpPr>
            <p:cNvPr id="195" name="Flow Body 5">
              <a:extLst>
                <a:ext uri="{FF2B5EF4-FFF2-40B4-BE49-F238E27FC236}">
                  <a16:creationId xmlns:a16="http://schemas.microsoft.com/office/drawing/2014/main" id="{9C8E053E-C7DD-4D4B-B446-8E2F5CBBA63D}"/>
                </a:ext>
              </a:extLst>
            </p:cNvPr>
            <p:cNvSpPr txBox="1"/>
            <p:nvPr/>
          </p:nvSpPr>
          <p:spPr>
            <a:xfrm>
              <a:off x="12199535" y="3789242"/>
              <a:ext cx="1371600" cy="956871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Choose the winning banner based on performance</a:t>
              </a:r>
              <a:endPara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96" name="Flow Arrow 5">
              <a:extLst>
                <a:ext uri="{FF2B5EF4-FFF2-40B4-BE49-F238E27FC236}">
                  <a16:creationId xmlns:a16="http://schemas.microsoft.com/office/drawing/2014/main" id="{424BB0BE-59F6-449D-99C6-F5972E3AD5DD}"/>
                </a:ext>
              </a:extLst>
            </p:cNvPr>
            <p:cNvCxnSpPr/>
            <p:nvPr/>
          </p:nvCxnSpPr>
          <p:spPr>
            <a:xfrm>
              <a:off x="136906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Flow Card 6">
              <a:extLst>
                <a:ext uri="{FF2B5EF4-FFF2-40B4-BE49-F238E27FC236}">
                  <a16:creationId xmlns:a16="http://schemas.microsoft.com/office/drawing/2014/main" id="{2A5F4E49-AE55-4E9F-819F-74960B89681D}"/>
                </a:ext>
              </a:extLst>
            </p:cNvPr>
            <p:cNvSpPr/>
            <p:nvPr/>
          </p:nvSpPr>
          <p:spPr>
            <a:xfrm>
              <a:off x="138684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8" name="Flow Badge 6">
              <a:extLst>
                <a:ext uri="{FF2B5EF4-FFF2-40B4-BE49-F238E27FC236}">
                  <a16:creationId xmlns:a16="http://schemas.microsoft.com/office/drawing/2014/main" id="{B03EECFA-1482-42AA-BE11-FCFA710F1883}"/>
                </a:ext>
              </a:extLst>
            </p:cNvPr>
            <p:cNvSpPr/>
            <p:nvPr/>
          </p:nvSpPr>
          <p:spPr>
            <a:xfrm>
              <a:off x="14502892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9" name="Flow Badge Text 6">
              <a:extLst>
                <a:ext uri="{FF2B5EF4-FFF2-40B4-BE49-F238E27FC236}">
                  <a16:creationId xmlns:a16="http://schemas.microsoft.com/office/drawing/2014/main" id="{DEE23F13-1E93-4898-A4F3-0E22CACFFE38}"/>
                </a:ext>
              </a:extLst>
            </p:cNvPr>
            <p:cNvSpPr txBox="1"/>
            <p:nvPr/>
          </p:nvSpPr>
          <p:spPr>
            <a:xfrm>
              <a:off x="14502892" y="1879600"/>
              <a:ext cx="355600" cy="261610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00" name="Flow Icon Circle 6">
              <a:extLst>
                <a:ext uri="{FF2B5EF4-FFF2-40B4-BE49-F238E27FC236}">
                  <a16:creationId xmlns:a16="http://schemas.microsoft.com/office/drawing/2014/main" id="{D340A626-59B0-407B-BEE3-706012064D1A}"/>
                </a:ext>
              </a:extLst>
            </p:cNvPr>
            <p:cNvSpPr/>
            <p:nvPr/>
          </p:nvSpPr>
          <p:spPr>
            <a:xfrm>
              <a:off x="142875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01" name="Flow Icon Image 6">
              <a:extLst>
                <a:ext uri="{FF2B5EF4-FFF2-40B4-BE49-F238E27FC236}">
                  <a16:creationId xmlns:a16="http://schemas.microsoft.com/office/drawing/2014/main" id="{4473CF22-BB7E-4403-81C6-FEB7F973CA5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439900" y="2501900"/>
              <a:ext cx="457200" cy="457200"/>
            </a:xfrm>
            <a:prstGeom prst="rect">
              <a:avLst/>
            </a:prstGeom>
          </p:spPr>
        </p:pic>
        <p:sp>
          <p:nvSpPr>
            <p:cNvPr id="202" name="Flow Title 6">
              <a:extLst>
                <a:ext uri="{FF2B5EF4-FFF2-40B4-BE49-F238E27FC236}">
                  <a16:creationId xmlns:a16="http://schemas.microsoft.com/office/drawing/2014/main" id="{6FEDE2D1-5BB0-448D-8AE0-DFD778AD384F}"/>
                </a:ext>
              </a:extLst>
            </p:cNvPr>
            <p:cNvSpPr txBox="1"/>
            <p:nvPr/>
          </p:nvSpPr>
          <p:spPr>
            <a:xfrm>
              <a:off x="139700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Optimize</a:t>
              </a:r>
            </a:p>
          </p:txBody>
        </p:sp>
        <p:sp>
          <p:nvSpPr>
            <p:cNvPr id="203" name="Flow Body 6">
              <a:extLst>
                <a:ext uri="{FF2B5EF4-FFF2-40B4-BE49-F238E27FC236}">
                  <a16:creationId xmlns:a16="http://schemas.microsoft.com/office/drawing/2014/main" id="{5FADBF32-4DCD-487F-9220-5486862FEC65}"/>
                </a:ext>
              </a:extLst>
            </p:cNvPr>
            <p:cNvSpPr txBox="1"/>
            <p:nvPr/>
          </p:nvSpPr>
          <p:spPr>
            <a:xfrm>
              <a:off x="13982700" y="3763919"/>
              <a:ext cx="1371600" cy="956871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Roll out the best design and continue iterative testing</a:t>
              </a:r>
              <a:endPara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204" name="Optimization Loop Down">
              <a:extLst>
                <a:ext uri="{FF2B5EF4-FFF2-40B4-BE49-F238E27FC236}">
                  <a16:creationId xmlns:a16="http://schemas.microsoft.com/office/drawing/2014/main" id="{C6317102-F0C3-4F3B-8848-0284A4964DBF}"/>
                </a:ext>
              </a:extLst>
            </p:cNvPr>
            <p:cNvCxnSpPr/>
            <p:nvPr/>
          </p:nvCxnSpPr>
          <p:spPr>
            <a:xfrm>
              <a:off x="14668500" y="4965700"/>
              <a:ext cx="0" cy="330200"/>
            </a:xfrm>
            <a:prstGeom prst="line">
              <a:avLst/>
            </a:prstGeom>
            <a:ln w="19050">
              <a:solidFill>
                <a:srgbClr val="06264A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Optimization Loop Return">
              <a:extLst>
                <a:ext uri="{FF2B5EF4-FFF2-40B4-BE49-F238E27FC236}">
                  <a16:creationId xmlns:a16="http://schemas.microsoft.com/office/drawing/2014/main" id="{AF54A469-6CEF-4A29-8C34-80B0D8911C79}"/>
                </a:ext>
              </a:extLst>
            </p:cNvPr>
            <p:cNvCxnSpPr/>
            <p:nvPr/>
          </p:nvCxnSpPr>
          <p:spPr>
            <a:xfrm flipH="1">
              <a:off x="5651500" y="5295900"/>
              <a:ext cx="9017000" cy="0"/>
            </a:xfrm>
            <a:prstGeom prst="line">
              <a:avLst/>
            </a:prstGeom>
            <a:ln w="19050">
              <a:solidFill>
                <a:srgbClr val="06264A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Optimization Loop Up">
              <a:extLst>
                <a:ext uri="{FF2B5EF4-FFF2-40B4-BE49-F238E27FC236}">
                  <a16:creationId xmlns:a16="http://schemas.microsoft.com/office/drawing/2014/main" id="{7F46CE3E-8241-475E-A185-7A2CE63ABFB4}"/>
                </a:ext>
              </a:extLst>
            </p:cNvPr>
            <p:cNvCxnSpPr/>
            <p:nvPr/>
          </p:nvCxnSpPr>
          <p:spPr>
            <a:xfrm flipV="1">
              <a:off x="5651500" y="4978400"/>
              <a:ext cx="0" cy="317500"/>
            </a:xfrm>
            <a:prstGeom prst="line">
              <a:avLst/>
            </a:prstGeom>
            <a:ln w="1905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7" name="Optimization Loop Label Backing">
            <a:extLst>
              <a:ext uri="{FF2B5EF4-FFF2-40B4-BE49-F238E27FC236}">
                <a16:creationId xmlns:a16="http://schemas.microsoft.com/office/drawing/2014/main" id="{C1636681-20E7-4695-BA3A-ACD873196FD0}"/>
              </a:ext>
            </a:extLst>
          </p:cNvPr>
          <p:cNvSpPr/>
          <p:nvPr/>
        </p:nvSpPr>
        <p:spPr>
          <a:xfrm>
            <a:off x="6044262" y="3870751"/>
            <a:ext cx="3905049" cy="211396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8" name="Optimization Loop Label">
            <a:extLst>
              <a:ext uri="{FF2B5EF4-FFF2-40B4-BE49-F238E27FC236}">
                <a16:creationId xmlns:a16="http://schemas.microsoft.com/office/drawing/2014/main" id="{4F9D16D0-FD70-469D-B318-AE4CFE26E4F1}"/>
              </a:ext>
            </a:extLst>
          </p:cNvPr>
          <p:cNvSpPr txBox="1"/>
          <p:nvPr/>
        </p:nvSpPr>
        <p:spPr>
          <a:xfrm>
            <a:off x="6171262" y="3836397"/>
            <a:ext cx="3704791" cy="246221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Continuous consent experimentation &amp; optimization</a:t>
            </a:r>
          </a:p>
        </p:txBody>
      </p:sp>
      <p:sp>
        <p:nvSpPr>
          <p:cNvPr id="209" name="Solution Caption">
            <a:extLst>
              <a:ext uri="{FF2B5EF4-FFF2-40B4-BE49-F238E27FC236}">
                <a16:creationId xmlns:a16="http://schemas.microsoft.com/office/drawing/2014/main" id="{2D983593-56BC-4FF5-9D1F-567797E84BD9}"/>
              </a:ext>
            </a:extLst>
          </p:cNvPr>
          <p:cNvSpPr txBox="1"/>
          <p:nvPr/>
        </p:nvSpPr>
        <p:spPr>
          <a:xfrm>
            <a:off x="4094812" y="4290719"/>
            <a:ext cx="7409581" cy="230832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OneTrust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A/B testing combined with data-led measurement to improve consent experience and opt-in outcomes.</a:t>
            </a:r>
            <a:endParaRPr kumimoji="0" lang="en-IN" sz="1000" b="0" i="1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6" name="Benefit Card 1">
            <a:extLst>
              <a:ext uri="{FF2B5EF4-FFF2-40B4-BE49-F238E27FC236}">
                <a16:creationId xmlns:a16="http://schemas.microsoft.com/office/drawing/2014/main" id="{A4AEE9E7-F637-40E9-905E-5E957F81F776}"/>
              </a:ext>
            </a:extLst>
          </p:cNvPr>
          <p:cNvSpPr/>
          <p:nvPr/>
        </p:nvSpPr>
        <p:spPr>
          <a:xfrm>
            <a:off x="3853245" y="5033077"/>
            <a:ext cx="2373483" cy="1249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9" name="Benefit Metric 1">
            <a:extLst>
              <a:ext uri="{FF2B5EF4-FFF2-40B4-BE49-F238E27FC236}">
                <a16:creationId xmlns:a16="http://schemas.microsoft.com/office/drawing/2014/main" id="{0D5D0982-65E2-463C-A217-9C29D677C452}"/>
              </a:ext>
            </a:extLst>
          </p:cNvPr>
          <p:cNvSpPr txBox="1"/>
          <p:nvPr/>
        </p:nvSpPr>
        <p:spPr>
          <a:xfrm>
            <a:off x="4514467" y="5119096"/>
            <a:ext cx="1008989" cy="423193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50" b="1" i="0" u="none" strike="noStrike" kern="1200" cap="none" spc="0" normalizeH="0" baseline="0" noProof="0" dirty="0">
                <a:ln>
                  <a:noFill/>
                </a:ln>
                <a:solidFill>
                  <a:srgbClr val="0626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13%</a:t>
            </a:r>
          </a:p>
        </p:txBody>
      </p:sp>
      <p:sp>
        <p:nvSpPr>
          <p:cNvPr id="240" name="Benefit Caption 1">
            <a:extLst>
              <a:ext uri="{FF2B5EF4-FFF2-40B4-BE49-F238E27FC236}">
                <a16:creationId xmlns:a16="http://schemas.microsoft.com/office/drawing/2014/main" id="{B697D14A-7E8D-4B71-8942-BF3E28DF6F3E}"/>
              </a:ext>
            </a:extLst>
          </p:cNvPr>
          <p:cNvSpPr txBox="1"/>
          <p:nvPr/>
        </p:nvSpPr>
        <p:spPr>
          <a:xfrm>
            <a:off x="4173659" y="5515219"/>
            <a:ext cx="1818122" cy="230832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Opt-in Rate Uplift</a:t>
            </a: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0E1259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2" name="Benefit Card 2">
            <a:extLst>
              <a:ext uri="{FF2B5EF4-FFF2-40B4-BE49-F238E27FC236}">
                <a16:creationId xmlns:a16="http://schemas.microsoft.com/office/drawing/2014/main" id="{EE1B028A-638B-4D61-A8C1-002ED3777874}"/>
              </a:ext>
            </a:extLst>
          </p:cNvPr>
          <p:cNvSpPr/>
          <p:nvPr/>
        </p:nvSpPr>
        <p:spPr>
          <a:xfrm>
            <a:off x="6299836" y="5033077"/>
            <a:ext cx="2629973" cy="1249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" name="Benefit Metric 2">
            <a:extLst>
              <a:ext uri="{FF2B5EF4-FFF2-40B4-BE49-F238E27FC236}">
                <a16:creationId xmlns:a16="http://schemas.microsoft.com/office/drawing/2014/main" id="{83BC6B32-44D8-4938-8E15-54D77BB16BDC}"/>
              </a:ext>
            </a:extLst>
          </p:cNvPr>
          <p:cNvSpPr txBox="1"/>
          <p:nvPr/>
        </p:nvSpPr>
        <p:spPr>
          <a:xfrm>
            <a:off x="6839908" y="5127174"/>
            <a:ext cx="1514704" cy="423193"/>
          </a:xfrm>
          <a:prstGeom prst="rect">
            <a:avLst/>
          </a:prstGeom>
          <a:noFill/>
          <a:ln>
            <a:noFill/>
          </a:ln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50" b="1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30%</a:t>
            </a:r>
          </a:p>
        </p:txBody>
      </p:sp>
      <p:sp>
        <p:nvSpPr>
          <p:cNvPr id="246" name="Benefit Caption 2">
            <a:extLst>
              <a:ext uri="{FF2B5EF4-FFF2-40B4-BE49-F238E27FC236}">
                <a16:creationId xmlns:a16="http://schemas.microsoft.com/office/drawing/2014/main" id="{62168056-F982-4C97-A992-D6BF79D2CA2B}"/>
              </a:ext>
            </a:extLst>
          </p:cNvPr>
          <p:cNvSpPr txBox="1"/>
          <p:nvPr/>
        </p:nvSpPr>
        <p:spPr>
          <a:xfrm>
            <a:off x="6783640" y="5542571"/>
            <a:ext cx="1598854" cy="230832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Faster Decisions</a:t>
            </a: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0E1259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8" name="Benefit Card 3">
            <a:extLst>
              <a:ext uri="{FF2B5EF4-FFF2-40B4-BE49-F238E27FC236}">
                <a16:creationId xmlns:a16="http://schemas.microsoft.com/office/drawing/2014/main" id="{19642EBC-FDC8-49DB-8B00-D262E1362B7C}"/>
              </a:ext>
            </a:extLst>
          </p:cNvPr>
          <p:cNvSpPr/>
          <p:nvPr/>
        </p:nvSpPr>
        <p:spPr>
          <a:xfrm>
            <a:off x="8963675" y="5033374"/>
            <a:ext cx="2285142" cy="1249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1" name="Benefit Metric 3">
            <a:extLst>
              <a:ext uri="{FF2B5EF4-FFF2-40B4-BE49-F238E27FC236}">
                <a16:creationId xmlns:a16="http://schemas.microsoft.com/office/drawing/2014/main" id="{EEA5A933-E2B6-47F7-BA50-6E4974832930}"/>
              </a:ext>
            </a:extLst>
          </p:cNvPr>
          <p:cNvSpPr txBox="1"/>
          <p:nvPr/>
        </p:nvSpPr>
        <p:spPr>
          <a:xfrm>
            <a:off x="9469881" y="5092026"/>
            <a:ext cx="1341957" cy="423193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50" b="1" i="0" u="none" strike="noStrike" kern="1200" cap="none" spc="0" normalizeH="0" baseline="0" noProof="0" dirty="0">
                <a:ln>
                  <a:noFill/>
                </a:ln>
                <a:solidFill>
                  <a:srgbClr val="0626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15%</a:t>
            </a:r>
          </a:p>
        </p:txBody>
      </p:sp>
      <p:sp>
        <p:nvSpPr>
          <p:cNvPr id="252" name="Benefit Caption 3">
            <a:extLst>
              <a:ext uri="{FF2B5EF4-FFF2-40B4-BE49-F238E27FC236}">
                <a16:creationId xmlns:a16="http://schemas.microsoft.com/office/drawing/2014/main" id="{47DB37E3-CDDC-4B16-AE07-8FF641914FD6}"/>
              </a:ext>
            </a:extLst>
          </p:cNvPr>
          <p:cNvSpPr txBox="1"/>
          <p:nvPr/>
        </p:nvSpPr>
        <p:spPr>
          <a:xfrm>
            <a:off x="9506438" y="5537790"/>
            <a:ext cx="1512077" cy="230832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More trackable users</a:t>
            </a: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0E1259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04CFAD-5B46-4E10-85E4-272867250FF3}"/>
              </a:ext>
            </a:extLst>
          </p:cNvPr>
          <p:cNvSpPr txBox="1"/>
          <p:nvPr/>
        </p:nvSpPr>
        <p:spPr>
          <a:xfrm>
            <a:off x="4173659" y="5778025"/>
            <a:ext cx="1818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Measured improvement from winning banner variants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E604F00-9B0F-4C7C-A279-C53C6C5C46BA}"/>
              </a:ext>
            </a:extLst>
          </p:cNvPr>
          <p:cNvSpPr txBox="1"/>
          <p:nvPr/>
        </p:nvSpPr>
        <p:spPr>
          <a:xfrm>
            <a:off x="6696922" y="5801017"/>
            <a:ext cx="1990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Reduced time to identify effective consent experiences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FBFFEBA-7D6D-4331-AE06-A2D0AEF13411}"/>
              </a:ext>
            </a:extLst>
          </p:cNvPr>
          <p:cNvSpPr txBox="1"/>
          <p:nvPr/>
        </p:nvSpPr>
        <p:spPr>
          <a:xfrm>
            <a:off x="9118047" y="5798563"/>
            <a:ext cx="2096438" cy="368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Increase in consented users available for analytics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8656823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801392-319D-44E9-B4F2-59D5EE0E48B4}"/>
              </a:ext>
            </a:extLst>
          </p:cNvPr>
          <p:cNvSpPr/>
          <p:nvPr/>
        </p:nvSpPr>
        <p:spPr>
          <a:xfrm>
            <a:off x="3354672" y="913772"/>
            <a:ext cx="8658567" cy="359461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77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9C331C-CC1E-4325-8026-EE0129F78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C98B77-332E-004E-BD2A-A6DBBD4442FD}" type="slidenum">
              <a:rPr kumimoji="0" lang="sv-S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sv-S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EB1CF-8656-4969-A45E-64364A31DC03}"/>
              </a:ext>
            </a:extLst>
          </p:cNvPr>
          <p:cNvSpPr/>
          <p:nvPr/>
        </p:nvSpPr>
        <p:spPr>
          <a:xfrm>
            <a:off x="382093" y="914400"/>
            <a:ext cx="2807491" cy="55881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D0393-ECDD-4C4C-8754-EC549620B290}"/>
              </a:ext>
            </a:extLst>
          </p:cNvPr>
          <p:cNvSpPr txBox="1"/>
          <p:nvPr/>
        </p:nvSpPr>
        <p:spPr>
          <a:xfrm>
            <a:off x="417240" y="1037401"/>
            <a:ext cx="2688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3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Business Context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0E1259">
                  <a:lumMod val="60000"/>
                  <a:lumOff val="4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A8843-6FDF-413C-B81D-1E05DA449E1D}"/>
              </a:ext>
            </a:extLst>
          </p:cNvPr>
          <p:cNvSpPr txBox="1"/>
          <p:nvPr/>
        </p:nvSpPr>
        <p:spPr>
          <a:xfrm>
            <a:off x="382093" y="3333722"/>
            <a:ext cx="2688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3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Business Challenges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0E1259">
                  <a:lumMod val="60000"/>
                  <a:lumOff val="4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34854-D71F-4D82-A796-7D8990EAC131}"/>
              </a:ext>
            </a:extLst>
          </p:cNvPr>
          <p:cNvSpPr txBox="1"/>
          <p:nvPr/>
        </p:nvSpPr>
        <p:spPr>
          <a:xfrm>
            <a:off x="373557" y="1392836"/>
            <a:ext cx="2807088" cy="1858667"/>
          </a:xfrm>
          <a:prstGeom prst="rect">
            <a:avLst/>
          </a:prstGeom>
          <a:noFill/>
        </p:spPr>
        <p:txBody>
          <a:bodyPr wrap="square" lIns="71994" tIns="0" rIns="71994" bIns="0" rtlCol="0">
            <a:noAutofit/>
          </a:bodyPr>
          <a:lstStyle/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Mobile app analytics validation currently depends on manual review of network logs across iOS and Android app flows.</a:t>
            </a:r>
          </a:p>
          <a:p>
            <a:pPr marR="0" lvl="0" defTabSz="914400" rtl="0" eaLnBrk="1" fontAlgn="auto" latinLnBrk="0" hangingPunct="1">
              <a:buClrTx/>
              <a:buSzTx/>
              <a:tabLst/>
              <a:defRPr/>
            </a:pP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ObservePoint already supports rule-based validation for web audits, but app HAR validation requires a dedicated Test Configuration / Device Profile before rules can be applied.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E7D527-9F89-40C3-8562-49284B4B8465}"/>
              </a:ext>
            </a:extLst>
          </p:cNvPr>
          <p:cNvSpPr txBox="1"/>
          <p:nvPr/>
        </p:nvSpPr>
        <p:spPr>
          <a:xfrm>
            <a:off x="367337" y="3754495"/>
            <a:ext cx="2834069" cy="2519925"/>
          </a:xfrm>
          <a:prstGeom prst="rect">
            <a:avLst/>
          </a:prstGeom>
          <a:noFill/>
        </p:spPr>
        <p:txBody>
          <a:bodyPr wrap="square" lIns="71994" tIns="0" rIns="71994" bIns="0" rtlCol="0">
            <a:noAutofit/>
          </a:bodyPr>
          <a:lstStyle/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8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App analytics validation is performed manually using proxy tools such as Charles Proxy and Proxyman.</a:t>
            </a:r>
          </a:p>
          <a:p>
            <a:pPr marR="0" lvl="0" defTabSz="914400" rtl="0" eaLnBrk="1" fontAlgn="auto" latinLnBrk="0" hangingPunct="1">
              <a:buClrTx/>
              <a:buSzTx/>
              <a:tabLst/>
              <a:defRPr/>
            </a:pPr>
            <a:endParaRPr kumimoji="0" lang="en-US" sz="98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8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Existing ObservePoint rules are web-focused and may not fully align with app-specific endpoints, SDK hits, and variable naming patterns.</a:t>
            </a:r>
          </a:p>
          <a:p>
            <a:pPr marR="0" lvl="0" defTabSz="914400" rtl="0" eaLnBrk="1" fontAlgn="auto" latinLnBrk="0" hangingPunct="1">
              <a:buClrTx/>
              <a:buSzTx/>
              <a:tabLst/>
              <a:defRPr/>
            </a:pPr>
            <a:endParaRPr kumimoji="0" lang="en-US" sz="98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8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There is no structured pass/fail reporting for app tag and variable conditions, so issues are often caught reactively after release.</a:t>
            </a:r>
          </a:p>
          <a:p>
            <a:pPr marR="0" lvl="0" defTabSz="914400" rtl="0" eaLnBrk="1" fontAlgn="auto" latinLnBrk="0" hangingPunct="1">
              <a:buClrTx/>
              <a:buSzTx/>
              <a:tabLst/>
              <a:defRPr/>
            </a:pPr>
            <a:endParaRPr kumimoji="0" lang="en-US" sz="98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8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Critical app release flows such as app launch, login, purchase, and consent updates need repeatable validation.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08256F-1D41-410F-BAD4-A88694BEEC2E}"/>
              </a:ext>
            </a:extLst>
          </p:cNvPr>
          <p:cNvSpPr txBox="1"/>
          <p:nvPr/>
        </p:nvSpPr>
        <p:spPr>
          <a:xfrm>
            <a:off x="3567837" y="956914"/>
            <a:ext cx="33142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eClerx Recommended Solution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0E1259">
                  <a:lumMod val="60000"/>
                  <a:lumOff val="4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FD2BFC-4B86-4160-99A6-A5AC3EF8F3FF}"/>
              </a:ext>
            </a:extLst>
          </p:cNvPr>
          <p:cNvSpPr/>
          <p:nvPr/>
        </p:nvSpPr>
        <p:spPr>
          <a:xfrm>
            <a:off x="9352994" y="5431974"/>
            <a:ext cx="2263758" cy="1047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" name="Title 6">
            <a:extLst>
              <a:ext uri="{FF2B5EF4-FFF2-40B4-BE49-F238E27FC236}">
                <a16:creationId xmlns:a16="http://schemas.microsoft.com/office/drawing/2014/main" id="{43BE8344-E263-45D7-AE84-8D5505EB2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86" y="303066"/>
            <a:ext cx="11873140" cy="468193"/>
          </a:xfrm>
        </p:spPr>
        <p:txBody>
          <a:bodyPr vert="horz"/>
          <a:lstStyle/>
          <a:p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Case Study - ObservePoint HAR Analyzer for App Log Validation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FC88D19-5F54-4C5A-8F19-129CF2532F2C}"/>
              </a:ext>
            </a:extLst>
          </p:cNvPr>
          <p:cNvSpPr/>
          <p:nvPr/>
        </p:nvSpPr>
        <p:spPr>
          <a:xfrm>
            <a:off x="3347504" y="4577940"/>
            <a:ext cx="8658568" cy="19246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8CE407F-05AC-4E8F-90C0-58910B4A838A}"/>
              </a:ext>
            </a:extLst>
          </p:cNvPr>
          <p:cNvSpPr txBox="1"/>
          <p:nvPr/>
        </p:nvSpPr>
        <p:spPr>
          <a:xfrm>
            <a:off x="3355376" y="4561609"/>
            <a:ext cx="2688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3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Business Benefits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0E1259">
                  <a:lumMod val="60000"/>
                  <a:lumOff val="4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7" name="Optimization Loop Label Backing">
            <a:extLst>
              <a:ext uri="{FF2B5EF4-FFF2-40B4-BE49-F238E27FC236}">
                <a16:creationId xmlns:a16="http://schemas.microsoft.com/office/drawing/2014/main" id="{C1636681-20E7-4695-BA3A-ACD873196FD0}"/>
              </a:ext>
            </a:extLst>
          </p:cNvPr>
          <p:cNvSpPr/>
          <p:nvPr/>
        </p:nvSpPr>
        <p:spPr>
          <a:xfrm>
            <a:off x="5303520" y="3867150"/>
            <a:ext cx="4572000" cy="260350"/>
          </a:xfrm>
          <a:prstGeom prst="rect">
            <a:avLst/>
          </a:prstGeom>
          <a:solidFill>
            <a:srgbClr val="06264A"/>
          </a:solidFill>
          <a:ln w="9525" cap="flat" cmpd="sng" algn="ctr">
            <a:solidFill>
              <a:srgbClr val="06264A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110BABF-E4F3-49AD-9CB7-13E726A576AD}"/>
              </a:ext>
            </a:extLst>
          </p:cNvPr>
          <p:cNvGrpSpPr/>
          <p:nvPr/>
        </p:nvGrpSpPr>
        <p:grpSpPr>
          <a:xfrm>
            <a:off x="3402662" y="1368935"/>
            <a:ext cx="8370824" cy="2573512"/>
            <a:chOff x="4851400" y="1739900"/>
            <a:chExt cx="10617200" cy="3556000"/>
          </a:xfrm>
        </p:grpSpPr>
        <p:sp>
          <p:nvSpPr>
            <p:cNvPr id="105" name="Flow Card 1">
              <a:extLst>
                <a:ext uri="{FF2B5EF4-FFF2-40B4-BE49-F238E27FC236}">
                  <a16:creationId xmlns:a16="http://schemas.microsoft.com/office/drawing/2014/main" id="{3439280F-828F-455C-8286-FA8625AD87DE}"/>
                </a:ext>
              </a:extLst>
            </p:cNvPr>
            <p:cNvSpPr/>
            <p:nvPr/>
          </p:nvSpPr>
          <p:spPr>
            <a:xfrm>
              <a:off x="48514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6" name="Flow Badge 1">
              <a:extLst>
                <a:ext uri="{FF2B5EF4-FFF2-40B4-BE49-F238E27FC236}">
                  <a16:creationId xmlns:a16="http://schemas.microsoft.com/office/drawing/2014/main" id="{146B46AC-A39C-43C6-8AF0-D72C2E98B8CD}"/>
                </a:ext>
              </a:extLst>
            </p:cNvPr>
            <p:cNvSpPr/>
            <p:nvPr/>
          </p:nvSpPr>
          <p:spPr>
            <a:xfrm>
              <a:off x="54737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1" name="Flow Badge Text 1">
              <a:extLst>
                <a:ext uri="{FF2B5EF4-FFF2-40B4-BE49-F238E27FC236}">
                  <a16:creationId xmlns:a16="http://schemas.microsoft.com/office/drawing/2014/main" id="{F857A09D-2126-4199-82C8-57E095EF6630}"/>
                </a:ext>
              </a:extLst>
            </p:cNvPr>
            <p:cNvSpPr txBox="1"/>
            <p:nvPr/>
          </p:nvSpPr>
          <p:spPr>
            <a:xfrm>
              <a:off x="5473699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2" name="Flow Icon Circle 1">
              <a:extLst>
                <a:ext uri="{FF2B5EF4-FFF2-40B4-BE49-F238E27FC236}">
                  <a16:creationId xmlns:a16="http://schemas.microsoft.com/office/drawing/2014/main" id="{B51D2572-C480-4A2A-8EEF-F03C02E6956C}"/>
                </a:ext>
              </a:extLst>
            </p:cNvPr>
            <p:cNvSpPr/>
            <p:nvPr/>
          </p:nvSpPr>
          <p:spPr>
            <a:xfrm>
              <a:off x="52705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1" name="Flow Title 1">
              <a:extLst>
                <a:ext uri="{FF2B5EF4-FFF2-40B4-BE49-F238E27FC236}">
                  <a16:creationId xmlns:a16="http://schemas.microsoft.com/office/drawing/2014/main" id="{A50DAF96-5CF3-41E1-BB40-C102E66A01EE}"/>
                </a:ext>
              </a:extLst>
            </p:cNvPr>
            <p:cNvSpPr txBox="1"/>
            <p:nvPr/>
          </p:nvSpPr>
          <p:spPr>
            <a:xfrm>
              <a:off x="4953001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Configure</a:t>
              </a:r>
              <a:endParaRPr kumimoji="0" lang="en-IN" sz="1300" b="1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3" name="Flow Body 1">
              <a:extLst>
                <a:ext uri="{FF2B5EF4-FFF2-40B4-BE49-F238E27FC236}">
                  <a16:creationId xmlns:a16="http://schemas.microsoft.com/office/drawing/2014/main" id="{2786180A-BB7C-4853-AA8D-227CA5418F84}"/>
                </a:ext>
              </a:extLst>
            </p:cNvPr>
            <p:cNvSpPr txBox="1"/>
            <p:nvPr/>
          </p:nvSpPr>
          <p:spPr>
            <a:xfrm>
              <a:off x="4965699" y="3603720"/>
              <a:ext cx="1371608" cy="1263490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Create Device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Profile / Test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Configuration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for iOS and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Android apps</a:t>
              </a:r>
              <a:endParaRPr kumimoji="0" lang="en-IN" sz="870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24" name="Flow Arrow 1">
              <a:extLst>
                <a:ext uri="{FF2B5EF4-FFF2-40B4-BE49-F238E27FC236}">
                  <a16:creationId xmlns:a16="http://schemas.microsoft.com/office/drawing/2014/main" id="{138B586C-2D7F-451D-95B0-D1A6DD4F6306}"/>
                </a:ext>
              </a:extLst>
            </p:cNvPr>
            <p:cNvCxnSpPr/>
            <p:nvPr/>
          </p:nvCxnSpPr>
          <p:spPr>
            <a:xfrm>
              <a:off x="64770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Flow Card 2">
              <a:extLst>
                <a:ext uri="{FF2B5EF4-FFF2-40B4-BE49-F238E27FC236}">
                  <a16:creationId xmlns:a16="http://schemas.microsoft.com/office/drawing/2014/main" id="{E73761A6-BBEF-4716-9098-62C47272B2AE}"/>
                </a:ext>
              </a:extLst>
            </p:cNvPr>
            <p:cNvSpPr/>
            <p:nvPr/>
          </p:nvSpPr>
          <p:spPr>
            <a:xfrm>
              <a:off x="66548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9" name="Flow Badge 2">
              <a:extLst>
                <a:ext uri="{FF2B5EF4-FFF2-40B4-BE49-F238E27FC236}">
                  <a16:creationId xmlns:a16="http://schemas.microsoft.com/office/drawing/2014/main" id="{C9D6FD7B-7E87-4F9E-8252-59A0C6ECBDBB}"/>
                </a:ext>
              </a:extLst>
            </p:cNvPr>
            <p:cNvSpPr/>
            <p:nvPr/>
          </p:nvSpPr>
          <p:spPr>
            <a:xfrm>
              <a:off x="72771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1" name="Flow Badge Text 2">
              <a:extLst>
                <a:ext uri="{FF2B5EF4-FFF2-40B4-BE49-F238E27FC236}">
                  <a16:creationId xmlns:a16="http://schemas.microsoft.com/office/drawing/2014/main" id="{8EB40419-A781-4B59-9F1C-4388FEDE5E91}"/>
                </a:ext>
              </a:extLst>
            </p:cNvPr>
            <p:cNvSpPr txBox="1"/>
            <p:nvPr/>
          </p:nvSpPr>
          <p:spPr>
            <a:xfrm>
              <a:off x="7277100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</a:t>
              </a:r>
              <a:endParaRPr kumimoji="0" lang="en-IN" sz="1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2" name="Flow Icon Circle 2">
              <a:extLst>
                <a:ext uri="{FF2B5EF4-FFF2-40B4-BE49-F238E27FC236}">
                  <a16:creationId xmlns:a16="http://schemas.microsoft.com/office/drawing/2014/main" id="{67E149F4-C8F2-4878-9838-61FF66BB684F}"/>
                </a:ext>
              </a:extLst>
            </p:cNvPr>
            <p:cNvSpPr/>
            <p:nvPr/>
          </p:nvSpPr>
          <p:spPr>
            <a:xfrm>
              <a:off x="70739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56" name="Flow Title 2">
              <a:extLst>
                <a:ext uri="{FF2B5EF4-FFF2-40B4-BE49-F238E27FC236}">
                  <a16:creationId xmlns:a16="http://schemas.microsoft.com/office/drawing/2014/main" id="{2016BDCA-CC04-4A05-BB4E-5EB239103132}"/>
                </a:ext>
              </a:extLst>
            </p:cNvPr>
            <p:cNvSpPr txBox="1"/>
            <p:nvPr/>
          </p:nvSpPr>
          <p:spPr>
            <a:xfrm>
              <a:off x="67564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Capture</a:t>
              </a:r>
              <a:endParaRPr kumimoji="0" lang="en-IN" sz="1300" b="1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0" name="Flow Body 2">
              <a:extLst>
                <a:ext uri="{FF2B5EF4-FFF2-40B4-BE49-F238E27FC236}">
                  <a16:creationId xmlns:a16="http://schemas.microsoft.com/office/drawing/2014/main" id="{1AFBEC8F-A65E-4892-95B8-77A6EEAEA556}"/>
                </a:ext>
              </a:extLst>
            </p:cNvPr>
            <p:cNvSpPr txBox="1"/>
            <p:nvPr/>
          </p:nvSpPr>
          <p:spPr>
            <a:xfrm>
              <a:off x="6769100" y="3603720"/>
              <a:ext cx="1371608" cy="1263490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Generate HAR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files using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Charles, Proxyman,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 dirty="0" err="1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BrowserStack</a:t>
              </a:r>
              <a:r>
                <a:rPr kumimoji="0" lang="en-US" sz="87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or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device farm tools</a:t>
              </a:r>
              <a:endParaRPr kumimoji="0" lang="en-IN" sz="870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65" name="Flow Arrow 2">
              <a:extLst>
                <a:ext uri="{FF2B5EF4-FFF2-40B4-BE49-F238E27FC236}">
                  <a16:creationId xmlns:a16="http://schemas.microsoft.com/office/drawing/2014/main" id="{A1D56DA8-AFF9-41F6-BB3E-6D0B28AF1052}"/>
                </a:ext>
              </a:extLst>
            </p:cNvPr>
            <p:cNvCxnSpPr/>
            <p:nvPr/>
          </p:nvCxnSpPr>
          <p:spPr>
            <a:xfrm>
              <a:off x="82804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Flow Card 3">
              <a:extLst>
                <a:ext uri="{FF2B5EF4-FFF2-40B4-BE49-F238E27FC236}">
                  <a16:creationId xmlns:a16="http://schemas.microsoft.com/office/drawing/2014/main" id="{1261DD49-AD45-4200-87EA-490B9F95E4ED}"/>
                </a:ext>
              </a:extLst>
            </p:cNvPr>
            <p:cNvSpPr/>
            <p:nvPr/>
          </p:nvSpPr>
          <p:spPr>
            <a:xfrm>
              <a:off x="84582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4" name="Flow Badge 3">
              <a:extLst>
                <a:ext uri="{FF2B5EF4-FFF2-40B4-BE49-F238E27FC236}">
                  <a16:creationId xmlns:a16="http://schemas.microsoft.com/office/drawing/2014/main" id="{2E259E15-A164-4302-B7DA-5C4CCB0D0508}"/>
                </a:ext>
              </a:extLst>
            </p:cNvPr>
            <p:cNvSpPr/>
            <p:nvPr/>
          </p:nvSpPr>
          <p:spPr>
            <a:xfrm>
              <a:off x="90805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5" name="Flow Badge Text 3">
              <a:extLst>
                <a:ext uri="{FF2B5EF4-FFF2-40B4-BE49-F238E27FC236}">
                  <a16:creationId xmlns:a16="http://schemas.microsoft.com/office/drawing/2014/main" id="{ABFF859B-95B8-4E99-A66D-ECB2D193B5E4}"/>
                </a:ext>
              </a:extLst>
            </p:cNvPr>
            <p:cNvSpPr txBox="1"/>
            <p:nvPr/>
          </p:nvSpPr>
          <p:spPr>
            <a:xfrm>
              <a:off x="9080499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76" name="Flow Icon Circle 3">
              <a:extLst>
                <a:ext uri="{FF2B5EF4-FFF2-40B4-BE49-F238E27FC236}">
                  <a16:creationId xmlns:a16="http://schemas.microsoft.com/office/drawing/2014/main" id="{72809646-DF59-426F-BC9D-AB50731493C8}"/>
                </a:ext>
              </a:extLst>
            </p:cNvPr>
            <p:cNvSpPr/>
            <p:nvPr/>
          </p:nvSpPr>
          <p:spPr>
            <a:xfrm>
              <a:off x="88773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8" name="Flow Title 3">
              <a:extLst>
                <a:ext uri="{FF2B5EF4-FFF2-40B4-BE49-F238E27FC236}">
                  <a16:creationId xmlns:a16="http://schemas.microsoft.com/office/drawing/2014/main" id="{70154094-E40F-46CA-9D8E-2B06A435C48E}"/>
                </a:ext>
              </a:extLst>
            </p:cNvPr>
            <p:cNvSpPr txBox="1"/>
            <p:nvPr/>
          </p:nvSpPr>
          <p:spPr>
            <a:xfrm>
              <a:off x="85598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Build Rules</a:t>
              </a:r>
              <a:endParaRPr kumimoji="0" lang="en-IN" sz="1300" b="1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9" name="Flow Body 3">
              <a:extLst>
                <a:ext uri="{FF2B5EF4-FFF2-40B4-BE49-F238E27FC236}">
                  <a16:creationId xmlns:a16="http://schemas.microsoft.com/office/drawing/2014/main" id="{BD258850-9547-4DAD-AFA2-697221B381DA}"/>
                </a:ext>
              </a:extLst>
            </p:cNvPr>
            <p:cNvSpPr txBox="1"/>
            <p:nvPr/>
          </p:nvSpPr>
          <p:spPr>
            <a:xfrm>
              <a:off x="8572501" y="3603720"/>
              <a:ext cx="1453401" cy="1263490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Create app-specific or update Web based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Rules for SDK hits,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consent payloads,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and event calls</a:t>
              </a:r>
              <a:endParaRPr kumimoji="0" lang="en-IN" sz="820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80" name="Flow Arrow 3">
              <a:extLst>
                <a:ext uri="{FF2B5EF4-FFF2-40B4-BE49-F238E27FC236}">
                  <a16:creationId xmlns:a16="http://schemas.microsoft.com/office/drawing/2014/main" id="{93133BF5-48A3-4AB9-946D-AF7FB31C7C5B}"/>
                </a:ext>
              </a:extLst>
            </p:cNvPr>
            <p:cNvCxnSpPr/>
            <p:nvPr/>
          </p:nvCxnSpPr>
          <p:spPr>
            <a:xfrm>
              <a:off x="100838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Flow Card 4">
              <a:extLst>
                <a:ext uri="{FF2B5EF4-FFF2-40B4-BE49-F238E27FC236}">
                  <a16:creationId xmlns:a16="http://schemas.microsoft.com/office/drawing/2014/main" id="{0E98FE19-70A3-429B-811D-99CF34EA625A}"/>
                </a:ext>
              </a:extLst>
            </p:cNvPr>
            <p:cNvSpPr/>
            <p:nvPr/>
          </p:nvSpPr>
          <p:spPr>
            <a:xfrm>
              <a:off x="102616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2" name="Flow Badge 4">
              <a:extLst>
                <a:ext uri="{FF2B5EF4-FFF2-40B4-BE49-F238E27FC236}">
                  <a16:creationId xmlns:a16="http://schemas.microsoft.com/office/drawing/2014/main" id="{E3E16296-C0EA-4C41-9732-49A8A3FB4A70}"/>
                </a:ext>
              </a:extLst>
            </p:cNvPr>
            <p:cNvSpPr/>
            <p:nvPr/>
          </p:nvSpPr>
          <p:spPr>
            <a:xfrm>
              <a:off x="108839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3" name="Flow Badge Text 4">
              <a:extLst>
                <a:ext uri="{FF2B5EF4-FFF2-40B4-BE49-F238E27FC236}">
                  <a16:creationId xmlns:a16="http://schemas.microsoft.com/office/drawing/2014/main" id="{E66069A7-6999-4355-BADB-ED6DAD8444BC}"/>
                </a:ext>
              </a:extLst>
            </p:cNvPr>
            <p:cNvSpPr txBox="1"/>
            <p:nvPr/>
          </p:nvSpPr>
          <p:spPr>
            <a:xfrm>
              <a:off x="10883900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</a:t>
              </a:r>
              <a:endParaRPr kumimoji="0" lang="en-IN" sz="1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4" name="Flow Icon Circle 4">
              <a:extLst>
                <a:ext uri="{FF2B5EF4-FFF2-40B4-BE49-F238E27FC236}">
                  <a16:creationId xmlns:a16="http://schemas.microsoft.com/office/drawing/2014/main" id="{631C3979-B90C-4313-816E-4BB622C2FF9F}"/>
                </a:ext>
              </a:extLst>
            </p:cNvPr>
            <p:cNvSpPr/>
            <p:nvPr/>
          </p:nvSpPr>
          <p:spPr>
            <a:xfrm>
              <a:off x="106807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6" name="Flow Title 4">
              <a:extLst>
                <a:ext uri="{FF2B5EF4-FFF2-40B4-BE49-F238E27FC236}">
                  <a16:creationId xmlns:a16="http://schemas.microsoft.com/office/drawing/2014/main" id="{700531C8-8BA1-4B5D-896A-B9470D274D22}"/>
                </a:ext>
              </a:extLst>
            </p:cNvPr>
            <p:cNvSpPr txBox="1"/>
            <p:nvPr/>
          </p:nvSpPr>
          <p:spPr>
            <a:xfrm>
              <a:off x="103632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Validate</a:t>
              </a:r>
              <a:endParaRPr kumimoji="0" lang="en-IN" sz="1300" b="1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7" name="Flow Body 4">
              <a:extLst>
                <a:ext uri="{FF2B5EF4-FFF2-40B4-BE49-F238E27FC236}">
                  <a16:creationId xmlns:a16="http://schemas.microsoft.com/office/drawing/2014/main" id="{D065C13A-58F9-43F6-A601-3A9F867E61D0}"/>
                </a:ext>
              </a:extLst>
            </p:cNvPr>
            <p:cNvSpPr txBox="1"/>
            <p:nvPr/>
          </p:nvSpPr>
          <p:spPr>
            <a:xfrm>
              <a:off x="10375900" y="3603720"/>
              <a:ext cx="1371608" cy="1263490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Upload HAR files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and run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automated rule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checks</a:t>
              </a:r>
              <a:endParaRPr kumimoji="0" lang="en-IN" sz="870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88" name="Flow Arrow 4">
              <a:extLst>
                <a:ext uri="{FF2B5EF4-FFF2-40B4-BE49-F238E27FC236}">
                  <a16:creationId xmlns:a16="http://schemas.microsoft.com/office/drawing/2014/main" id="{D6AA9DF1-E242-455D-BFD9-FA2C0D148C57}"/>
                </a:ext>
              </a:extLst>
            </p:cNvPr>
            <p:cNvCxnSpPr/>
            <p:nvPr/>
          </p:nvCxnSpPr>
          <p:spPr>
            <a:xfrm>
              <a:off x="118872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Flow Card 5">
              <a:extLst>
                <a:ext uri="{FF2B5EF4-FFF2-40B4-BE49-F238E27FC236}">
                  <a16:creationId xmlns:a16="http://schemas.microsoft.com/office/drawing/2014/main" id="{EE054984-3DF7-4305-A427-616751587A3D}"/>
                </a:ext>
              </a:extLst>
            </p:cNvPr>
            <p:cNvSpPr/>
            <p:nvPr/>
          </p:nvSpPr>
          <p:spPr>
            <a:xfrm>
              <a:off x="120650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0" name="Flow Badge 5">
              <a:extLst>
                <a:ext uri="{FF2B5EF4-FFF2-40B4-BE49-F238E27FC236}">
                  <a16:creationId xmlns:a16="http://schemas.microsoft.com/office/drawing/2014/main" id="{9EA32569-9ECA-4969-B271-430D13B483C2}"/>
                </a:ext>
              </a:extLst>
            </p:cNvPr>
            <p:cNvSpPr/>
            <p:nvPr/>
          </p:nvSpPr>
          <p:spPr>
            <a:xfrm>
              <a:off x="126873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1" name="Flow Badge Text 5">
              <a:extLst>
                <a:ext uri="{FF2B5EF4-FFF2-40B4-BE49-F238E27FC236}">
                  <a16:creationId xmlns:a16="http://schemas.microsoft.com/office/drawing/2014/main" id="{6A347994-2F26-44FB-A77F-6E4D26BA21CC}"/>
                </a:ext>
              </a:extLst>
            </p:cNvPr>
            <p:cNvSpPr txBox="1"/>
            <p:nvPr/>
          </p:nvSpPr>
          <p:spPr>
            <a:xfrm>
              <a:off x="12699492" y="1845051"/>
              <a:ext cx="333756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5</a:t>
              </a:r>
              <a:endParaRPr kumimoji="0" lang="en-IN" sz="1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2" name="Flow Icon Circle 5">
              <a:extLst>
                <a:ext uri="{FF2B5EF4-FFF2-40B4-BE49-F238E27FC236}">
                  <a16:creationId xmlns:a16="http://schemas.microsoft.com/office/drawing/2014/main" id="{B1A6238A-61EB-49F3-B1C8-344B802EEB7E}"/>
                </a:ext>
              </a:extLst>
            </p:cNvPr>
            <p:cNvSpPr/>
            <p:nvPr/>
          </p:nvSpPr>
          <p:spPr>
            <a:xfrm>
              <a:off x="124841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4" name="Flow Title 5">
              <a:extLst>
                <a:ext uri="{FF2B5EF4-FFF2-40B4-BE49-F238E27FC236}">
                  <a16:creationId xmlns:a16="http://schemas.microsoft.com/office/drawing/2014/main" id="{C94B1930-0729-4AF3-B5D4-4C1752078177}"/>
                </a:ext>
              </a:extLst>
            </p:cNvPr>
            <p:cNvSpPr txBox="1"/>
            <p:nvPr/>
          </p:nvSpPr>
          <p:spPr>
            <a:xfrm>
              <a:off x="121666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Report</a:t>
              </a:r>
            </a:p>
          </p:txBody>
        </p:sp>
        <p:sp>
          <p:nvSpPr>
            <p:cNvPr id="195" name="Flow Body 5">
              <a:extLst>
                <a:ext uri="{FF2B5EF4-FFF2-40B4-BE49-F238E27FC236}">
                  <a16:creationId xmlns:a16="http://schemas.microsoft.com/office/drawing/2014/main" id="{9C8E053E-C7DD-4D4B-B446-8E2F5CBBA63D}"/>
                </a:ext>
              </a:extLst>
            </p:cNvPr>
            <p:cNvSpPr txBox="1"/>
            <p:nvPr/>
          </p:nvSpPr>
          <p:spPr>
            <a:xfrm>
              <a:off x="12199535" y="3603720"/>
              <a:ext cx="1371608" cy="1263490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Review pass/fail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results by flow,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tag, and variable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condition</a:t>
              </a:r>
              <a:endParaRPr kumimoji="0" lang="en-IN" sz="870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96" name="Flow Arrow 5">
              <a:extLst>
                <a:ext uri="{FF2B5EF4-FFF2-40B4-BE49-F238E27FC236}">
                  <a16:creationId xmlns:a16="http://schemas.microsoft.com/office/drawing/2014/main" id="{424BB0BE-59F6-449D-99C6-F5972E3AD5DD}"/>
                </a:ext>
              </a:extLst>
            </p:cNvPr>
            <p:cNvCxnSpPr/>
            <p:nvPr/>
          </p:nvCxnSpPr>
          <p:spPr>
            <a:xfrm>
              <a:off x="136906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Flow Card 6">
              <a:extLst>
                <a:ext uri="{FF2B5EF4-FFF2-40B4-BE49-F238E27FC236}">
                  <a16:creationId xmlns:a16="http://schemas.microsoft.com/office/drawing/2014/main" id="{2A5F4E49-AE55-4E9F-819F-74960B89681D}"/>
                </a:ext>
              </a:extLst>
            </p:cNvPr>
            <p:cNvSpPr/>
            <p:nvPr/>
          </p:nvSpPr>
          <p:spPr>
            <a:xfrm>
              <a:off x="138684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8" name="Flow Badge 6">
              <a:extLst>
                <a:ext uri="{FF2B5EF4-FFF2-40B4-BE49-F238E27FC236}">
                  <a16:creationId xmlns:a16="http://schemas.microsoft.com/office/drawing/2014/main" id="{B03EECFA-1482-42AA-BE11-FCFA710F1883}"/>
                </a:ext>
              </a:extLst>
            </p:cNvPr>
            <p:cNvSpPr/>
            <p:nvPr/>
          </p:nvSpPr>
          <p:spPr>
            <a:xfrm>
              <a:off x="14502892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9" name="Flow Badge Text 6">
              <a:extLst>
                <a:ext uri="{FF2B5EF4-FFF2-40B4-BE49-F238E27FC236}">
                  <a16:creationId xmlns:a16="http://schemas.microsoft.com/office/drawing/2014/main" id="{DEE23F13-1E93-4898-A4F3-0E22CACFFE38}"/>
                </a:ext>
              </a:extLst>
            </p:cNvPr>
            <p:cNvSpPr txBox="1"/>
            <p:nvPr/>
          </p:nvSpPr>
          <p:spPr>
            <a:xfrm>
              <a:off x="14502891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6</a:t>
              </a:r>
              <a:endParaRPr kumimoji="0" lang="en-IN" sz="1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0" name="Flow Icon Circle 6">
              <a:extLst>
                <a:ext uri="{FF2B5EF4-FFF2-40B4-BE49-F238E27FC236}">
                  <a16:creationId xmlns:a16="http://schemas.microsoft.com/office/drawing/2014/main" id="{D340A626-59B0-407B-BEE3-706012064D1A}"/>
                </a:ext>
              </a:extLst>
            </p:cNvPr>
            <p:cNvSpPr/>
            <p:nvPr/>
          </p:nvSpPr>
          <p:spPr>
            <a:xfrm>
              <a:off x="142875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2" name="Flow Title 6">
              <a:extLst>
                <a:ext uri="{FF2B5EF4-FFF2-40B4-BE49-F238E27FC236}">
                  <a16:creationId xmlns:a16="http://schemas.microsoft.com/office/drawing/2014/main" id="{6FEDE2D1-5BB0-448D-8AE0-DFD778AD384F}"/>
                </a:ext>
              </a:extLst>
            </p:cNvPr>
            <p:cNvSpPr txBox="1"/>
            <p:nvPr/>
          </p:nvSpPr>
          <p:spPr>
            <a:xfrm>
              <a:off x="139700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Automate</a:t>
              </a:r>
            </a:p>
          </p:txBody>
        </p:sp>
        <p:sp>
          <p:nvSpPr>
            <p:cNvPr id="203" name="Flow Body 6">
              <a:extLst>
                <a:ext uri="{FF2B5EF4-FFF2-40B4-BE49-F238E27FC236}">
                  <a16:creationId xmlns:a16="http://schemas.microsoft.com/office/drawing/2014/main" id="{5FADBF32-4DCD-487F-9220-5486862FEC65}"/>
                </a:ext>
              </a:extLst>
            </p:cNvPr>
            <p:cNvSpPr txBox="1"/>
            <p:nvPr/>
          </p:nvSpPr>
          <p:spPr>
            <a:xfrm>
              <a:off x="13982700" y="3603720"/>
              <a:ext cx="1371608" cy="1263490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Integrate HAR upload via API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and validation into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the app release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7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process</a:t>
              </a:r>
              <a:endParaRPr kumimoji="0" lang="en-IN" sz="870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204" name="Optimization Loop Down">
              <a:extLst>
                <a:ext uri="{FF2B5EF4-FFF2-40B4-BE49-F238E27FC236}">
                  <a16:creationId xmlns:a16="http://schemas.microsoft.com/office/drawing/2014/main" id="{C6317102-F0C3-4F3B-8848-0284A4964DBF}"/>
                </a:ext>
              </a:extLst>
            </p:cNvPr>
            <p:cNvCxnSpPr/>
            <p:nvPr/>
          </p:nvCxnSpPr>
          <p:spPr>
            <a:xfrm>
              <a:off x="14668500" y="4965700"/>
              <a:ext cx="0" cy="330200"/>
            </a:xfrm>
            <a:prstGeom prst="line">
              <a:avLst/>
            </a:prstGeom>
            <a:ln w="19050">
              <a:solidFill>
                <a:srgbClr val="06264A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Optimization Loop Return">
              <a:extLst>
                <a:ext uri="{FF2B5EF4-FFF2-40B4-BE49-F238E27FC236}">
                  <a16:creationId xmlns:a16="http://schemas.microsoft.com/office/drawing/2014/main" id="{AF54A469-6CEF-4A29-8C34-80B0D8911C79}"/>
                </a:ext>
              </a:extLst>
            </p:cNvPr>
            <p:cNvCxnSpPr/>
            <p:nvPr/>
          </p:nvCxnSpPr>
          <p:spPr>
            <a:xfrm flipH="1">
              <a:off x="5651500" y="5295900"/>
              <a:ext cx="9017000" cy="0"/>
            </a:xfrm>
            <a:prstGeom prst="line">
              <a:avLst/>
            </a:prstGeom>
            <a:ln w="19050">
              <a:solidFill>
                <a:srgbClr val="06264A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Optimization Loop Up">
              <a:extLst>
                <a:ext uri="{FF2B5EF4-FFF2-40B4-BE49-F238E27FC236}">
                  <a16:creationId xmlns:a16="http://schemas.microsoft.com/office/drawing/2014/main" id="{7F46CE3E-8241-475E-A185-7A2CE63ABFB4}"/>
                </a:ext>
              </a:extLst>
            </p:cNvPr>
            <p:cNvCxnSpPr/>
            <p:nvPr/>
          </p:nvCxnSpPr>
          <p:spPr>
            <a:xfrm flipV="1">
              <a:off x="5651500" y="4978400"/>
              <a:ext cx="0" cy="317500"/>
            </a:xfrm>
            <a:prstGeom prst="line">
              <a:avLst/>
            </a:prstGeom>
            <a:ln w="1905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9" name="Solution Caption">
            <a:extLst>
              <a:ext uri="{FF2B5EF4-FFF2-40B4-BE49-F238E27FC236}">
                <a16:creationId xmlns:a16="http://schemas.microsoft.com/office/drawing/2014/main" id="{2D983593-56BC-4FF5-9D1F-567797E84BD9}"/>
              </a:ext>
            </a:extLst>
          </p:cNvPr>
          <p:cNvSpPr txBox="1"/>
          <p:nvPr/>
        </p:nvSpPr>
        <p:spPr>
          <a:xfrm>
            <a:off x="3342850" y="4276175"/>
            <a:ext cx="8663222" cy="211528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20" i="1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Dedicated HAR Analyzer device profiles and app-specific rules enable scalable, repeatable validation for mobile analytics implementations. App-specific rules reduce false positives by validating mobile SDK payloads separately from web tags.</a:t>
            </a:r>
            <a:endParaRPr kumimoji="0" lang="en-IN" sz="920" i="1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6" name="Benefit Card 1">
            <a:extLst>
              <a:ext uri="{FF2B5EF4-FFF2-40B4-BE49-F238E27FC236}">
                <a16:creationId xmlns:a16="http://schemas.microsoft.com/office/drawing/2014/main" id="{A4AEE9E7-F637-40E9-905E-5E957F81F776}"/>
              </a:ext>
            </a:extLst>
          </p:cNvPr>
          <p:cNvSpPr/>
          <p:nvPr/>
        </p:nvSpPr>
        <p:spPr>
          <a:xfrm>
            <a:off x="3853245" y="5033077"/>
            <a:ext cx="2373483" cy="1249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2" name="Benefit Card 2">
            <a:extLst>
              <a:ext uri="{FF2B5EF4-FFF2-40B4-BE49-F238E27FC236}">
                <a16:creationId xmlns:a16="http://schemas.microsoft.com/office/drawing/2014/main" id="{EE1B028A-638B-4D61-A8C1-002ED3777874}"/>
              </a:ext>
            </a:extLst>
          </p:cNvPr>
          <p:cNvSpPr/>
          <p:nvPr/>
        </p:nvSpPr>
        <p:spPr>
          <a:xfrm>
            <a:off x="6299836" y="5033077"/>
            <a:ext cx="2629973" cy="1249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8" name="Benefit Card 3">
            <a:extLst>
              <a:ext uri="{FF2B5EF4-FFF2-40B4-BE49-F238E27FC236}">
                <a16:creationId xmlns:a16="http://schemas.microsoft.com/office/drawing/2014/main" id="{19642EBC-FDC8-49DB-8B00-D262E1362B7C}"/>
              </a:ext>
            </a:extLst>
          </p:cNvPr>
          <p:cNvSpPr/>
          <p:nvPr/>
        </p:nvSpPr>
        <p:spPr>
          <a:xfrm>
            <a:off x="8963675" y="5033374"/>
            <a:ext cx="2285142" cy="1249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Icon - gear">
            <a:extLst>
              <a:ext uri="{FF2B5EF4-FFF2-40B4-BE49-F238E27FC236}">
                <a16:creationId xmlns:a16="http://schemas.microsoft.com/office/drawing/2014/main" id="{F1EE7D0B-A2B9-D249-39D2-28A1BBC3E5B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49328" y="1901691"/>
            <a:ext cx="368300" cy="368300"/>
          </a:xfrm>
          <a:prstGeom prst="rect">
            <a:avLst/>
          </a:prstGeom>
        </p:spPr>
      </p:pic>
      <p:pic>
        <p:nvPicPr>
          <p:cNvPr id="13" name="Icon - browser_code">
            <a:extLst>
              <a:ext uri="{FF2B5EF4-FFF2-40B4-BE49-F238E27FC236}">
                <a16:creationId xmlns:a16="http://schemas.microsoft.com/office/drawing/2014/main" id="{62933E44-2E07-7B96-7D52-A6F753CA5FB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1167" y="1901691"/>
            <a:ext cx="368300" cy="368300"/>
          </a:xfrm>
          <a:prstGeom prst="rect">
            <a:avLst/>
          </a:prstGeom>
        </p:spPr>
      </p:pic>
      <p:pic>
        <p:nvPicPr>
          <p:cNvPr id="16" name="Icon - checklist">
            <a:extLst>
              <a:ext uri="{FF2B5EF4-FFF2-40B4-BE49-F238E27FC236}">
                <a16:creationId xmlns:a16="http://schemas.microsoft.com/office/drawing/2014/main" id="{B2ADBFEE-558E-42FE-A9D5-1B936FC986B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3005" y="1901691"/>
            <a:ext cx="368300" cy="368300"/>
          </a:xfrm>
          <a:prstGeom prst="rect">
            <a:avLst/>
          </a:prstGeom>
        </p:spPr>
      </p:pic>
      <p:pic>
        <p:nvPicPr>
          <p:cNvPr id="20" name="Icon - bar_chart">
            <a:extLst>
              <a:ext uri="{FF2B5EF4-FFF2-40B4-BE49-F238E27FC236}">
                <a16:creationId xmlns:a16="http://schemas.microsoft.com/office/drawing/2014/main" id="{CD9C2F96-659C-F028-1D9E-64AC54758C4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6681" y="1901691"/>
            <a:ext cx="368300" cy="368300"/>
          </a:xfrm>
          <a:prstGeom prst="rect">
            <a:avLst/>
          </a:prstGeom>
        </p:spPr>
      </p:pic>
      <p:pic>
        <p:nvPicPr>
          <p:cNvPr id="23" name="Icon - refresh">
            <a:extLst>
              <a:ext uri="{FF2B5EF4-FFF2-40B4-BE49-F238E27FC236}">
                <a16:creationId xmlns:a16="http://schemas.microsoft.com/office/drawing/2014/main" id="{CD85862B-F81F-67AE-C068-01D2E062554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8521" y="1901691"/>
            <a:ext cx="368300" cy="368300"/>
          </a:xfrm>
          <a:prstGeom prst="rect">
            <a:avLst/>
          </a:prstGeom>
        </p:spPr>
      </p:pic>
      <p:sp>
        <p:nvSpPr>
          <p:cNvPr id="27" name="Benefit Icon Circle - target">
            <a:extLst>
              <a:ext uri="{FF2B5EF4-FFF2-40B4-BE49-F238E27FC236}">
                <a16:creationId xmlns:a16="http://schemas.microsoft.com/office/drawing/2014/main" id="{E4BC9F3F-CF4B-6778-BF16-D986E08CBD3E}"/>
              </a:ext>
            </a:extLst>
          </p:cNvPr>
          <p:cNvSpPr/>
          <p:nvPr/>
        </p:nvSpPr>
        <p:spPr>
          <a:xfrm>
            <a:off x="6540500" y="5308600"/>
            <a:ext cx="609600" cy="609600"/>
          </a:xfrm>
          <a:prstGeom prst="ellipse">
            <a:avLst/>
          </a:prstGeom>
          <a:solidFill>
            <a:srgbClr val="EE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Benefit Icon Circle - file_check">
            <a:extLst>
              <a:ext uri="{FF2B5EF4-FFF2-40B4-BE49-F238E27FC236}">
                <a16:creationId xmlns:a16="http://schemas.microsoft.com/office/drawing/2014/main" id="{AC73FA5C-13B0-6A1D-C420-FAA451A0FF49}"/>
              </a:ext>
            </a:extLst>
          </p:cNvPr>
          <p:cNvSpPr/>
          <p:nvPr/>
        </p:nvSpPr>
        <p:spPr>
          <a:xfrm>
            <a:off x="9194800" y="5308600"/>
            <a:ext cx="609600" cy="609600"/>
          </a:xfrm>
          <a:prstGeom prst="ellipse">
            <a:avLst/>
          </a:prstGeom>
          <a:solidFill>
            <a:srgbClr val="EE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8" name="Optimization Loop Label">
            <a:extLst>
              <a:ext uri="{FF2B5EF4-FFF2-40B4-BE49-F238E27FC236}">
                <a16:creationId xmlns:a16="http://schemas.microsoft.com/office/drawing/2014/main" id="{4F9D16D0-FD70-469D-B318-AE4CFE26E4F1}"/>
              </a:ext>
            </a:extLst>
          </p:cNvPr>
          <p:cNvSpPr txBox="1"/>
          <p:nvPr/>
        </p:nvSpPr>
        <p:spPr>
          <a:xfrm>
            <a:off x="5379720" y="3886200"/>
            <a:ext cx="4419600" cy="209550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Automated app analytics validation across every release cycle</a:t>
            </a:r>
            <a:endParaRPr kumimoji="0" lang="en-IN" sz="1020" b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Benefit Icon Circle - shield_check">
            <a:extLst>
              <a:ext uri="{FF2B5EF4-FFF2-40B4-BE49-F238E27FC236}">
                <a16:creationId xmlns:a16="http://schemas.microsoft.com/office/drawing/2014/main" id="{9496E749-454E-2696-B25B-7F2A5DE2121D}"/>
              </a:ext>
            </a:extLst>
          </p:cNvPr>
          <p:cNvSpPr/>
          <p:nvPr/>
        </p:nvSpPr>
        <p:spPr>
          <a:xfrm>
            <a:off x="4076700" y="5308600"/>
            <a:ext cx="609600" cy="609600"/>
          </a:xfrm>
          <a:prstGeom prst="ellipse">
            <a:avLst/>
          </a:prstGeom>
          <a:solidFill>
            <a:srgbClr val="EE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Icon - shield_check">
            <a:extLst>
              <a:ext uri="{FF2B5EF4-FFF2-40B4-BE49-F238E27FC236}">
                <a16:creationId xmlns:a16="http://schemas.microsoft.com/office/drawing/2014/main" id="{D536E78D-D72A-A030-1B94-92C688BE9EC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71950" y="5403850"/>
            <a:ext cx="419100" cy="419100"/>
          </a:xfrm>
          <a:prstGeom prst="rect">
            <a:avLst/>
          </a:prstGeom>
        </p:spPr>
      </p:pic>
      <p:pic>
        <p:nvPicPr>
          <p:cNvPr id="32" name="Icon - file_check">
            <a:extLst>
              <a:ext uri="{FF2B5EF4-FFF2-40B4-BE49-F238E27FC236}">
                <a16:creationId xmlns:a16="http://schemas.microsoft.com/office/drawing/2014/main" id="{5D4A430D-B36D-1FA3-9412-A0CB7AFE878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0050" y="5403850"/>
            <a:ext cx="419100" cy="419100"/>
          </a:xfrm>
          <a:prstGeom prst="rect">
            <a:avLst/>
          </a:prstGeom>
        </p:spPr>
      </p:pic>
      <p:pic>
        <p:nvPicPr>
          <p:cNvPr id="29" name="Icon - target">
            <a:extLst>
              <a:ext uri="{FF2B5EF4-FFF2-40B4-BE49-F238E27FC236}">
                <a16:creationId xmlns:a16="http://schemas.microsoft.com/office/drawing/2014/main" id="{9AE55F0E-2EB0-2933-F6C7-8DEBA5FC89E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35750" y="5403850"/>
            <a:ext cx="419100" cy="419100"/>
          </a:xfrm>
          <a:prstGeom prst="rect">
            <a:avLst/>
          </a:prstGeom>
        </p:spPr>
      </p:pic>
      <p:pic>
        <p:nvPicPr>
          <p:cNvPr id="18" name="Icon - shield_check">
            <a:extLst>
              <a:ext uri="{FF2B5EF4-FFF2-40B4-BE49-F238E27FC236}">
                <a16:creationId xmlns:a16="http://schemas.microsoft.com/office/drawing/2014/main" id="{C9D61EBD-5157-E632-7D33-17164E7F0F5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14843" y="1901691"/>
            <a:ext cx="368300" cy="368300"/>
          </a:xfrm>
          <a:prstGeom prst="rect">
            <a:avLst/>
          </a:prstGeom>
        </p:spPr>
      </p:pic>
      <p:sp>
        <p:nvSpPr>
          <p:cNvPr id="239" name="Benefit Metric 1">
            <a:extLst>
              <a:ext uri="{FF2B5EF4-FFF2-40B4-BE49-F238E27FC236}">
                <a16:creationId xmlns:a16="http://schemas.microsoft.com/office/drawing/2014/main" id="{0D5D0982-65E2-463C-A217-9C29D677C452}"/>
              </a:ext>
            </a:extLst>
          </p:cNvPr>
          <p:cNvSpPr txBox="1"/>
          <p:nvPr/>
        </p:nvSpPr>
        <p:spPr>
          <a:xfrm>
            <a:off x="4724400" y="5168900"/>
            <a:ext cx="1371600" cy="431800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20" b="1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Consistent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20" b="1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App Validation</a:t>
            </a:r>
          </a:p>
        </p:txBody>
      </p:sp>
      <p:sp>
        <p:nvSpPr>
          <p:cNvPr id="245" name="Benefit Metric 2">
            <a:extLst>
              <a:ext uri="{FF2B5EF4-FFF2-40B4-BE49-F238E27FC236}">
                <a16:creationId xmlns:a16="http://schemas.microsoft.com/office/drawing/2014/main" id="{83BC6B32-44D8-4938-8E15-54D77BB16BDC}"/>
              </a:ext>
            </a:extLst>
          </p:cNvPr>
          <p:cNvSpPr txBox="1"/>
          <p:nvPr/>
        </p:nvSpPr>
        <p:spPr>
          <a:xfrm>
            <a:off x="7289800" y="5168900"/>
            <a:ext cx="1473200" cy="431800"/>
          </a:xfrm>
          <a:prstGeom prst="rect">
            <a:avLst/>
          </a:prstGeom>
          <a:noFill/>
          <a:ln>
            <a:noFill/>
          </a:ln>
        </p:spPr>
        <p:txBody>
          <a:bodyPr vert="horz" wrap="square" lIns="63500" tIns="38100" rIns="63500" bIns="3810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20" b="1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Dedicated App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20" b="1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Rule Coverage</a:t>
            </a:r>
          </a:p>
        </p:txBody>
      </p:sp>
      <p:sp>
        <p:nvSpPr>
          <p:cNvPr id="251" name="Benefit Metric 3">
            <a:extLst>
              <a:ext uri="{FF2B5EF4-FFF2-40B4-BE49-F238E27FC236}">
                <a16:creationId xmlns:a16="http://schemas.microsoft.com/office/drawing/2014/main" id="{EEA5A933-E2B6-47F7-BA50-6E4974832930}"/>
              </a:ext>
            </a:extLst>
          </p:cNvPr>
          <p:cNvSpPr txBox="1"/>
          <p:nvPr/>
        </p:nvSpPr>
        <p:spPr>
          <a:xfrm>
            <a:off x="9931400" y="5168900"/>
            <a:ext cx="1219200" cy="431800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Release-Ready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Reporting</a:t>
            </a:r>
            <a:endParaRPr kumimoji="0" lang="en-IN" sz="1100" b="1" u="none" strike="noStrike" kern="1200" cap="none" spc="0" normalizeH="0" baseline="0" noProof="0" dirty="0">
              <a:ln>
                <a:noFill/>
              </a:ln>
              <a:solidFill>
                <a:srgbClr val="0B0E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04CFAD-5B46-4E10-85E4-272867250FF3}"/>
              </a:ext>
            </a:extLst>
          </p:cNvPr>
          <p:cNvSpPr txBox="1"/>
          <p:nvPr/>
        </p:nvSpPr>
        <p:spPr>
          <a:xfrm>
            <a:off x="4711869" y="5629508"/>
            <a:ext cx="1480186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Reduces dependency on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manual proxy log inspection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across app flows</a:t>
            </a:r>
            <a:endParaRPr kumimoji="0" lang="en-IN" sz="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E604F00-9B0F-4C7C-A279-C53C6C5C46BA}"/>
              </a:ext>
            </a:extLst>
          </p:cNvPr>
          <p:cNvSpPr txBox="1"/>
          <p:nvPr/>
        </p:nvSpPr>
        <p:spPr>
          <a:xfrm>
            <a:off x="7285975" y="5629508"/>
            <a:ext cx="1498600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App-specific validations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reduce false positives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from reused web rules</a:t>
            </a:r>
            <a:endParaRPr kumimoji="0" lang="en-IN" sz="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FBFFEBA-7D6D-4331-AE06-A2D0AEF13411}"/>
              </a:ext>
            </a:extLst>
          </p:cNvPr>
          <p:cNvSpPr txBox="1"/>
          <p:nvPr/>
        </p:nvSpPr>
        <p:spPr>
          <a:xfrm>
            <a:off x="9921334" y="5623097"/>
            <a:ext cx="1244600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Provides structured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pass/fail evidence for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analytics sign-off</a:t>
            </a:r>
            <a:endParaRPr kumimoji="0" lang="en-IN" sz="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614588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801392-319D-44E9-B4F2-59D5EE0E48B4}"/>
              </a:ext>
            </a:extLst>
          </p:cNvPr>
          <p:cNvSpPr/>
          <p:nvPr/>
        </p:nvSpPr>
        <p:spPr>
          <a:xfrm>
            <a:off x="3354672" y="913772"/>
            <a:ext cx="8658567" cy="359461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77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9C331C-CC1E-4325-8026-EE0129F78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C98B77-332E-004E-BD2A-A6DBBD4442FD}" type="slidenum">
              <a:rPr kumimoji="0" lang="sv-S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sv-S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EB1CF-8656-4969-A45E-64364A31DC03}"/>
              </a:ext>
            </a:extLst>
          </p:cNvPr>
          <p:cNvSpPr/>
          <p:nvPr/>
        </p:nvSpPr>
        <p:spPr>
          <a:xfrm>
            <a:off x="382093" y="914400"/>
            <a:ext cx="2807491" cy="55881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D0393-ECDD-4C4C-8754-EC549620B290}"/>
              </a:ext>
            </a:extLst>
          </p:cNvPr>
          <p:cNvSpPr txBox="1"/>
          <p:nvPr/>
        </p:nvSpPr>
        <p:spPr>
          <a:xfrm>
            <a:off x="417240" y="1037401"/>
            <a:ext cx="268888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3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Business Context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2C35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A8843-6FDF-413C-B81D-1E05DA449E1D}"/>
              </a:ext>
            </a:extLst>
          </p:cNvPr>
          <p:cNvSpPr txBox="1"/>
          <p:nvPr/>
        </p:nvSpPr>
        <p:spPr>
          <a:xfrm>
            <a:off x="382093" y="3333722"/>
            <a:ext cx="268888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3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Business Challenges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2C35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34854-D71F-4D82-A796-7D8990EAC131}"/>
              </a:ext>
            </a:extLst>
          </p:cNvPr>
          <p:cNvSpPr txBox="1"/>
          <p:nvPr/>
        </p:nvSpPr>
        <p:spPr>
          <a:xfrm>
            <a:off x="373557" y="1392836"/>
            <a:ext cx="2807088" cy="1858667"/>
          </a:xfrm>
          <a:prstGeom prst="rect">
            <a:avLst/>
          </a:prstGeom>
          <a:noFill/>
        </p:spPr>
        <p:txBody>
          <a:bodyPr wrap="square" lIns="71994" tIns="0" rIns="71994" bIns="0" rtlCol="0">
            <a:noAutofit/>
          </a:bodyPr>
          <a:lstStyle/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8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 digital client uses ObservePoint Audits and Journeys to validate website privacy, cookie, and tag governance across key web experiences.</a:t>
            </a:r>
          </a:p>
          <a:p>
            <a:pPr marR="0" lvl="0" defTabSz="914400" rtl="0" eaLnBrk="1" fontAlgn="auto" latinLnBrk="0" hangingPunct="1">
              <a:buClrTx/>
              <a:buSzTx/>
              <a:tabLst/>
              <a:defRPr/>
            </a:pPr>
            <a:endParaRPr kumimoji="0" lang="en-US" sz="98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8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Standard Audits provide strong coverage for configured pages, but interaction-driven funnel pages such as checkout, login, booking, and confirmation flows may remain outside the crawler's automatic scan scope.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E7D527-9F89-40C3-8562-49284B4B8465}"/>
              </a:ext>
            </a:extLst>
          </p:cNvPr>
          <p:cNvSpPr txBox="1"/>
          <p:nvPr/>
        </p:nvSpPr>
        <p:spPr>
          <a:xfrm>
            <a:off x="367337" y="3754495"/>
            <a:ext cx="2834069" cy="2519925"/>
          </a:xfrm>
          <a:prstGeom prst="rect">
            <a:avLst/>
          </a:prstGeom>
          <a:noFill/>
        </p:spPr>
        <p:txBody>
          <a:bodyPr wrap="square" lIns="71994" tIns="0" rIns="71994" bIns="0" rtlCol="0">
            <a:noAutofit/>
          </a:bodyPr>
          <a:lstStyle/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9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Standard ObservePoint Audits scan configured or starting URLs, but may not automatically reach multi-step user journey pages.</a:t>
            </a:r>
          </a:p>
          <a:p>
            <a:pPr marR="0" lvl="0" defTabSz="914400" rtl="0" eaLnBrk="1" fontAlgn="auto" latinLnBrk="0" hangingPunct="1">
              <a:buClrTx/>
              <a:buSzTx/>
              <a:tabLst/>
              <a:defRPr/>
            </a:pPr>
            <a:endParaRPr kumimoji="0" lang="en-US" sz="89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9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Pages reached only after user interactions, such as form fills, button clicks, modal flows, or checkout steps, can remain invisible unless explicitly added.</a:t>
            </a:r>
          </a:p>
          <a:p>
            <a:pPr marR="0" lvl="0" defTabSz="914400" rtl="0" eaLnBrk="1" fontAlgn="auto" latinLnBrk="0" hangingPunct="1">
              <a:buClrTx/>
              <a:buSzTx/>
              <a:tabLst/>
              <a:defRPr/>
            </a:pPr>
            <a:endParaRPr kumimoji="0" lang="en-US" sz="89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9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ObservePoint Journeys can validate step-by-step conversion paths, but journey-based unapproved cookie/tag alerts are not directly supported by default.</a:t>
            </a:r>
          </a:p>
          <a:p>
            <a:pPr marR="0" lvl="0" defTabSz="914400" rtl="0" eaLnBrk="1" fontAlgn="auto" latinLnBrk="0" hangingPunct="1">
              <a:buClrTx/>
              <a:buSzTx/>
              <a:tabLst/>
              <a:defRPr/>
            </a:pPr>
            <a:endParaRPr kumimoji="0" lang="en-US" sz="89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9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This creates a coverage gap where static pages are governed, but interaction-driven funnel pages may miss privacy and cookie compliance checks.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08256F-1D41-410F-BAD4-A88694BEEC2E}"/>
              </a:ext>
            </a:extLst>
          </p:cNvPr>
          <p:cNvSpPr txBox="1"/>
          <p:nvPr/>
        </p:nvSpPr>
        <p:spPr>
          <a:xfrm>
            <a:off x="3567837" y="956914"/>
            <a:ext cx="3314249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eClerx Recommended Solution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2C35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FD2BFC-4B86-4160-99A6-A5AC3EF8F3FF}"/>
              </a:ext>
            </a:extLst>
          </p:cNvPr>
          <p:cNvSpPr/>
          <p:nvPr/>
        </p:nvSpPr>
        <p:spPr>
          <a:xfrm>
            <a:off x="9352994" y="5431974"/>
            <a:ext cx="2263758" cy="1047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" name="Title 6">
            <a:extLst>
              <a:ext uri="{FF2B5EF4-FFF2-40B4-BE49-F238E27FC236}">
                <a16:creationId xmlns:a16="http://schemas.microsoft.com/office/drawing/2014/main" id="{43BE8344-E263-45D7-AE84-8D5505EB2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86" y="303066"/>
            <a:ext cx="11873140" cy="468193"/>
          </a:xfrm>
        </p:spPr>
        <p:txBody>
          <a:bodyPr vert="horz" wrap="square">
            <a:noAutofit/>
          </a:bodyPr>
          <a:lstStyle/>
          <a:p>
            <a:r>
              <a:rPr lang="en-US" sz="2400" dirty="0">
                <a:solidFill>
                  <a:srgbClr val="2C35DE"/>
                </a:solidFill>
              </a:rPr>
              <a:t>Case Study - ObservePoint Web Coverage Blindspot Remediation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FC88D19-5F54-4C5A-8F19-129CF2532F2C}"/>
              </a:ext>
            </a:extLst>
          </p:cNvPr>
          <p:cNvSpPr/>
          <p:nvPr/>
        </p:nvSpPr>
        <p:spPr>
          <a:xfrm>
            <a:off x="3347504" y="4577940"/>
            <a:ext cx="8658568" cy="19246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8CE407F-05AC-4E8F-90C0-58910B4A838A}"/>
              </a:ext>
            </a:extLst>
          </p:cNvPr>
          <p:cNvSpPr txBox="1"/>
          <p:nvPr/>
        </p:nvSpPr>
        <p:spPr>
          <a:xfrm>
            <a:off x="3355376" y="4561609"/>
            <a:ext cx="268888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3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Business Benefits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2C35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7" name="Optimization Loop Label Backing">
            <a:extLst>
              <a:ext uri="{FF2B5EF4-FFF2-40B4-BE49-F238E27FC236}">
                <a16:creationId xmlns:a16="http://schemas.microsoft.com/office/drawing/2014/main" id="{C1636681-20E7-4695-BA3A-ACD873196FD0}"/>
              </a:ext>
            </a:extLst>
          </p:cNvPr>
          <p:cNvSpPr/>
          <p:nvPr/>
        </p:nvSpPr>
        <p:spPr>
          <a:xfrm>
            <a:off x="4978399" y="3867150"/>
            <a:ext cx="5537200" cy="260350"/>
          </a:xfrm>
          <a:prstGeom prst="rect">
            <a:avLst/>
          </a:prstGeom>
          <a:solidFill>
            <a:srgbClr val="06264A"/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110BABF-E4F3-49AD-9CB7-13E726A576AD}"/>
              </a:ext>
            </a:extLst>
          </p:cNvPr>
          <p:cNvGrpSpPr/>
          <p:nvPr/>
        </p:nvGrpSpPr>
        <p:grpSpPr>
          <a:xfrm>
            <a:off x="3402662" y="1368935"/>
            <a:ext cx="8370824" cy="2628727"/>
            <a:chOff x="4851400" y="1739900"/>
            <a:chExt cx="10617200" cy="3632295"/>
          </a:xfrm>
        </p:grpSpPr>
        <p:sp>
          <p:nvSpPr>
            <p:cNvPr id="105" name="Flow Card 1">
              <a:extLst>
                <a:ext uri="{FF2B5EF4-FFF2-40B4-BE49-F238E27FC236}">
                  <a16:creationId xmlns:a16="http://schemas.microsoft.com/office/drawing/2014/main" id="{3439280F-828F-455C-8286-FA8625AD87DE}"/>
                </a:ext>
              </a:extLst>
            </p:cNvPr>
            <p:cNvSpPr/>
            <p:nvPr/>
          </p:nvSpPr>
          <p:spPr>
            <a:xfrm>
              <a:off x="48514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6" name="Flow Badge 1">
              <a:extLst>
                <a:ext uri="{FF2B5EF4-FFF2-40B4-BE49-F238E27FC236}">
                  <a16:creationId xmlns:a16="http://schemas.microsoft.com/office/drawing/2014/main" id="{146B46AC-A39C-43C6-8AF0-D72C2E98B8CD}"/>
                </a:ext>
              </a:extLst>
            </p:cNvPr>
            <p:cNvSpPr/>
            <p:nvPr/>
          </p:nvSpPr>
          <p:spPr>
            <a:xfrm>
              <a:off x="54737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1" name="Flow Badge Text 1">
              <a:extLst>
                <a:ext uri="{FF2B5EF4-FFF2-40B4-BE49-F238E27FC236}">
                  <a16:creationId xmlns:a16="http://schemas.microsoft.com/office/drawing/2014/main" id="{F857A09D-2126-4199-82C8-57E095EF6630}"/>
                </a:ext>
              </a:extLst>
            </p:cNvPr>
            <p:cNvSpPr txBox="1"/>
            <p:nvPr/>
          </p:nvSpPr>
          <p:spPr>
            <a:xfrm>
              <a:off x="5473699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2" name="Flow Icon Circle 1">
              <a:extLst>
                <a:ext uri="{FF2B5EF4-FFF2-40B4-BE49-F238E27FC236}">
                  <a16:creationId xmlns:a16="http://schemas.microsoft.com/office/drawing/2014/main" id="{B51D2572-C480-4A2A-8EEF-F03C02E6956C}"/>
                </a:ext>
              </a:extLst>
            </p:cNvPr>
            <p:cNvSpPr/>
            <p:nvPr/>
          </p:nvSpPr>
          <p:spPr>
            <a:xfrm>
              <a:off x="52705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1" name="Flow Title 1">
              <a:extLst>
                <a:ext uri="{FF2B5EF4-FFF2-40B4-BE49-F238E27FC236}">
                  <a16:creationId xmlns:a16="http://schemas.microsoft.com/office/drawing/2014/main" id="{A50DAF96-5CF3-41E1-BB40-C102E66A01EE}"/>
                </a:ext>
              </a:extLst>
            </p:cNvPr>
            <p:cNvSpPr txBox="1"/>
            <p:nvPr/>
          </p:nvSpPr>
          <p:spPr>
            <a:xfrm>
              <a:off x="4953001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2C35D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Identify</a:t>
              </a:r>
              <a:endParaRPr kumimoji="0" lang="en-IN" sz="1300" b="1" u="none" strike="noStrike" kern="1200" cap="none" spc="0" normalizeH="0" baseline="0" noProof="0" dirty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3" name="Flow Body 1">
              <a:extLst>
                <a:ext uri="{FF2B5EF4-FFF2-40B4-BE49-F238E27FC236}">
                  <a16:creationId xmlns:a16="http://schemas.microsoft.com/office/drawing/2014/main" id="{2786180A-BB7C-4853-AA8D-227CA5418F84}"/>
                </a:ext>
              </a:extLst>
            </p:cNvPr>
            <p:cNvSpPr txBox="1"/>
            <p:nvPr/>
          </p:nvSpPr>
          <p:spPr>
            <a:xfrm>
              <a:off x="4965699" y="3600211"/>
              <a:ext cx="1371600" cy="1771984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Map critical user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journey pages such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as checkout, login,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booking, and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confirmation flows</a:t>
              </a:r>
              <a:endParaRPr kumimoji="0" lang="en-IN" sz="860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24" name="Flow Arrow 1">
              <a:extLst>
                <a:ext uri="{FF2B5EF4-FFF2-40B4-BE49-F238E27FC236}">
                  <a16:creationId xmlns:a16="http://schemas.microsoft.com/office/drawing/2014/main" id="{138B586C-2D7F-451D-95B0-D1A6DD4F6306}"/>
                </a:ext>
              </a:extLst>
            </p:cNvPr>
            <p:cNvCxnSpPr/>
            <p:nvPr/>
          </p:nvCxnSpPr>
          <p:spPr>
            <a:xfrm>
              <a:off x="64770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Flow Card 2">
              <a:extLst>
                <a:ext uri="{FF2B5EF4-FFF2-40B4-BE49-F238E27FC236}">
                  <a16:creationId xmlns:a16="http://schemas.microsoft.com/office/drawing/2014/main" id="{E73761A6-BBEF-4716-9098-62C47272B2AE}"/>
                </a:ext>
              </a:extLst>
            </p:cNvPr>
            <p:cNvSpPr/>
            <p:nvPr/>
          </p:nvSpPr>
          <p:spPr>
            <a:xfrm>
              <a:off x="66548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9" name="Flow Badge 2">
              <a:extLst>
                <a:ext uri="{FF2B5EF4-FFF2-40B4-BE49-F238E27FC236}">
                  <a16:creationId xmlns:a16="http://schemas.microsoft.com/office/drawing/2014/main" id="{C9D6FD7B-7E87-4F9E-8252-59A0C6ECBDBB}"/>
                </a:ext>
              </a:extLst>
            </p:cNvPr>
            <p:cNvSpPr/>
            <p:nvPr/>
          </p:nvSpPr>
          <p:spPr>
            <a:xfrm>
              <a:off x="72771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1" name="Flow Badge Text 2">
              <a:extLst>
                <a:ext uri="{FF2B5EF4-FFF2-40B4-BE49-F238E27FC236}">
                  <a16:creationId xmlns:a16="http://schemas.microsoft.com/office/drawing/2014/main" id="{8EB40419-A781-4B59-9F1C-4388FEDE5E91}"/>
                </a:ext>
              </a:extLst>
            </p:cNvPr>
            <p:cNvSpPr txBox="1"/>
            <p:nvPr/>
          </p:nvSpPr>
          <p:spPr>
            <a:xfrm>
              <a:off x="7277100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</a:t>
              </a:r>
              <a:endParaRPr kumimoji="0" lang="en-IN" sz="1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2" name="Flow Icon Circle 2">
              <a:extLst>
                <a:ext uri="{FF2B5EF4-FFF2-40B4-BE49-F238E27FC236}">
                  <a16:creationId xmlns:a16="http://schemas.microsoft.com/office/drawing/2014/main" id="{67E149F4-C8F2-4878-9838-61FF66BB684F}"/>
                </a:ext>
              </a:extLst>
            </p:cNvPr>
            <p:cNvSpPr/>
            <p:nvPr/>
          </p:nvSpPr>
          <p:spPr>
            <a:xfrm>
              <a:off x="70739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56" name="Flow Title 2">
              <a:extLst>
                <a:ext uri="{FF2B5EF4-FFF2-40B4-BE49-F238E27FC236}">
                  <a16:creationId xmlns:a16="http://schemas.microsoft.com/office/drawing/2014/main" id="{2016BDCA-CC04-4A05-BB4E-5EB239103132}"/>
                </a:ext>
              </a:extLst>
            </p:cNvPr>
            <p:cNvSpPr txBox="1"/>
            <p:nvPr/>
          </p:nvSpPr>
          <p:spPr>
            <a:xfrm>
              <a:off x="67564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2C35D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Add URLs</a:t>
              </a:r>
              <a:endParaRPr kumimoji="0" lang="en-IN" sz="1300" b="1" u="none" strike="noStrike" kern="1200" cap="none" spc="0" normalizeH="0" baseline="0" noProof="0" dirty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0" name="Flow Body 2">
              <a:extLst>
                <a:ext uri="{FF2B5EF4-FFF2-40B4-BE49-F238E27FC236}">
                  <a16:creationId xmlns:a16="http://schemas.microsoft.com/office/drawing/2014/main" id="{1AFBEC8F-A65E-4892-95B8-77A6EEAEA556}"/>
                </a:ext>
              </a:extLst>
            </p:cNvPr>
            <p:cNvSpPr txBox="1"/>
            <p:nvPr/>
          </p:nvSpPr>
          <p:spPr>
            <a:xfrm>
              <a:off x="6769100" y="3600211"/>
              <a:ext cx="1371600" cy="1346709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Include journey page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URLs as explicit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Starting URLs in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ObservePoint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Audits</a:t>
              </a:r>
              <a:endParaRPr kumimoji="0" lang="en-IN" sz="860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65" name="Flow Arrow 2">
              <a:extLst>
                <a:ext uri="{FF2B5EF4-FFF2-40B4-BE49-F238E27FC236}">
                  <a16:creationId xmlns:a16="http://schemas.microsoft.com/office/drawing/2014/main" id="{A1D56DA8-AFF9-41F6-BB3E-6D0B28AF1052}"/>
                </a:ext>
              </a:extLst>
            </p:cNvPr>
            <p:cNvCxnSpPr/>
            <p:nvPr/>
          </p:nvCxnSpPr>
          <p:spPr>
            <a:xfrm>
              <a:off x="82804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Flow Card 3">
              <a:extLst>
                <a:ext uri="{FF2B5EF4-FFF2-40B4-BE49-F238E27FC236}">
                  <a16:creationId xmlns:a16="http://schemas.microsoft.com/office/drawing/2014/main" id="{1261DD49-AD45-4200-87EA-490B9F95E4ED}"/>
                </a:ext>
              </a:extLst>
            </p:cNvPr>
            <p:cNvSpPr/>
            <p:nvPr/>
          </p:nvSpPr>
          <p:spPr>
            <a:xfrm>
              <a:off x="84582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4" name="Flow Badge 3">
              <a:extLst>
                <a:ext uri="{FF2B5EF4-FFF2-40B4-BE49-F238E27FC236}">
                  <a16:creationId xmlns:a16="http://schemas.microsoft.com/office/drawing/2014/main" id="{2E259E15-A164-4302-B7DA-5C4CCB0D0508}"/>
                </a:ext>
              </a:extLst>
            </p:cNvPr>
            <p:cNvSpPr/>
            <p:nvPr/>
          </p:nvSpPr>
          <p:spPr>
            <a:xfrm>
              <a:off x="90805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5" name="Flow Badge Text 3">
              <a:extLst>
                <a:ext uri="{FF2B5EF4-FFF2-40B4-BE49-F238E27FC236}">
                  <a16:creationId xmlns:a16="http://schemas.microsoft.com/office/drawing/2014/main" id="{ABFF859B-95B8-4E99-A66D-ECB2D193B5E4}"/>
                </a:ext>
              </a:extLst>
            </p:cNvPr>
            <p:cNvSpPr txBox="1"/>
            <p:nvPr/>
          </p:nvSpPr>
          <p:spPr>
            <a:xfrm>
              <a:off x="9080499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76" name="Flow Icon Circle 3">
              <a:extLst>
                <a:ext uri="{FF2B5EF4-FFF2-40B4-BE49-F238E27FC236}">
                  <a16:creationId xmlns:a16="http://schemas.microsoft.com/office/drawing/2014/main" id="{72809646-DF59-426F-BC9D-AB50731493C8}"/>
                </a:ext>
              </a:extLst>
            </p:cNvPr>
            <p:cNvSpPr/>
            <p:nvPr/>
          </p:nvSpPr>
          <p:spPr>
            <a:xfrm>
              <a:off x="88773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8" name="Flow Title 3">
              <a:extLst>
                <a:ext uri="{FF2B5EF4-FFF2-40B4-BE49-F238E27FC236}">
                  <a16:creationId xmlns:a16="http://schemas.microsoft.com/office/drawing/2014/main" id="{70154094-E40F-46CA-9D8E-2B06A435C48E}"/>
                </a:ext>
              </a:extLst>
            </p:cNvPr>
            <p:cNvSpPr txBox="1"/>
            <p:nvPr/>
          </p:nvSpPr>
          <p:spPr>
            <a:xfrm>
              <a:off x="85598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2C35D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Simulate</a:t>
              </a:r>
              <a:endParaRPr kumimoji="0" lang="en-IN" sz="1300" b="1" u="none" strike="noStrike" kern="1200" cap="none" spc="0" normalizeH="0" baseline="0" noProof="0" dirty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9" name="Flow Body 3">
              <a:extLst>
                <a:ext uri="{FF2B5EF4-FFF2-40B4-BE49-F238E27FC236}">
                  <a16:creationId xmlns:a16="http://schemas.microsoft.com/office/drawing/2014/main" id="{BD258850-9547-4DAD-AFA2-697221B381DA}"/>
                </a:ext>
              </a:extLst>
            </p:cNvPr>
            <p:cNvSpPr txBox="1"/>
            <p:nvPr/>
          </p:nvSpPr>
          <p:spPr>
            <a:xfrm>
              <a:off x="8572501" y="3600211"/>
              <a:ext cx="1371600" cy="1771984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1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Use Pre-Audit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1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Actions to test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1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Opt In, Opt Out, and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1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GPC consent states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1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before the audit crawl</a:t>
              </a:r>
              <a:endParaRPr kumimoji="0" lang="en-IN" sz="810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80" name="Flow Arrow 3">
              <a:extLst>
                <a:ext uri="{FF2B5EF4-FFF2-40B4-BE49-F238E27FC236}">
                  <a16:creationId xmlns:a16="http://schemas.microsoft.com/office/drawing/2014/main" id="{93133BF5-48A3-4AB9-946D-AF7FB31C7C5B}"/>
                </a:ext>
              </a:extLst>
            </p:cNvPr>
            <p:cNvCxnSpPr/>
            <p:nvPr/>
          </p:nvCxnSpPr>
          <p:spPr>
            <a:xfrm>
              <a:off x="100838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Flow Card 4">
              <a:extLst>
                <a:ext uri="{FF2B5EF4-FFF2-40B4-BE49-F238E27FC236}">
                  <a16:creationId xmlns:a16="http://schemas.microsoft.com/office/drawing/2014/main" id="{0E98FE19-70A3-429B-811D-99CF34EA625A}"/>
                </a:ext>
              </a:extLst>
            </p:cNvPr>
            <p:cNvSpPr/>
            <p:nvPr/>
          </p:nvSpPr>
          <p:spPr>
            <a:xfrm>
              <a:off x="102616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2" name="Flow Badge 4">
              <a:extLst>
                <a:ext uri="{FF2B5EF4-FFF2-40B4-BE49-F238E27FC236}">
                  <a16:creationId xmlns:a16="http://schemas.microsoft.com/office/drawing/2014/main" id="{E3E16296-C0EA-4C41-9732-49A8A3FB4A70}"/>
                </a:ext>
              </a:extLst>
            </p:cNvPr>
            <p:cNvSpPr/>
            <p:nvPr/>
          </p:nvSpPr>
          <p:spPr>
            <a:xfrm>
              <a:off x="108839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3" name="Flow Badge Text 4">
              <a:extLst>
                <a:ext uri="{FF2B5EF4-FFF2-40B4-BE49-F238E27FC236}">
                  <a16:creationId xmlns:a16="http://schemas.microsoft.com/office/drawing/2014/main" id="{E66069A7-6999-4355-BADB-ED6DAD8444BC}"/>
                </a:ext>
              </a:extLst>
            </p:cNvPr>
            <p:cNvSpPr txBox="1"/>
            <p:nvPr/>
          </p:nvSpPr>
          <p:spPr>
            <a:xfrm>
              <a:off x="10883900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</a:t>
              </a:r>
              <a:endParaRPr kumimoji="0" lang="en-IN" sz="1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4" name="Flow Icon Circle 4">
              <a:extLst>
                <a:ext uri="{FF2B5EF4-FFF2-40B4-BE49-F238E27FC236}">
                  <a16:creationId xmlns:a16="http://schemas.microsoft.com/office/drawing/2014/main" id="{631C3979-B90C-4313-816E-4BB622C2FF9F}"/>
                </a:ext>
              </a:extLst>
            </p:cNvPr>
            <p:cNvSpPr/>
            <p:nvPr/>
          </p:nvSpPr>
          <p:spPr>
            <a:xfrm>
              <a:off x="106807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6" name="Flow Title 4">
              <a:extLst>
                <a:ext uri="{FF2B5EF4-FFF2-40B4-BE49-F238E27FC236}">
                  <a16:creationId xmlns:a16="http://schemas.microsoft.com/office/drawing/2014/main" id="{700531C8-8BA1-4B5D-896A-B9470D274D22}"/>
                </a:ext>
              </a:extLst>
            </p:cNvPr>
            <p:cNvSpPr txBox="1"/>
            <p:nvPr/>
          </p:nvSpPr>
          <p:spPr>
            <a:xfrm>
              <a:off x="103632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2C35D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Interact</a:t>
              </a:r>
              <a:endParaRPr kumimoji="0" lang="en-IN" sz="1300" b="1" u="none" strike="noStrike" kern="1200" cap="none" spc="0" normalizeH="0" baseline="0" noProof="0" dirty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7" name="Flow Body 4">
              <a:extLst>
                <a:ext uri="{FF2B5EF4-FFF2-40B4-BE49-F238E27FC236}">
                  <a16:creationId xmlns:a16="http://schemas.microsoft.com/office/drawing/2014/main" id="{D065C13A-58F9-43F6-A601-3A9F867E61D0}"/>
                </a:ext>
              </a:extLst>
            </p:cNvPr>
            <p:cNvSpPr txBox="1"/>
            <p:nvPr/>
          </p:nvSpPr>
          <p:spPr>
            <a:xfrm>
              <a:off x="10375900" y="3600211"/>
              <a:ext cx="1371600" cy="1346709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Apply ClickAll+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within Audits to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capture tags and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cookies triggered by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user interactions</a:t>
              </a:r>
              <a:endParaRPr kumimoji="0" lang="en-IN" sz="860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88" name="Flow Arrow 4">
              <a:extLst>
                <a:ext uri="{FF2B5EF4-FFF2-40B4-BE49-F238E27FC236}">
                  <a16:creationId xmlns:a16="http://schemas.microsoft.com/office/drawing/2014/main" id="{D6AA9DF1-E242-455D-BFD9-FA2C0D148C57}"/>
                </a:ext>
              </a:extLst>
            </p:cNvPr>
            <p:cNvCxnSpPr/>
            <p:nvPr/>
          </p:nvCxnSpPr>
          <p:spPr>
            <a:xfrm>
              <a:off x="118872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Flow Card 5">
              <a:extLst>
                <a:ext uri="{FF2B5EF4-FFF2-40B4-BE49-F238E27FC236}">
                  <a16:creationId xmlns:a16="http://schemas.microsoft.com/office/drawing/2014/main" id="{EE054984-3DF7-4305-A427-616751587A3D}"/>
                </a:ext>
              </a:extLst>
            </p:cNvPr>
            <p:cNvSpPr/>
            <p:nvPr/>
          </p:nvSpPr>
          <p:spPr>
            <a:xfrm>
              <a:off x="120650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0" name="Flow Badge 5">
              <a:extLst>
                <a:ext uri="{FF2B5EF4-FFF2-40B4-BE49-F238E27FC236}">
                  <a16:creationId xmlns:a16="http://schemas.microsoft.com/office/drawing/2014/main" id="{9EA32569-9ECA-4969-B271-430D13B483C2}"/>
                </a:ext>
              </a:extLst>
            </p:cNvPr>
            <p:cNvSpPr/>
            <p:nvPr/>
          </p:nvSpPr>
          <p:spPr>
            <a:xfrm>
              <a:off x="126873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1" name="Flow Badge Text 5">
              <a:extLst>
                <a:ext uri="{FF2B5EF4-FFF2-40B4-BE49-F238E27FC236}">
                  <a16:creationId xmlns:a16="http://schemas.microsoft.com/office/drawing/2014/main" id="{6A347994-2F26-44FB-A77F-6E4D26BA21CC}"/>
                </a:ext>
              </a:extLst>
            </p:cNvPr>
            <p:cNvSpPr txBox="1"/>
            <p:nvPr/>
          </p:nvSpPr>
          <p:spPr>
            <a:xfrm>
              <a:off x="12699492" y="1845051"/>
              <a:ext cx="333756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5</a:t>
              </a:r>
              <a:endParaRPr kumimoji="0" lang="en-IN" sz="1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2" name="Flow Icon Circle 5">
              <a:extLst>
                <a:ext uri="{FF2B5EF4-FFF2-40B4-BE49-F238E27FC236}">
                  <a16:creationId xmlns:a16="http://schemas.microsoft.com/office/drawing/2014/main" id="{B1A6238A-61EB-49F3-B1C8-344B802EEB7E}"/>
                </a:ext>
              </a:extLst>
            </p:cNvPr>
            <p:cNvSpPr/>
            <p:nvPr/>
          </p:nvSpPr>
          <p:spPr>
            <a:xfrm>
              <a:off x="124841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4" name="Flow Title 5">
              <a:extLst>
                <a:ext uri="{FF2B5EF4-FFF2-40B4-BE49-F238E27FC236}">
                  <a16:creationId xmlns:a16="http://schemas.microsoft.com/office/drawing/2014/main" id="{C94B1930-0729-4AF3-B5D4-4C1752078177}"/>
                </a:ext>
              </a:extLst>
            </p:cNvPr>
            <p:cNvSpPr txBox="1"/>
            <p:nvPr/>
          </p:nvSpPr>
          <p:spPr>
            <a:xfrm>
              <a:off x="121666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2C35D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Validate</a:t>
              </a:r>
            </a:p>
          </p:txBody>
        </p:sp>
        <p:sp>
          <p:nvSpPr>
            <p:cNvPr id="195" name="Flow Body 5">
              <a:extLst>
                <a:ext uri="{FF2B5EF4-FFF2-40B4-BE49-F238E27FC236}">
                  <a16:creationId xmlns:a16="http://schemas.microsoft.com/office/drawing/2014/main" id="{9C8E053E-C7DD-4D4B-B446-8E2F5CBBA63D}"/>
                </a:ext>
              </a:extLst>
            </p:cNvPr>
            <p:cNvSpPr txBox="1"/>
            <p:nvPr/>
          </p:nvSpPr>
          <p:spPr>
            <a:xfrm>
              <a:off x="12199535" y="3600210"/>
              <a:ext cx="1371600" cy="1559346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Run Journeys in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parallel to validate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tag and variable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correctness across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6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conversion steps</a:t>
              </a:r>
              <a:endParaRPr kumimoji="0" lang="en-IN" sz="860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96" name="Flow Arrow 5">
              <a:extLst>
                <a:ext uri="{FF2B5EF4-FFF2-40B4-BE49-F238E27FC236}">
                  <a16:creationId xmlns:a16="http://schemas.microsoft.com/office/drawing/2014/main" id="{424BB0BE-59F6-449D-99C6-F5972E3AD5DD}"/>
                </a:ext>
              </a:extLst>
            </p:cNvPr>
            <p:cNvCxnSpPr/>
            <p:nvPr/>
          </p:nvCxnSpPr>
          <p:spPr>
            <a:xfrm>
              <a:off x="136906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Flow Card 6">
              <a:extLst>
                <a:ext uri="{FF2B5EF4-FFF2-40B4-BE49-F238E27FC236}">
                  <a16:creationId xmlns:a16="http://schemas.microsoft.com/office/drawing/2014/main" id="{2A5F4E49-AE55-4E9F-819F-74960B89681D}"/>
                </a:ext>
              </a:extLst>
            </p:cNvPr>
            <p:cNvSpPr/>
            <p:nvPr/>
          </p:nvSpPr>
          <p:spPr>
            <a:xfrm>
              <a:off x="138684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8" name="Flow Badge 6">
              <a:extLst>
                <a:ext uri="{FF2B5EF4-FFF2-40B4-BE49-F238E27FC236}">
                  <a16:creationId xmlns:a16="http://schemas.microsoft.com/office/drawing/2014/main" id="{B03EECFA-1482-42AA-BE11-FCFA710F1883}"/>
                </a:ext>
              </a:extLst>
            </p:cNvPr>
            <p:cNvSpPr/>
            <p:nvPr/>
          </p:nvSpPr>
          <p:spPr>
            <a:xfrm>
              <a:off x="14502892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9" name="Flow Badge Text 6">
              <a:extLst>
                <a:ext uri="{FF2B5EF4-FFF2-40B4-BE49-F238E27FC236}">
                  <a16:creationId xmlns:a16="http://schemas.microsoft.com/office/drawing/2014/main" id="{DEE23F13-1E93-4898-A4F3-0E22CACFFE38}"/>
                </a:ext>
              </a:extLst>
            </p:cNvPr>
            <p:cNvSpPr txBox="1"/>
            <p:nvPr/>
          </p:nvSpPr>
          <p:spPr>
            <a:xfrm>
              <a:off x="14502891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6</a:t>
              </a:r>
              <a:endParaRPr kumimoji="0" lang="en-IN" sz="1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0" name="Flow Icon Circle 6">
              <a:extLst>
                <a:ext uri="{FF2B5EF4-FFF2-40B4-BE49-F238E27FC236}">
                  <a16:creationId xmlns:a16="http://schemas.microsoft.com/office/drawing/2014/main" id="{D340A626-59B0-407B-BEE3-706012064D1A}"/>
                </a:ext>
              </a:extLst>
            </p:cNvPr>
            <p:cNvSpPr/>
            <p:nvPr/>
          </p:nvSpPr>
          <p:spPr>
            <a:xfrm>
              <a:off x="142875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2" name="Flow Title 6">
              <a:extLst>
                <a:ext uri="{FF2B5EF4-FFF2-40B4-BE49-F238E27FC236}">
                  <a16:creationId xmlns:a16="http://schemas.microsoft.com/office/drawing/2014/main" id="{6FEDE2D1-5BB0-448D-8AE0-DFD778AD384F}"/>
                </a:ext>
              </a:extLst>
            </p:cNvPr>
            <p:cNvSpPr txBox="1"/>
            <p:nvPr/>
          </p:nvSpPr>
          <p:spPr>
            <a:xfrm>
              <a:off x="139700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2C35D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Govern</a:t>
              </a:r>
            </a:p>
          </p:txBody>
        </p:sp>
        <p:sp>
          <p:nvSpPr>
            <p:cNvPr id="203" name="Flow Body 6">
              <a:extLst>
                <a:ext uri="{FF2B5EF4-FFF2-40B4-BE49-F238E27FC236}">
                  <a16:creationId xmlns:a16="http://schemas.microsoft.com/office/drawing/2014/main" id="{5FADBF32-4DCD-487F-9220-5486862FEC65}"/>
                </a:ext>
              </a:extLst>
            </p:cNvPr>
            <p:cNvSpPr txBox="1"/>
            <p:nvPr/>
          </p:nvSpPr>
          <p:spPr>
            <a:xfrm>
              <a:off x="13982700" y="3600210"/>
              <a:ext cx="1371600" cy="1559346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Engage ObservePoint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for webhook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configuration and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maintain repeatable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 dirty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audit coverage</a:t>
              </a:r>
              <a:endParaRPr kumimoji="0" lang="en-IN" sz="820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204" name="Optimization Loop Down">
              <a:extLst>
                <a:ext uri="{FF2B5EF4-FFF2-40B4-BE49-F238E27FC236}">
                  <a16:creationId xmlns:a16="http://schemas.microsoft.com/office/drawing/2014/main" id="{C6317102-F0C3-4F3B-8848-0284A4964DBF}"/>
                </a:ext>
              </a:extLst>
            </p:cNvPr>
            <p:cNvCxnSpPr/>
            <p:nvPr/>
          </p:nvCxnSpPr>
          <p:spPr>
            <a:xfrm>
              <a:off x="14668500" y="4965700"/>
              <a:ext cx="0" cy="330200"/>
            </a:xfrm>
            <a:prstGeom prst="line">
              <a:avLst/>
            </a:prstGeom>
            <a:ln w="19050">
              <a:solidFill>
                <a:srgbClr val="06264A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Optimization Loop Return">
              <a:extLst>
                <a:ext uri="{FF2B5EF4-FFF2-40B4-BE49-F238E27FC236}">
                  <a16:creationId xmlns:a16="http://schemas.microsoft.com/office/drawing/2014/main" id="{AF54A469-6CEF-4A29-8C34-80B0D8911C79}"/>
                </a:ext>
              </a:extLst>
            </p:cNvPr>
            <p:cNvCxnSpPr/>
            <p:nvPr/>
          </p:nvCxnSpPr>
          <p:spPr>
            <a:xfrm flipH="1">
              <a:off x="5651500" y="5295900"/>
              <a:ext cx="9017000" cy="0"/>
            </a:xfrm>
            <a:prstGeom prst="line">
              <a:avLst/>
            </a:prstGeom>
            <a:ln w="19050">
              <a:solidFill>
                <a:srgbClr val="06264A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Optimization Loop Up">
              <a:extLst>
                <a:ext uri="{FF2B5EF4-FFF2-40B4-BE49-F238E27FC236}">
                  <a16:creationId xmlns:a16="http://schemas.microsoft.com/office/drawing/2014/main" id="{7F46CE3E-8241-475E-A185-7A2CE63ABFB4}"/>
                </a:ext>
              </a:extLst>
            </p:cNvPr>
            <p:cNvCxnSpPr/>
            <p:nvPr/>
          </p:nvCxnSpPr>
          <p:spPr>
            <a:xfrm flipV="1">
              <a:off x="5651500" y="4978400"/>
              <a:ext cx="0" cy="317500"/>
            </a:xfrm>
            <a:prstGeom prst="line">
              <a:avLst/>
            </a:prstGeom>
            <a:ln w="1905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9" name="Solution Caption">
            <a:extLst>
              <a:ext uri="{FF2B5EF4-FFF2-40B4-BE49-F238E27FC236}">
                <a16:creationId xmlns:a16="http://schemas.microsoft.com/office/drawing/2014/main" id="{2D983593-56BC-4FF5-9D1F-567797E84BD9}"/>
              </a:ext>
            </a:extLst>
          </p:cNvPr>
          <p:cNvSpPr txBox="1"/>
          <p:nvPr/>
        </p:nvSpPr>
        <p:spPr>
          <a:xfrm>
            <a:off x="3708399" y="4284980"/>
            <a:ext cx="7937500" cy="231140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Combining Audits, Pre-Audit Actions, ClickAll+, and Journeys helps close privacy coverage gaps across interaction-led web flows.</a:t>
            </a:r>
            <a:endParaRPr kumimoji="0" lang="en-IN" sz="900" i="1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6" name="Benefit Card 1">
            <a:extLst>
              <a:ext uri="{FF2B5EF4-FFF2-40B4-BE49-F238E27FC236}">
                <a16:creationId xmlns:a16="http://schemas.microsoft.com/office/drawing/2014/main" id="{A4AEE9E7-F637-40E9-905E-5E957F81F776}"/>
              </a:ext>
            </a:extLst>
          </p:cNvPr>
          <p:cNvSpPr/>
          <p:nvPr/>
        </p:nvSpPr>
        <p:spPr>
          <a:xfrm>
            <a:off x="3853245" y="5033077"/>
            <a:ext cx="2373483" cy="1249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2" name="Benefit Card 2">
            <a:extLst>
              <a:ext uri="{FF2B5EF4-FFF2-40B4-BE49-F238E27FC236}">
                <a16:creationId xmlns:a16="http://schemas.microsoft.com/office/drawing/2014/main" id="{EE1B028A-638B-4D61-A8C1-002ED3777874}"/>
              </a:ext>
            </a:extLst>
          </p:cNvPr>
          <p:cNvSpPr/>
          <p:nvPr/>
        </p:nvSpPr>
        <p:spPr>
          <a:xfrm>
            <a:off x="6299836" y="5033077"/>
            <a:ext cx="2629973" cy="1249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8" name="Benefit Card 3">
            <a:extLst>
              <a:ext uri="{FF2B5EF4-FFF2-40B4-BE49-F238E27FC236}">
                <a16:creationId xmlns:a16="http://schemas.microsoft.com/office/drawing/2014/main" id="{19642EBC-FDC8-49DB-8B00-D262E1362B7C}"/>
              </a:ext>
            </a:extLst>
          </p:cNvPr>
          <p:cNvSpPr/>
          <p:nvPr/>
        </p:nvSpPr>
        <p:spPr>
          <a:xfrm>
            <a:off x="8963675" y="5033374"/>
            <a:ext cx="2285142" cy="1249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3" name="Icon - doc_plus">
            <a:extLst>
              <a:ext uri="{FF2B5EF4-FFF2-40B4-BE49-F238E27FC236}">
                <a16:creationId xmlns:a16="http://schemas.microsoft.com/office/drawing/2014/main" id="{2DA294B7-6566-61E3-76E7-1C0FC164FDA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64817" y="1895341"/>
            <a:ext cx="381000" cy="381000"/>
          </a:xfrm>
          <a:prstGeom prst="rect">
            <a:avLst/>
          </a:prstGeom>
        </p:spPr>
      </p:pic>
      <p:pic>
        <p:nvPicPr>
          <p:cNvPr id="18" name="Icon - hand_click">
            <a:extLst>
              <a:ext uri="{FF2B5EF4-FFF2-40B4-BE49-F238E27FC236}">
                <a16:creationId xmlns:a16="http://schemas.microsoft.com/office/drawing/2014/main" id="{3E59535A-8EF1-B554-C3E6-AF4812A6E73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8493" y="1895341"/>
            <a:ext cx="381000" cy="381000"/>
          </a:xfrm>
          <a:prstGeom prst="rect">
            <a:avLst/>
          </a:prstGeom>
        </p:spPr>
      </p:pic>
      <p:pic>
        <p:nvPicPr>
          <p:cNvPr id="23" name="Icon - refresh">
            <a:extLst>
              <a:ext uri="{FF2B5EF4-FFF2-40B4-BE49-F238E27FC236}">
                <a16:creationId xmlns:a16="http://schemas.microsoft.com/office/drawing/2014/main" id="{F349D627-97FE-6BEC-E9FC-407F54CAAF3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2171" y="1895341"/>
            <a:ext cx="381000" cy="381000"/>
          </a:xfrm>
          <a:prstGeom prst="rect">
            <a:avLst/>
          </a:prstGeom>
        </p:spPr>
      </p:pic>
      <p:sp>
        <p:nvSpPr>
          <p:cNvPr id="208" name="Optimization Loop Label">
            <a:extLst>
              <a:ext uri="{FF2B5EF4-FFF2-40B4-BE49-F238E27FC236}">
                <a16:creationId xmlns:a16="http://schemas.microsoft.com/office/drawing/2014/main" id="{4F9D16D0-FD70-469D-B318-AE4CFE26E4F1}"/>
              </a:ext>
            </a:extLst>
          </p:cNvPr>
          <p:cNvSpPr txBox="1"/>
          <p:nvPr/>
        </p:nvSpPr>
        <p:spPr>
          <a:xfrm>
            <a:off x="5054599" y="3783226"/>
            <a:ext cx="538480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Closed-loop cookie and tag governance across static and journey-driven pages</a:t>
            </a:r>
            <a:endParaRPr kumimoji="0" lang="en-IN" sz="970" b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Benefit Icon Circle - target_consent">
            <a:extLst>
              <a:ext uri="{FF2B5EF4-FFF2-40B4-BE49-F238E27FC236}">
                <a16:creationId xmlns:a16="http://schemas.microsoft.com/office/drawing/2014/main" id="{5DA915C9-F631-5225-D4E6-44B6394CCDED}"/>
              </a:ext>
            </a:extLst>
          </p:cNvPr>
          <p:cNvSpPr/>
          <p:nvPr/>
        </p:nvSpPr>
        <p:spPr>
          <a:xfrm>
            <a:off x="6527800" y="5283200"/>
            <a:ext cx="660400" cy="660400"/>
          </a:xfrm>
          <a:prstGeom prst="ellipse">
            <a:avLst/>
          </a:prstGeom>
          <a:solidFill>
            <a:srgbClr val="EE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Benefit Icon Circle - file_check">
            <a:extLst>
              <a:ext uri="{FF2B5EF4-FFF2-40B4-BE49-F238E27FC236}">
                <a16:creationId xmlns:a16="http://schemas.microsoft.com/office/drawing/2014/main" id="{3AB9F1EE-7F1A-B263-D2A0-C89F04C95083}"/>
              </a:ext>
            </a:extLst>
          </p:cNvPr>
          <p:cNvSpPr/>
          <p:nvPr/>
        </p:nvSpPr>
        <p:spPr>
          <a:xfrm>
            <a:off x="9194800" y="5283200"/>
            <a:ext cx="660400" cy="660400"/>
          </a:xfrm>
          <a:prstGeom prst="ellipse">
            <a:avLst/>
          </a:prstGeom>
          <a:solidFill>
            <a:srgbClr val="EE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Benefit Icon Circle - coverage_shield">
            <a:extLst>
              <a:ext uri="{FF2B5EF4-FFF2-40B4-BE49-F238E27FC236}">
                <a16:creationId xmlns:a16="http://schemas.microsoft.com/office/drawing/2014/main" id="{5668AAEE-6EBE-9B7F-7808-BFAAC6014CB7}"/>
              </a:ext>
            </a:extLst>
          </p:cNvPr>
          <p:cNvSpPr/>
          <p:nvPr/>
        </p:nvSpPr>
        <p:spPr>
          <a:xfrm>
            <a:off x="3987800" y="5283200"/>
            <a:ext cx="660400" cy="660400"/>
          </a:xfrm>
          <a:prstGeom prst="ellipse">
            <a:avLst/>
          </a:prstGeom>
          <a:solidFill>
            <a:srgbClr val="EE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Icon - toggles">
            <a:extLst>
              <a:ext uri="{FF2B5EF4-FFF2-40B4-BE49-F238E27FC236}">
                <a16:creationId xmlns:a16="http://schemas.microsoft.com/office/drawing/2014/main" id="{3CC1FE7D-6101-8A2F-26BC-9FA80A9EFDD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6655" y="1895341"/>
            <a:ext cx="381000" cy="381000"/>
          </a:xfrm>
          <a:prstGeom prst="rect">
            <a:avLst/>
          </a:prstGeom>
        </p:spPr>
      </p:pic>
      <p:pic>
        <p:nvPicPr>
          <p:cNvPr id="26" name="Icon - coverage_shield">
            <a:extLst>
              <a:ext uri="{FF2B5EF4-FFF2-40B4-BE49-F238E27FC236}">
                <a16:creationId xmlns:a16="http://schemas.microsoft.com/office/drawing/2014/main" id="{D4E014FB-A052-3EE7-E774-911B963734C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89400" y="5384800"/>
            <a:ext cx="457200" cy="457200"/>
          </a:xfrm>
          <a:prstGeom prst="rect">
            <a:avLst/>
          </a:prstGeom>
        </p:spPr>
      </p:pic>
      <p:pic>
        <p:nvPicPr>
          <p:cNvPr id="32" name="Icon - file_check">
            <a:extLst>
              <a:ext uri="{FF2B5EF4-FFF2-40B4-BE49-F238E27FC236}">
                <a16:creationId xmlns:a16="http://schemas.microsoft.com/office/drawing/2014/main" id="{4946B3F6-2273-A9C3-833A-9B279D1D295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96400" y="5384800"/>
            <a:ext cx="457200" cy="457200"/>
          </a:xfrm>
          <a:prstGeom prst="rect">
            <a:avLst/>
          </a:prstGeom>
        </p:spPr>
      </p:pic>
      <p:pic>
        <p:nvPicPr>
          <p:cNvPr id="20" name="Icon - shield_check">
            <a:extLst>
              <a:ext uri="{FF2B5EF4-FFF2-40B4-BE49-F238E27FC236}">
                <a16:creationId xmlns:a16="http://schemas.microsoft.com/office/drawing/2014/main" id="{72E8984E-AA05-BE0D-652A-833DD386278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0331" y="1895341"/>
            <a:ext cx="381000" cy="381000"/>
          </a:xfrm>
          <a:prstGeom prst="rect">
            <a:avLst/>
          </a:prstGeom>
        </p:spPr>
      </p:pic>
      <p:pic>
        <p:nvPicPr>
          <p:cNvPr id="7" name="Icon - search">
            <a:extLst>
              <a:ext uri="{FF2B5EF4-FFF2-40B4-BE49-F238E27FC236}">
                <a16:creationId xmlns:a16="http://schemas.microsoft.com/office/drawing/2014/main" id="{77FDAEA3-F628-2D05-D7E4-53B4892A5A3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42978" y="1895341"/>
            <a:ext cx="381000" cy="381000"/>
          </a:xfrm>
          <a:prstGeom prst="rect">
            <a:avLst/>
          </a:prstGeom>
        </p:spPr>
      </p:pic>
      <p:pic>
        <p:nvPicPr>
          <p:cNvPr id="29" name="Icon - target_consent">
            <a:extLst>
              <a:ext uri="{FF2B5EF4-FFF2-40B4-BE49-F238E27FC236}">
                <a16:creationId xmlns:a16="http://schemas.microsoft.com/office/drawing/2014/main" id="{BBEFA85F-C746-2723-D328-E070B02879E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29400" y="5384800"/>
            <a:ext cx="457200" cy="457200"/>
          </a:xfrm>
          <a:prstGeom prst="rect">
            <a:avLst/>
          </a:prstGeom>
        </p:spPr>
      </p:pic>
      <p:sp>
        <p:nvSpPr>
          <p:cNvPr id="239" name="Benefit Metric 1">
            <a:extLst>
              <a:ext uri="{FF2B5EF4-FFF2-40B4-BE49-F238E27FC236}">
                <a16:creationId xmlns:a16="http://schemas.microsoft.com/office/drawing/2014/main" id="{0D5D0982-65E2-463C-A217-9C29D677C452}"/>
              </a:ext>
            </a:extLst>
          </p:cNvPr>
          <p:cNvSpPr txBox="1"/>
          <p:nvPr/>
        </p:nvSpPr>
        <p:spPr>
          <a:xfrm>
            <a:off x="4737100" y="5168900"/>
            <a:ext cx="1397000" cy="406400"/>
          </a:xfrm>
          <a:prstGeom prst="rect">
            <a:avLst/>
          </a:prstGeom>
          <a:noFill/>
        </p:spPr>
        <p:txBody>
          <a:bodyPr vert="horz" wrap="square" lIns="31750" tIns="19050" rIns="31750" bIns="1905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10" b="1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Expanded Compliance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10" b="1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Coverage</a:t>
            </a:r>
            <a:endParaRPr kumimoji="0" lang="en-IN" sz="910" b="1" u="none" strike="noStrike" kern="1200" cap="none" spc="0" normalizeH="0" baseline="0" noProof="0" dirty="0">
              <a:ln>
                <a:noFill/>
              </a:ln>
              <a:solidFill>
                <a:srgbClr val="0B0E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" name="Benefit Metric 2">
            <a:extLst>
              <a:ext uri="{FF2B5EF4-FFF2-40B4-BE49-F238E27FC236}">
                <a16:creationId xmlns:a16="http://schemas.microsoft.com/office/drawing/2014/main" id="{83BC6B32-44D8-4938-8E15-54D77BB16BDC}"/>
              </a:ext>
            </a:extLst>
          </p:cNvPr>
          <p:cNvSpPr txBox="1"/>
          <p:nvPr/>
        </p:nvSpPr>
        <p:spPr>
          <a:xfrm>
            <a:off x="7289800" y="5168900"/>
            <a:ext cx="1473200" cy="40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31750" tIns="19050" rIns="31750" bIns="1905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10" b="1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Consent-Aware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10" b="1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Validation</a:t>
            </a:r>
            <a:endParaRPr kumimoji="0" lang="en-IN" sz="910" b="1" u="none" strike="noStrike" kern="1200" cap="none" spc="0" normalizeH="0" baseline="0" noProof="0" dirty="0">
              <a:ln>
                <a:noFill/>
              </a:ln>
              <a:solidFill>
                <a:srgbClr val="0B0E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1" name="Benefit Metric 3">
            <a:extLst>
              <a:ext uri="{FF2B5EF4-FFF2-40B4-BE49-F238E27FC236}">
                <a16:creationId xmlns:a16="http://schemas.microsoft.com/office/drawing/2014/main" id="{EEA5A933-E2B6-47F7-BA50-6E4974832930}"/>
              </a:ext>
            </a:extLst>
          </p:cNvPr>
          <p:cNvSpPr txBox="1"/>
          <p:nvPr/>
        </p:nvSpPr>
        <p:spPr>
          <a:xfrm>
            <a:off x="9931400" y="5168900"/>
            <a:ext cx="1270000" cy="406400"/>
          </a:xfrm>
          <a:prstGeom prst="rect">
            <a:avLst/>
          </a:prstGeom>
          <a:noFill/>
        </p:spPr>
        <p:txBody>
          <a:bodyPr vert="horz" wrap="square" lIns="31750" tIns="19050" rIns="31750" bIns="1905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10" b="1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Stronger Governance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10" b="1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</a:t>
            </a:r>
            <a:endParaRPr kumimoji="0" lang="en-IN" sz="910" b="1" u="none" strike="noStrike" kern="1200" cap="none" spc="0" normalizeH="0" baseline="0" noProof="0" dirty="0">
              <a:ln>
                <a:noFill/>
              </a:ln>
              <a:solidFill>
                <a:srgbClr val="0B0E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04CFAD-5B46-4E10-85E4-272867250FF3}"/>
              </a:ext>
            </a:extLst>
          </p:cNvPr>
          <p:cNvSpPr txBox="1"/>
          <p:nvPr/>
        </p:nvSpPr>
        <p:spPr>
          <a:xfrm>
            <a:off x="4737100" y="5626100"/>
            <a:ext cx="1422400" cy="596900"/>
          </a:xfrm>
          <a:prstGeom prst="rect">
            <a:avLst/>
          </a:prstGeom>
          <a:noFill/>
        </p:spPr>
        <p:txBody>
          <a:bodyPr wrap="square" lIns="31750" tIns="19050" rIns="31750" bIns="19050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9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Brings funnel and conversion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9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pages into audit scope for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9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unapproved cookie and tag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9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detection</a:t>
            </a:r>
            <a:endParaRPr kumimoji="0" lang="en-IN" sz="69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E604F00-9B0F-4C7C-A279-C53C6C5C46BA}"/>
              </a:ext>
            </a:extLst>
          </p:cNvPr>
          <p:cNvSpPr txBox="1"/>
          <p:nvPr/>
        </p:nvSpPr>
        <p:spPr>
          <a:xfrm>
            <a:off x="7289800" y="5626100"/>
            <a:ext cx="1524000" cy="596900"/>
          </a:xfrm>
          <a:prstGeom prst="rect">
            <a:avLst/>
          </a:prstGeom>
          <a:noFill/>
        </p:spPr>
        <p:txBody>
          <a:bodyPr wrap="square" lIns="31750" tIns="19050" rIns="31750" bIns="19050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9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Validates cookie and tag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9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behavior across Opt In,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9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Opt Out, and GPC consent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9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scenarios</a:t>
            </a:r>
            <a:endParaRPr kumimoji="0" lang="en-IN" sz="69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FBFFEBA-7D6D-4331-AE06-A2D0AEF13411}"/>
              </a:ext>
            </a:extLst>
          </p:cNvPr>
          <p:cNvSpPr txBox="1"/>
          <p:nvPr/>
        </p:nvSpPr>
        <p:spPr>
          <a:xfrm>
            <a:off x="9931400" y="5626100"/>
            <a:ext cx="1282700" cy="596900"/>
          </a:xfrm>
          <a:prstGeom prst="rect">
            <a:avLst/>
          </a:prstGeom>
          <a:noFill/>
        </p:spPr>
        <p:txBody>
          <a:bodyPr wrap="square" lIns="31750" tIns="19050" rIns="31750" bIns="19050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9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Combines Audits and Journeys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9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 support both privacy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9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compliance and analytics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9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validation</a:t>
            </a:r>
            <a:endParaRPr kumimoji="0" lang="en-IN" sz="69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1820863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801392-319D-44E9-B4F2-59D5EE0E48B4}"/>
              </a:ext>
            </a:extLst>
          </p:cNvPr>
          <p:cNvSpPr/>
          <p:nvPr/>
        </p:nvSpPr>
        <p:spPr>
          <a:xfrm>
            <a:off x="3354672" y="913772"/>
            <a:ext cx="8658567" cy="359461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77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9C331C-CC1E-4325-8026-EE0129F78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C98B77-332E-004E-BD2A-A6DBBD4442FD}" type="slidenum">
              <a:rPr kumimoji="0" lang="sv-S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sv-S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EB1CF-8656-4969-A45E-64364A31DC03}"/>
              </a:ext>
            </a:extLst>
          </p:cNvPr>
          <p:cNvSpPr/>
          <p:nvPr/>
        </p:nvSpPr>
        <p:spPr>
          <a:xfrm>
            <a:off x="382093" y="914400"/>
            <a:ext cx="2807491" cy="55881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D0393-ECDD-4C4C-8754-EC549620B290}"/>
              </a:ext>
            </a:extLst>
          </p:cNvPr>
          <p:cNvSpPr txBox="1"/>
          <p:nvPr/>
        </p:nvSpPr>
        <p:spPr>
          <a:xfrm>
            <a:off x="417240" y="1037401"/>
            <a:ext cx="268888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3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Business Context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2C35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A8843-6FDF-413C-B81D-1E05DA449E1D}"/>
              </a:ext>
            </a:extLst>
          </p:cNvPr>
          <p:cNvSpPr txBox="1"/>
          <p:nvPr/>
        </p:nvSpPr>
        <p:spPr>
          <a:xfrm>
            <a:off x="382093" y="3333722"/>
            <a:ext cx="268888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3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Business Challenges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2C35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34854-D71F-4D82-A796-7D8990EAC131}"/>
              </a:ext>
            </a:extLst>
          </p:cNvPr>
          <p:cNvSpPr txBox="1"/>
          <p:nvPr/>
        </p:nvSpPr>
        <p:spPr>
          <a:xfrm>
            <a:off x="373557" y="1392836"/>
            <a:ext cx="2807088" cy="1858667"/>
          </a:xfrm>
          <a:prstGeom prst="rect">
            <a:avLst/>
          </a:prstGeom>
          <a:noFill/>
        </p:spPr>
        <p:txBody>
          <a:bodyPr wrap="square" lIns="71994" tIns="0" rIns="71994" bIns="0" rtlCol="0">
            <a:noAutofit/>
          </a:bodyPr>
          <a:lstStyle/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60" b="0" i="0" u="none" strike="noStrike" kern="1200" cap="none" spc="0" normalizeH="0" baseline="0" noProof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 digital client needs to propagate user consent signals from OneTrust into mParticle CDP so that downstream audience activation and integrations respect privacy preferences.</a:t>
            </a:r>
          </a:p>
          <a:p>
            <a:pPr marR="0" lvl="0" defTabSz="914400" rtl="0" eaLnBrk="1" fontAlgn="auto" latinLnBrk="0" hangingPunct="1">
              <a:buClrTx/>
              <a:buSzTx/>
              <a:tabLst/>
              <a:defRPr/>
            </a:pPr>
            <a:endParaRPr kumimoji="0" lang="en-US" sz="960" b="0" i="0" u="none" strike="noStrike" kern="1200" cap="none" spc="0" normalizeH="0" baseline="0" noProof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60" b="0" i="0" u="none" strike="noStrike" kern="1200" cap="none" spc="0" normalizeH="0" baseline="0" noProof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 consent flow depends on OneTrust/CMP capturing user choices, Adobe Tags forwarding the consent state, and mParticle enforcing purpose-based consent rules across outputs.</a:t>
            </a:r>
            <a:endParaRPr kumimoji="0" lang="en-US" sz="96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E7D527-9F89-40C3-8562-49284B4B8465}"/>
              </a:ext>
            </a:extLst>
          </p:cNvPr>
          <p:cNvSpPr txBox="1"/>
          <p:nvPr/>
        </p:nvSpPr>
        <p:spPr>
          <a:xfrm>
            <a:off x="367337" y="3754495"/>
            <a:ext cx="2834069" cy="2519925"/>
          </a:xfrm>
          <a:prstGeom prst="rect">
            <a:avLst/>
          </a:prstGeom>
          <a:noFill/>
        </p:spPr>
        <p:txBody>
          <a:bodyPr wrap="square" lIns="71994" tIns="0" rIns="71994" bIns="0" rtlCol="0">
            <a:noAutofit/>
          </a:bodyPr>
          <a:lstStyle/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70" b="0" i="0" u="none" strike="noStrike" kern="1200" cap="none" spc="0" normalizeH="0" baseline="0" noProof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Consent signals must flow consistently across browser, app, and server-side collection paths without creating gaps during identity or device changes.</a:t>
            </a:r>
          </a:p>
          <a:p>
            <a:pPr marR="0" lvl="0" defTabSz="914400" rtl="0" eaLnBrk="1" fontAlgn="auto" latinLnBrk="0" hangingPunct="1">
              <a:buClrTx/>
              <a:buSzTx/>
              <a:tabLst/>
              <a:defRPr/>
            </a:pPr>
            <a:endParaRPr kumimoji="0" lang="en-US" sz="870" b="0" i="0" u="none" strike="noStrike" kern="1200" cap="none" spc="0" normalizeH="0" baseline="0" noProof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70" b="0" i="0" u="none" strike="noStrike" kern="1200" cap="none" spc="0" normalizeH="0" baseline="0" noProof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OneTrust consent groups need to be correctly mapped into mParticle GDPR/CCPA consent purposes before data is activated.</a:t>
            </a:r>
          </a:p>
          <a:p>
            <a:pPr marR="0" lvl="0" defTabSz="914400" rtl="0" eaLnBrk="1" fontAlgn="auto" latinLnBrk="0" hangingPunct="1">
              <a:buClrTx/>
              <a:buSzTx/>
              <a:tabLst/>
              <a:defRPr/>
            </a:pPr>
            <a:endParaRPr kumimoji="0" lang="en-US" sz="870" b="0" i="0" u="none" strike="noStrike" kern="1200" cap="none" spc="0" normalizeH="0" baseline="0" noProof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70" b="0" i="0" u="none" strike="noStrike" kern="1200" cap="none" spc="0" normalizeH="0" baseline="0" noProof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mParticle outputs do not automatically block data based on consent unless Consent Forwarding Rules are configured for each integration.</a:t>
            </a:r>
          </a:p>
          <a:p>
            <a:pPr marR="0" lvl="0" defTabSz="914400" rtl="0" eaLnBrk="1" fontAlgn="auto" latinLnBrk="0" hangingPunct="1">
              <a:buClrTx/>
              <a:buSzTx/>
              <a:tabLst/>
              <a:defRPr/>
            </a:pPr>
            <a:endParaRPr kumimoji="0" lang="en-US" sz="870" b="0" i="0" u="none" strike="noStrike" kern="1200" cap="none" spc="0" normalizeH="0" baseline="0" noProof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70" b="0" i="0" u="none" strike="noStrike" kern="1200" cap="none" spc="0" normalizeH="0" baseline="0" noProof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Without output-level rules, downstream tools may continue receiving data regardless of consent state, creating privacy compliance risk.</a:t>
            </a:r>
            <a:endParaRPr kumimoji="0" lang="en-US" sz="87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08256F-1D41-410F-BAD4-A88694BEEC2E}"/>
              </a:ext>
            </a:extLst>
          </p:cNvPr>
          <p:cNvSpPr txBox="1"/>
          <p:nvPr/>
        </p:nvSpPr>
        <p:spPr>
          <a:xfrm>
            <a:off x="3567837" y="956914"/>
            <a:ext cx="3314249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eClerx Recommended Solution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2C35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FD2BFC-4B86-4160-99A6-A5AC3EF8F3FF}"/>
              </a:ext>
            </a:extLst>
          </p:cNvPr>
          <p:cNvSpPr/>
          <p:nvPr/>
        </p:nvSpPr>
        <p:spPr>
          <a:xfrm>
            <a:off x="9352994" y="5431974"/>
            <a:ext cx="2263758" cy="1047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" name="Title 6">
            <a:extLst>
              <a:ext uri="{FF2B5EF4-FFF2-40B4-BE49-F238E27FC236}">
                <a16:creationId xmlns:a16="http://schemas.microsoft.com/office/drawing/2014/main" id="{43BE8344-E263-45D7-AE84-8D5505EB2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86" y="303066"/>
            <a:ext cx="11873140" cy="468193"/>
          </a:xfrm>
        </p:spPr>
        <p:txBody>
          <a:bodyPr vert="horz" wrap="square">
            <a:noAutofit/>
          </a:bodyPr>
          <a:lstStyle/>
          <a:p>
            <a:r>
              <a:rPr lang="en-US" sz="2400">
                <a:solidFill>
                  <a:srgbClr val="2C35DE"/>
                </a:solidFill>
              </a:rPr>
              <a:t>Case Study - Consent Signal Propagation with mParticle CDP</a:t>
            </a:r>
            <a:endParaRPr lang="en-US" sz="2400" dirty="0">
              <a:solidFill>
                <a:srgbClr val="2C35DE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FC88D19-5F54-4C5A-8F19-129CF2532F2C}"/>
              </a:ext>
            </a:extLst>
          </p:cNvPr>
          <p:cNvSpPr/>
          <p:nvPr/>
        </p:nvSpPr>
        <p:spPr>
          <a:xfrm>
            <a:off x="3347504" y="4577940"/>
            <a:ext cx="8658568" cy="19246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8CE407F-05AC-4E8F-90C0-58910B4A838A}"/>
              </a:ext>
            </a:extLst>
          </p:cNvPr>
          <p:cNvSpPr txBox="1"/>
          <p:nvPr/>
        </p:nvSpPr>
        <p:spPr>
          <a:xfrm>
            <a:off x="3355376" y="4561609"/>
            <a:ext cx="268888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3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Business Benefits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2C35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7" name="Optimization Loop Label Backing">
            <a:extLst>
              <a:ext uri="{FF2B5EF4-FFF2-40B4-BE49-F238E27FC236}">
                <a16:creationId xmlns:a16="http://schemas.microsoft.com/office/drawing/2014/main" id="{C1636681-20E7-4695-BA3A-ACD873196FD0}"/>
              </a:ext>
            </a:extLst>
          </p:cNvPr>
          <p:cNvSpPr/>
          <p:nvPr/>
        </p:nvSpPr>
        <p:spPr>
          <a:xfrm>
            <a:off x="4521199" y="3867150"/>
            <a:ext cx="6578600" cy="260350"/>
          </a:xfrm>
          <a:prstGeom prst="rect">
            <a:avLst/>
          </a:prstGeom>
          <a:solidFill>
            <a:srgbClr val="06264A"/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110BABF-E4F3-49AD-9CB7-13E726A576AD}"/>
              </a:ext>
            </a:extLst>
          </p:cNvPr>
          <p:cNvGrpSpPr/>
          <p:nvPr/>
        </p:nvGrpSpPr>
        <p:grpSpPr>
          <a:xfrm>
            <a:off x="3402662" y="1368935"/>
            <a:ext cx="8370824" cy="2782616"/>
            <a:chOff x="4851400" y="1739900"/>
            <a:chExt cx="10617200" cy="3844934"/>
          </a:xfrm>
        </p:grpSpPr>
        <p:sp>
          <p:nvSpPr>
            <p:cNvPr id="105" name="Flow Card 1">
              <a:extLst>
                <a:ext uri="{FF2B5EF4-FFF2-40B4-BE49-F238E27FC236}">
                  <a16:creationId xmlns:a16="http://schemas.microsoft.com/office/drawing/2014/main" id="{3439280F-828F-455C-8286-FA8625AD87DE}"/>
                </a:ext>
              </a:extLst>
            </p:cNvPr>
            <p:cNvSpPr/>
            <p:nvPr/>
          </p:nvSpPr>
          <p:spPr>
            <a:xfrm>
              <a:off x="48514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6" name="Flow Badge 1">
              <a:extLst>
                <a:ext uri="{FF2B5EF4-FFF2-40B4-BE49-F238E27FC236}">
                  <a16:creationId xmlns:a16="http://schemas.microsoft.com/office/drawing/2014/main" id="{146B46AC-A39C-43C6-8AF0-D72C2E98B8CD}"/>
                </a:ext>
              </a:extLst>
            </p:cNvPr>
            <p:cNvSpPr/>
            <p:nvPr/>
          </p:nvSpPr>
          <p:spPr>
            <a:xfrm>
              <a:off x="54737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1" name="Flow Badge Text 1">
              <a:extLst>
                <a:ext uri="{FF2B5EF4-FFF2-40B4-BE49-F238E27FC236}">
                  <a16:creationId xmlns:a16="http://schemas.microsoft.com/office/drawing/2014/main" id="{F857A09D-2126-4199-82C8-57E095EF6630}"/>
                </a:ext>
              </a:extLst>
            </p:cNvPr>
            <p:cNvSpPr txBox="1"/>
            <p:nvPr/>
          </p:nvSpPr>
          <p:spPr>
            <a:xfrm>
              <a:off x="5473699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2" name="Flow Icon Circle 1">
              <a:extLst>
                <a:ext uri="{FF2B5EF4-FFF2-40B4-BE49-F238E27FC236}">
                  <a16:creationId xmlns:a16="http://schemas.microsoft.com/office/drawing/2014/main" id="{B51D2572-C480-4A2A-8EEF-F03C02E6956C}"/>
                </a:ext>
              </a:extLst>
            </p:cNvPr>
            <p:cNvSpPr/>
            <p:nvPr/>
          </p:nvSpPr>
          <p:spPr>
            <a:xfrm>
              <a:off x="52705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1" name="Flow Title 1">
              <a:extLst>
                <a:ext uri="{FF2B5EF4-FFF2-40B4-BE49-F238E27FC236}">
                  <a16:creationId xmlns:a16="http://schemas.microsoft.com/office/drawing/2014/main" id="{A50DAF96-5CF3-41E1-BB40-C102E66A01EE}"/>
                </a:ext>
              </a:extLst>
            </p:cNvPr>
            <p:cNvSpPr txBox="1"/>
            <p:nvPr/>
          </p:nvSpPr>
          <p:spPr>
            <a:xfrm>
              <a:off x="4953001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2C35D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Capture</a:t>
              </a:r>
              <a:endParaRPr kumimoji="0" lang="en-IN" sz="1300" b="1" u="none" strike="noStrike" kern="1200" cap="none" spc="0" normalizeH="0" baseline="0" noProof="0" dirty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3" name="Flow Body 1">
              <a:extLst>
                <a:ext uri="{FF2B5EF4-FFF2-40B4-BE49-F238E27FC236}">
                  <a16:creationId xmlns:a16="http://schemas.microsoft.com/office/drawing/2014/main" id="{2786180A-BB7C-4853-AA8D-227CA5418F84}"/>
                </a:ext>
              </a:extLst>
            </p:cNvPr>
            <p:cNvSpPr txBox="1"/>
            <p:nvPr/>
          </p:nvSpPr>
          <p:spPr>
            <a:xfrm>
              <a:off x="4965699" y="3600211"/>
              <a:ext cx="1371600" cy="1382148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User provides or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updates consent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preference through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browser or app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CMP experience</a:t>
              </a:r>
              <a:endParaRPr kumimoji="0" lang="en-IN" sz="850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24" name="Flow Arrow 1">
              <a:extLst>
                <a:ext uri="{FF2B5EF4-FFF2-40B4-BE49-F238E27FC236}">
                  <a16:creationId xmlns:a16="http://schemas.microsoft.com/office/drawing/2014/main" id="{138B586C-2D7F-451D-95B0-D1A6DD4F6306}"/>
                </a:ext>
              </a:extLst>
            </p:cNvPr>
            <p:cNvCxnSpPr/>
            <p:nvPr/>
          </p:nvCxnSpPr>
          <p:spPr>
            <a:xfrm>
              <a:off x="64770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Flow Card 2">
              <a:extLst>
                <a:ext uri="{FF2B5EF4-FFF2-40B4-BE49-F238E27FC236}">
                  <a16:creationId xmlns:a16="http://schemas.microsoft.com/office/drawing/2014/main" id="{E73761A6-BBEF-4716-9098-62C47272B2AE}"/>
                </a:ext>
              </a:extLst>
            </p:cNvPr>
            <p:cNvSpPr/>
            <p:nvPr/>
          </p:nvSpPr>
          <p:spPr>
            <a:xfrm>
              <a:off x="66548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9" name="Flow Badge 2">
              <a:extLst>
                <a:ext uri="{FF2B5EF4-FFF2-40B4-BE49-F238E27FC236}">
                  <a16:creationId xmlns:a16="http://schemas.microsoft.com/office/drawing/2014/main" id="{C9D6FD7B-7E87-4F9E-8252-59A0C6ECBDBB}"/>
                </a:ext>
              </a:extLst>
            </p:cNvPr>
            <p:cNvSpPr/>
            <p:nvPr/>
          </p:nvSpPr>
          <p:spPr>
            <a:xfrm>
              <a:off x="72771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1" name="Flow Badge Text 2">
              <a:extLst>
                <a:ext uri="{FF2B5EF4-FFF2-40B4-BE49-F238E27FC236}">
                  <a16:creationId xmlns:a16="http://schemas.microsoft.com/office/drawing/2014/main" id="{8EB40419-A781-4B59-9F1C-4388FEDE5E91}"/>
                </a:ext>
              </a:extLst>
            </p:cNvPr>
            <p:cNvSpPr txBox="1"/>
            <p:nvPr/>
          </p:nvSpPr>
          <p:spPr>
            <a:xfrm>
              <a:off x="7277100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</a:t>
              </a:r>
              <a:endParaRPr kumimoji="0" lang="en-IN" sz="1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2" name="Flow Icon Circle 2">
              <a:extLst>
                <a:ext uri="{FF2B5EF4-FFF2-40B4-BE49-F238E27FC236}">
                  <a16:creationId xmlns:a16="http://schemas.microsoft.com/office/drawing/2014/main" id="{67E149F4-C8F2-4878-9838-61FF66BB684F}"/>
                </a:ext>
              </a:extLst>
            </p:cNvPr>
            <p:cNvSpPr/>
            <p:nvPr/>
          </p:nvSpPr>
          <p:spPr>
            <a:xfrm>
              <a:off x="70739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56" name="Flow Title 2">
              <a:extLst>
                <a:ext uri="{FF2B5EF4-FFF2-40B4-BE49-F238E27FC236}">
                  <a16:creationId xmlns:a16="http://schemas.microsoft.com/office/drawing/2014/main" id="{2016BDCA-CC04-4A05-BB4E-5EB239103132}"/>
                </a:ext>
              </a:extLst>
            </p:cNvPr>
            <p:cNvSpPr txBox="1"/>
            <p:nvPr/>
          </p:nvSpPr>
          <p:spPr>
            <a:xfrm>
              <a:off x="67564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2C35D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Trigger</a:t>
              </a:r>
              <a:endParaRPr kumimoji="0" lang="en-IN" sz="1300" b="1" u="none" strike="noStrike" kern="1200" cap="none" spc="0" normalizeH="0" baseline="0" noProof="0" dirty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0" name="Flow Body 2">
              <a:extLst>
                <a:ext uri="{FF2B5EF4-FFF2-40B4-BE49-F238E27FC236}">
                  <a16:creationId xmlns:a16="http://schemas.microsoft.com/office/drawing/2014/main" id="{1AFBEC8F-A65E-4892-95B8-77A6EEAEA556}"/>
                </a:ext>
              </a:extLst>
            </p:cNvPr>
            <p:cNvSpPr txBox="1"/>
            <p:nvPr/>
          </p:nvSpPr>
          <p:spPr>
            <a:xfrm>
              <a:off x="6769100" y="3600211"/>
              <a:ext cx="1371600" cy="1559346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OneTrust fires the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consent event and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exposes active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consent groups 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categories</a:t>
              </a:r>
              <a:endParaRPr kumimoji="0" lang="en-IN" sz="850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65" name="Flow Arrow 2">
              <a:extLst>
                <a:ext uri="{FF2B5EF4-FFF2-40B4-BE49-F238E27FC236}">
                  <a16:creationId xmlns:a16="http://schemas.microsoft.com/office/drawing/2014/main" id="{A1D56DA8-AFF9-41F6-BB3E-6D0B28AF1052}"/>
                </a:ext>
              </a:extLst>
            </p:cNvPr>
            <p:cNvCxnSpPr/>
            <p:nvPr/>
          </p:nvCxnSpPr>
          <p:spPr>
            <a:xfrm>
              <a:off x="82804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Flow Card 3">
              <a:extLst>
                <a:ext uri="{FF2B5EF4-FFF2-40B4-BE49-F238E27FC236}">
                  <a16:creationId xmlns:a16="http://schemas.microsoft.com/office/drawing/2014/main" id="{1261DD49-AD45-4200-87EA-490B9F95E4ED}"/>
                </a:ext>
              </a:extLst>
            </p:cNvPr>
            <p:cNvSpPr/>
            <p:nvPr/>
          </p:nvSpPr>
          <p:spPr>
            <a:xfrm>
              <a:off x="84582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4" name="Flow Badge 3">
              <a:extLst>
                <a:ext uri="{FF2B5EF4-FFF2-40B4-BE49-F238E27FC236}">
                  <a16:creationId xmlns:a16="http://schemas.microsoft.com/office/drawing/2014/main" id="{2E259E15-A164-4302-B7DA-5C4CCB0D0508}"/>
                </a:ext>
              </a:extLst>
            </p:cNvPr>
            <p:cNvSpPr/>
            <p:nvPr/>
          </p:nvSpPr>
          <p:spPr>
            <a:xfrm>
              <a:off x="90805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5" name="Flow Badge Text 3">
              <a:extLst>
                <a:ext uri="{FF2B5EF4-FFF2-40B4-BE49-F238E27FC236}">
                  <a16:creationId xmlns:a16="http://schemas.microsoft.com/office/drawing/2014/main" id="{ABFF859B-95B8-4E99-A66D-ECB2D193B5E4}"/>
                </a:ext>
              </a:extLst>
            </p:cNvPr>
            <p:cNvSpPr txBox="1"/>
            <p:nvPr/>
          </p:nvSpPr>
          <p:spPr>
            <a:xfrm>
              <a:off x="9080499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76" name="Flow Icon Circle 3">
              <a:extLst>
                <a:ext uri="{FF2B5EF4-FFF2-40B4-BE49-F238E27FC236}">
                  <a16:creationId xmlns:a16="http://schemas.microsoft.com/office/drawing/2014/main" id="{72809646-DF59-426F-BC9D-AB50731493C8}"/>
                </a:ext>
              </a:extLst>
            </p:cNvPr>
            <p:cNvSpPr/>
            <p:nvPr/>
          </p:nvSpPr>
          <p:spPr>
            <a:xfrm>
              <a:off x="88773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8" name="Flow Title 3">
              <a:extLst>
                <a:ext uri="{FF2B5EF4-FFF2-40B4-BE49-F238E27FC236}">
                  <a16:creationId xmlns:a16="http://schemas.microsoft.com/office/drawing/2014/main" id="{70154094-E40F-46CA-9D8E-2B06A435C48E}"/>
                </a:ext>
              </a:extLst>
            </p:cNvPr>
            <p:cNvSpPr txBox="1"/>
            <p:nvPr/>
          </p:nvSpPr>
          <p:spPr>
            <a:xfrm>
              <a:off x="85598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2C35D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Map</a:t>
              </a:r>
              <a:endParaRPr kumimoji="0" lang="en-IN" sz="1300" b="1" u="none" strike="noStrike" kern="1200" cap="none" spc="0" normalizeH="0" baseline="0" noProof="0" dirty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9" name="Flow Body 3">
              <a:extLst>
                <a:ext uri="{FF2B5EF4-FFF2-40B4-BE49-F238E27FC236}">
                  <a16:creationId xmlns:a16="http://schemas.microsoft.com/office/drawing/2014/main" id="{BD258850-9547-4DAD-AFA2-697221B381DA}"/>
                </a:ext>
              </a:extLst>
            </p:cNvPr>
            <p:cNvSpPr txBox="1"/>
            <p:nvPr/>
          </p:nvSpPr>
          <p:spPr>
            <a:xfrm>
              <a:off x="8572501" y="3600211"/>
              <a:ext cx="1371600" cy="1984623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Adobe Tags reads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OneTrust consent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values and maps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them to mParticle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consent purposes</a:t>
              </a:r>
              <a:endParaRPr kumimoji="0" lang="en-IN" sz="850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80" name="Flow Arrow 3">
              <a:extLst>
                <a:ext uri="{FF2B5EF4-FFF2-40B4-BE49-F238E27FC236}">
                  <a16:creationId xmlns:a16="http://schemas.microsoft.com/office/drawing/2014/main" id="{93133BF5-48A3-4AB9-946D-AF7FB31C7C5B}"/>
                </a:ext>
              </a:extLst>
            </p:cNvPr>
            <p:cNvCxnSpPr/>
            <p:nvPr/>
          </p:nvCxnSpPr>
          <p:spPr>
            <a:xfrm>
              <a:off x="100838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Flow Card 4">
              <a:extLst>
                <a:ext uri="{FF2B5EF4-FFF2-40B4-BE49-F238E27FC236}">
                  <a16:creationId xmlns:a16="http://schemas.microsoft.com/office/drawing/2014/main" id="{0E98FE19-70A3-429B-811D-99CF34EA625A}"/>
                </a:ext>
              </a:extLst>
            </p:cNvPr>
            <p:cNvSpPr/>
            <p:nvPr/>
          </p:nvSpPr>
          <p:spPr>
            <a:xfrm>
              <a:off x="102616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2" name="Flow Badge 4">
              <a:extLst>
                <a:ext uri="{FF2B5EF4-FFF2-40B4-BE49-F238E27FC236}">
                  <a16:creationId xmlns:a16="http://schemas.microsoft.com/office/drawing/2014/main" id="{E3E16296-C0EA-4C41-9732-49A8A3FB4A70}"/>
                </a:ext>
              </a:extLst>
            </p:cNvPr>
            <p:cNvSpPr/>
            <p:nvPr/>
          </p:nvSpPr>
          <p:spPr>
            <a:xfrm>
              <a:off x="108839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3" name="Flow Badge Text 4">
              <a:extLst>
                <a:ext uri="{FF2B5EF4-FFF2-40B4-BE49-F238E27FC236}">
                  <a16:creationId xmlns:a16="http://schemas.microsoft.com/office/drawing/2014/main" id="{E66069A7-6999-4355-BADB-ED6DAD8444BC}"/>
                </a:ext>
              </a:extLst>
            </p:cNvPr>
            <p:cNvSpPr txBox="1"/>
            <p:nvPr/>
          </p:nvSpPr>
          <p:spPr>
            <a:xfrm>
              <a:off x="10883900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</a:t>
              </a:r>
              <a:endParaRPr kumimoji="0" lang="en-IN" sz="1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4" name="Flow Icon Circle 4">
              <a:extLst>
                <a:ext uri="{FF2B5EF4-FFF2-40B4-BE49-F238E27FC236}">
                  <a16:creationId xmlns:a16="http://schemas.microsoft.com/office/drawing/2014/main" id="{631C3979-B90C-4313-816E-4BB622C2FF9F}"/>
                </a:ext>
              </a:extLst>
            </p:cNvPr>
            <p:cNvSpPr/>
            <p:nvPr/>
          </p:nvSpPr>
          <p:spPr>
            <a:xfrm>
              <a:off x="106807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6" name="Flow Title 4">
              <a:extLst>
                <a:ext uri="{FF2B5EF4-FFF2-40B4-BE49-F238E27FC236}">
                  <a16:creationId xmlns:a16="http://schemas.microsoft.com/office/drawing/2014/main" id="{700531C8-8BA1-4B5D-896A-B9470D274D22}"/>
                </a:ext>
              </a:extLst>
            </p:cNvPr>
            <p:cNvSpPr txBox="1"/>
            <p:nvPr/>
          </p:nvSpPr>
          <p:spPr>
            <a:xfrm>
              <a:off x="103632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2C35D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Set State</a:t>
              </a:r>
              <a:endParaRPr kumimoji="0" lang="en-IN" sz="1300" b="1" u="none" strike="noStrike" kern="1200" cap="none" spc="0" normalizeH="0" baseline="0" noProof="0" dirty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7" name="Flow Body 4">
              <a:extLst>
                <a:ext uri="{FF2B5EF4-FFF2-40B4-BE49-F238E27FC236}">
                  <a16:creationId xmlns:a16="http://schemas.microsoft.com/office/drawing/2014/main" id="{D065C13A-58F9-43F6-A601-3A9F867E61D0}"/>
                </a:ext>
              </a:extLst>
            </p:cNvPr>
            <p:cNvSpPr txBox="1"/>
            <p:nvPr/>
          </p:nvSpPr>
          <p:spPr>
            <a:xfrm>
              <a:off x="10375900" y="3600211"/>
              <a:ext cx="1371600" cy="1771984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mParticle Consent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State API updates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GDPR/CCPA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consent state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against the profile</a:t>
              </a:r>
              <a:endParaRPr kumimoji="0" lang="en-IN" sz="800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88" name="Flow Arrow 4">
              <a:extLst>
                <a:ext uri="{FF2B5EF4-FFF2-40B4-BE49-F238E27FC236}">
                  <a16:creationId xmlns:a16="http://schemas.microsoft.com/office/drawing/2014/main" id="{D6AA9DF1-E242-455D-BFD9-FA2C0D148C57}"/>
                </a:ext>
              </a:extLst>
            </p:cNvPr>
            <p:cNvCxnSpPr/>
            <p:nvPr/>
          </p:nvCxnSpPr>
          <p:spPr>
            <a:xfrm>
              <a:off x="118872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Flow Card 5">
              <a:extLst>
                <a:ext uri="{FF2B5EF4-FFF2-40B4-BE49-F238E27FC236}">
                  <a16:creationId xmlns:a16="http://schemas.microsoft.com/office/drawing/2014/main" id="{EE054984-3DF7-4305-A427-616751587A3D}"/>
                </a:ext>
              </a:extLst>
            </p:cNvPr>
            <p:cNvSpPr/>
            <p:nvPr/>
          </p:nvSpPr>
          <p:spPr>
            <a:xfrm>
              <a:off x="120650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0" name="Flow Badge 5">
              <a:extLst>
                <a:ext uri="{FF2B5EF4-FFF2-40B4-BE49-F238E27FC236}">
                  <a16:creationId xmlns:a16="http://schemas.microsoft.com/office/drawing/2014/main" id="{9EA32569-9ECA-4969-B271-430D13B483C2}"/>
                </a:ext>
              </a:extLst>
            </p:cNvPr>
            <p:cNvSpPr/>
            <p:nvPr/>
          </p:nvSpPr>
          <p:spPr>
            <a:xfrm>
              <a:off x="126873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1" name="Flow Badge Text 5">
              <a:extLst>
                <a:ext uri="{FF2B5EF4-FFF2-40B4-BE49-F238E27FC236}">
                  <a16:creationId xmlns:a16="http://schemas.microsoft.com/office/drawing/2014/main" id="{6A347994-2F26-44FB-A77F-6E4D26BA21CC}"/>
                </a:ext>
              </a:extLst>
            </p:cNvPr>
            <p:cNvSpPr txBox="1"/>
            <p:nvPr/>
          </p:nvSpPr>
          <p:spPr>
            <a:xfrm>
              <a:off x="12699492" y="1845051"/>
              <a:ext cx="333756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5</a:t>
              </a:r>
              <a:endParaRPr kumimoji="0" lang="en-IN" sz="1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2" name="Flow Icon Circle 5">
              <a:extLst>
                <a:ext uri="{FF2B5EF4-FFF2-40B4-BE49-F238E27FC236}">
                  <a16:creationId xmlns:a16="http://schemas.microsoft.com/office/drawing/2014/main" id="{B1A6238A-61EB-49F3-B1C8-344B802EEB7E}"/>
                </a:ext>
              </a:extLst>
            </p:cNvPr>
            <p:cNvSpPr/>
            <p:nvPr/>
          </p:nvSpPr>
          <p:spPr>
            <a:xfrm>
              <a:off x="124841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4" name="Flow Title 5">
              <a:extLst>
                <a:ext uri="{FF2B5EF4-FFF2-40B4-BE49-F238E27FC236}">
                  <a16:creationId xmlns:a16="http://schemas.microsoft.com/office/drawing/2014/main" id="{C94B1930-0729-4AF3-B5D4-4C1752078177}"/>
                </a:ext>
              </a:extLst>
            </p:cNvPr>
            <p:cNvSpPr txBox="1"/>
            <p:nvPr/>
          </p:nvSpPr>
          <p:spPr>
            <a:xfrm>
              <a:off x="121666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2C35D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Enforce</a:t>
              </a:r>
            </a:p>
          </p:txBody>
        </p:sp>
        <p:sp>
          <p:nvSpPr>
            <p:cNvPr id="195" name="Flow Body 5">
              <a:extLst>
                <a:ext uri="{FF2B5EF4-FFF2-40B4-BE49-F238E27FC236}">
                  <a16:creationId xmlns:a16="http://schemas.microsoft.com/office/drawing/2014/main" id="{9C8E053E-C7DD-4D4B-B446-8E2F5CBBA63D}"/>
                </a:ext>
              </a:extLst>
            </p:cNvPr>
            <p:cNvSpPr txBox="1"/>
            <p:nvPr/>
          </p:nvSpPr>
          <p:spPr>
            <a:xfrm>
              <a:off x="12199535" y="3600209"/>
              <a:ext cx="1371600" cy="1771984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Consent Forwarding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Rules control which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outputs can receive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data for each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purpose</a:t>
              </a:r>
              <a:endParaRPr kumimoji="0" lang="en-IN" sz="850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96" name="Flow Arrow 5">
              <a:extLst>
                <a:ext uri="{FF2B5EF4-FFF2-40B4-BE49-F238E27FC236}">
                  <a16:creationId xmlns:a16="http://schemas.microsoft.com/office/drawing/2014/main" id="{424BB0BE-59F6-449D-99C6-F5972E3AD5DD}"/>
                </a:ext>
              </a:extLst>
            </p:cNvPr>
            <p:cNvCxnSpPr/>
            <p:nvPr/>
          </p:nvCxnSpPr>
          <p:spPr>
            <a:xfrm>
              <a:off x="136906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Flow Card 6">
              <a:extLst>
                <a:ext uri="{FF2B5EF4-FFF2-40B4-BE49-F238E27FC236}">
                  <a16:creationId xmlns:a16="http://schemas.microsoft.com/office/drawing/2014/main" id="{2A5F4E49-AE55-4E9F-819F-74960B89681D}"/>
                </a:ext>
              </a:extLst>
            </p:cNvPr>
            <p:cNvSpPr/>
            <p:nvPr/>
          </p:nvSpPr>
          <p:spPr>
            <a:xfrm>
              <a:off x="138684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8" name="Flow Badge 6">
              <a:extLst>
                <a:ext uri="{FF2B5EF4-FFF2-40B4-BE49-F238E27FC236}">
                  <a16:creationId xmlns:a16="http://schemas.microsoft.com/office/drawing/2014/main" id="{B03EECFA-1482-42AA-BE11-FCFA710F1883}"/>
                </a:ext>
              </a:extLst>
            </p:cNvPr>
            <p:cNvSpPr/>
            <p:nvPr/>
          </p:nvSpPr>
          <p:spPr>
            <a:xfrm>
              <a:off x="14502892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9" name="Flow Badge Text 6">
              <a:extLst>
                <a:ext uri="{FF2B5EF4-FFF2-40B4-BE49-F238E27FC236}">
                  <a16:creationId xmlns:a16="http://schemas.microsoft.com/office/drawing/2014/main" id="{DEE23F13-1E93-4898-A4F3-0E22CACFFE38}"/>
                </a:ext>
              </a:extLst>
            </p:cNvPr>
            <p:cNvSpPr txBox="1"/>
            <p:nvPr/>
          </p:nvSpPr>
          <p:spPr>
            <a:xfrm>
              <a:off x="14502891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6</a:t>
              </a:r>
              <a:endParaRPr kumimoji="0" lang="en-IN" sz="1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0" name="Flow Icon Circle 6">
              <a:extLst>
                <a:ext uri="{FF2B5EF4-FFF2-40B4-BE49-F238E27FC236}">
                  <a16:creationId xmlns:a16="http://schemas.microsoft.com/office/drawing/2014/main" id="{D340A626-59B0-407B-BEE3-706012064D1A}"/>
                </a:ext>
              </a:extLst>
            </p:cNvPr>
            <p:cNvSpPr/>
            <p:nvPr/>
          </p:nvSpPr>
          <p:spPr>
            <a:xfrm>
              <a:off x="142875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2" name="Flow Title 6">
              <a:extLst>
                <a:ext uri="{FF2B5EF4-FFF2-40B4-BE49-F238E27FC236}">
                  <a16:creationId xmlns:a16="http://schemas.microsoft.com/office/drawing/2014/main" id="{6FEDE2D1-5BB0-448D-8AE0-DFD778AD384F}"/>
                </a:ext>
              </a:extLst>
            </p:cNvPr>
            <p:cNvSpPr txBox="1"/>
            <p:nvPr/>
          </p:nvSpPr>
          <p:spPr>
            <a:xfrm>
              <a:off x="139700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2C35D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Activate</a:t>
              </a:r>
            </a:p>
          </p:txBody>
        </p:sp>
        <p:sp>
          <p:nvSpPr>
            <p:cNvPr id="203" name="Flow Body 6">
              <a:extLst>
                <a:ext uri="{FF2B5EF4-FFF2-40B4-BE49-F238E27FC236}">
                  <a16:creationId xmlns:a16="http://schemas.microsoft.com/office/drawing/2014/main" id="{5FADBF32-4DCD-487F-9220-5486862FEC65}"/>
                </a:ext>
              </a:extLst>
            </p:cNvPr>
            <p:cNvSpPr txBox="1"/>
            <p:nvPr/>
          </p:nvSpPr>
          <p:spPr>
            <a:xfrm>
              <a:off x="13982700" y="3600209"/>
              <a:ext cx="1371600" cy="1559346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Only consent-eligible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audiences and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integrations receive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data through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mParticle outputs</a:t>
              </a:r>
              <a:endParaRPr kumimoji="0" lang="en-IN" sz="820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204" name="Optimization Loop Down">
              <a:extLst>
                <a:ext uri="{FF2B5EF4-FFF2-40B4-BE49-F238E27FC236}">
                  <a16:creationId xmlns:a16="http://schemas.microsoft.com/office/drawing/2014/main" id="{C6317102-F0C3-4F3B-8848-0284A4964DBF}"/>
                </a:ext>
              </a:extLst>
            </p:cNvPr>
            <p:cNvCxnSpPr/>
            <p:nvPr/>
          </p:nvCxnSpPr>
          <p:spPr>
            <a:xfrm>
              <a:off x="14668500" y="4965700"/>
              <a:ext cx="0" cy="330200"/>
            </a:xfrm>
            <a:prstGeom prst="line">
              <a:avLst/>
            </a:prstGeom>
            <a:ln w="19050">
              <a:solidFill>
                <a:srgbClr val="06264A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Optimization Loop Return">
              <a:extLst>
                <a:ext uri="{FF2B5EF4-FFF2-40B4-BE49-F238E27FC236}">
                  <a16:creationId xmlns:a16="http://schemas.microsoft.com/office/drawing/2014/main" id="{AF54A469-6CEF-4A29-8C34-80B0D8911C79}"/>
                </a:ext>
              </a:extLst>
            </p:cNvPr>
            <p:cNvCxnSpPr/>
            <p:nvPr/>
          </p:nvCxnSpPr>
          <p:spPr>
            <a:xfrm flipH="1">
              <a:off x="5651500" y="5295900"/>
              <a:ext cx="9017000" cy="0"/>
            </a:xfrm>
            <a:prstGeom prst="line">
              <a:avLst/>
            </a:prstGeom>
            <a:ln w="19050">
              <a:solidFill>
                <a:srgbClr val="06264A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Optimization Loop Up">
              <a:extLst>
                <a:ext uri="{FF2B5EF4-FFF2-40B4-BE49-F238E27FC236}">
                  <a16:creationId xmlns:a16="http://schemas.microsoft.com/office/drawing/2014/main" id="{7F46CE3E-8241-475E-A185-7A2CE63ABFB4}"/>
                </a:ext>
              </a:extLst>
            </p:cNvPr>
            <p:cNvCxnSpPr/>
            <p:nvPr/>
          </p:nvCxnSpPr>
          <p:spPr>
            <a:xfrm flipV="1">
              <a:off x="5651500" y="4978400"/>
              <a:ext cx="0" cy="317500"/>
            </a:xfrm>
            <a:prstGeom prst="line">
              <a:avLst/>
            </a:prstGeom>
            <a:ln w="1905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9" name="Solution Caption">
            <a:extLst>
              <a:ext uri="{FF2B5EF4-FFF2-40B4-BE49-F238E27FC236}">
                <a16:creationId xmlns:a16="http://schemas.microsoft.com/office/drawing/2014/main" id="{2D983593-56BC-4FF5-9D1F-567797E84BD9}"/>
              </a:ext>
            </a:extLst>
          </p:cNvPr>
          <p:cNvSpPr txBox="1"/>
          <p:nvPr/>
        </p:nvSpPr>
        <p:spPr>
          <a:xfrm>
            <a:off x="3708399" y="4208190"/>
            <a:ext cx="7937500" cy="384721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Consent forwarding rules must be configured for every mParticle output to prevent data from being shared without the required user consent.</a:t>
            </a:r>
            <a:endParaRPr kumimoji="0" lang="en-IN" sz="840" i="1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6" name="Benefit Card 1">
            <a:extLst>
              <a:ext uri="{FF2B5EF4-FFF2-40B4-BE49-F238E27FC236}">
                <a16:creationId xmlns:a16="http://schemas.microsoft.com/office/drawing/2014/main" id="{A4AEE9E7-F637-40E9-905E-5E957F81F776}"/>
              </a:ext>
            </a:extLst>
          </p:cNvPr>
          <p:cNvSpPr/>
          <p:nvPr/>
        </p:nvSpPr>
        <p:spPr>
          <a:xfrm>
            <a:off x="3853245" y="5033077"/>
            <a:ext cx="2373483" cy="1249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2" name="Benefit Card 2">
            <a:extLst>
              <a:ext uri="{FF2B5EF4-FFF2-40B4-BE49-F238E27FC236}">
                <a16:creationId xmlns:a16="http://schemas.microsoft.com/office/drawing/2014/main" id="{EE1B028A-638B-4D61-A8C1-002ED3777874}"/>
              </a:ext>
            </a:extLst>
          </p:cNvPr>
          <p:cNvSpPr/>
          <p:nvPr/>
        </p:nvSpPr>
        <p:spPr>
          <a:xfrm>
            <a:off x="6299836" y="5033077"/>
            <a:ext cx="2629973" cy="1249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8" name="Benefit Card 3">
            <a:extLst>
              <a:ext uri="{FF2B5EF4-FFF2-40B4-BE49-F238E27FC236}">
                <a16:creationId xmlns:a16="http://schemas.microsoft.com/office/drawing/2014/main" id="{19642EBC-FDC8-49DB-8B00-D262E1362B7C}"/>
              </a:ext>
            </a:extLst>
          </p:cNvPr>
          <p:cNvSpPr/>
          <p:nvPr/>
        </p:nvSpPr>
        <p:spPr>
          <a:xfrm>
            <a:off x="8963675" y="5033374"/>
            <a:ext cx="2285142" cy="1249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3" name="Icon - clipboard_event">
            <a:extLst>
              <a:ext uri="{FF2B5EF4-FFF2-40B4-BE49-F238E27FC236}">
                <a16:creationId xmlns:a16="http://schemas.microsoft.com/office/drawing/2014/main" id="{2A56DFE2-994A-ABF9-6594-5E8E8A467BE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64817" y="1895341"/>
            <a:ext cx="381000" cy="381000"/>
          </a:xfrm>
          <a:prstGeom prst="rect">
            <a:avLst/>
          </a:prstGeom>
        </p:spPr>
      </p:pic>
      <p:pic>
        <p:nvPicPr>
          <p:cNvPr id="18" name="Icon - database_check">
            <a:extLst>
              <a:ext uri="{FF2B5EF4-FFF2-40B4-BE49-F238E27FC236}">
                <a16:creationId xmlns:a16="http://schemas.microsoft.com/office/drawing/2014/main" id="{D5206996-34C1-6A2C-BF69-49A1EE32C19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8493" y="1895341"/>
            <a:ext cx="381000" cy="381000"/>
          </a:xfrm>
          <a:prstGeom prst="rect">
            <a:avLst/>
          </a:prstGeom>
        </p:spPr>
      </p:pic>
      <p:pic>
        <p:nvPicPr>
          <p:cNvPr id="23" name="Icon - paper_plane">
            <a:extLst>
              <a:ext uri="{FF2B5EF4-FFF2-40B4-BE49-F238E27FC236}">
                <a16:creationId xmlns:a16="http://schemas.microsoft.com/office/drawing/2014/main" id="{7FAB88B5-7A8D-0307-5A75-F3ABFA5A138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2171" y="1895341"/>
            <a:ext cx="381000" cy="381000"/>
          </a:xfrm>
          <a:prstGeom prst="rect">
            <a:avLst/>
          </a:prstGeom>
        </p:spPr>
      </p:pic>
      <p:sp>
        <p:nvSpPr>
          <p:cNvPr id="208" name="Optimization Loop Label">
            <a:extLst>
              <a:ext uri="{FF2B5EF4-FFF2-40B4-BE49-F238E27FC236}">
                <a16:creationId xmlns:a16="http://schemas.microsoft.com/office/drawing/2014/main" id="{4F9D16D0-FD70-469D-B318-AE4CFE26E4F1}"/>
              </a:ext>
            </a:extLst>
          </p:cNvPr>
          <p:cNvSpPr txBox="1"/>
          <p:nvPr/>
        </p:nvSpPr>
        <p:spPr>
          <a:xfrm>
            <a:off x="4597399" y="3783226"/>
            <a:ext cx="642620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Purpose-based consent enforcement across mParticle audiences and downstream integrations</a:t>
            </a:r>
            <a:endParaRPr kumimoji="0" lang="en-IN" sz="860" b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Benefit Icon Circle - identity_graph">
            <a:extLst>
              <a:ext uri="{FF2B5EF4-FFF2-40B4-BE49-F238E27FC236}">
                <a16:creationId xmlns:a16="http://schemas.microsoft.com/office/drawing/2014/main" id="{FA90BEF6-3719-4E14-57BB-BBC448D76822}"/>
              </a:ext>
            </a:extLst>
          </p:cNvPr>
          <p:cNvSpPr/>
          <p:nvPr/>
        </p:nvSpPr>
        <p:spPr>
          <a:xfrm>
            <a:off x="6527800" y="5283200"/>
            <a:ext cx="660400" cy="660400"/>
          </a:xfrm>
          <a:prstGeom prst="ellipse">
            <a:avLst/>
          </a:prstGeom>
          <a:solidFill>
            <a:srgbClr val="EE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Benefit Icon Circle - report_shield">
            <a:extLst>
              <a:ext uri="{FF2B5EF4-FFF2-40B4-BE49-F238E27FC236}">
                <a16:creationId xmlns:a16="http://schemas.microsoft.com/office/drawing/2014/main" id="{973386DD-A598-6D6E-1D53-BA38684E7559}"/>
              </a:ext>
            </a:extLst>
          </p:cNvPr>
          <p:cNvSpPr/>
          <p:nvPr/>
        </p:nvSpPr>
        <p:spPr>
          <a:xfrm>
            <a:off x="9194800" y="5283200"/>
            <a:ext cx="660400" cy="660400"/>
          </a:xfrm>
          <a:prstGeom prst="ellipse">
            <a:avLst/>
          </a:prstGeom>
          <a:solidFill>
            <a:srgbClr val="EE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Benefit Icon Circle - sliders">
            <a:extLst>
              <a:ext uri="{FF2B5EF4-FFF2-40B4-BE49-F238E27FC236}">
                <a16:creationId xmlns:a16="http://schemas.microsoft.com/office/drawing/2014/main" id="{1367EAB1-316A-433C-B629-54F9DF2EBB0E}"/>
              </a:ext>
            </a:extLst>
          </p:cNvPr>
          <p:cNvSpPr/>
          <p:nvPr/>
        </p:nvSpPr>
        <p:spPr>
          <a:xfrm>
            <a:off x="3987800" y="5283200"/>
            <a:ext cx="660400" cy="660400"/>
          </a:xfrm>
          <a:prstGeom prst="ellipse">
            <a:avLst/>
          </a:prstGeom>
          <a:solidFill>
            <a:srgbClr val="EE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Icon - tag_map">
            <a:extLst>
              <a:ext uri="{FF2B5EF4-FFF2-40B4-BE49-F238E27FC236}">
                <a16:creationId xmlns:a16="http://schemas.microsoft.com/office/drawing/2014/main" id="{CB510A44-FC6B-185B-8570-C63EAEEA832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6655" y="1895341"/>
            <a:ext cx="381000" cy="381000"/>
          </a:xfrm>
          <a:prstGeom prst="rect">
            <a:avLst/>
          </a:prstGeom>
        </p:spPr>
      </p:pic>
      <p:pic>
        <p:nvPicPr>
          <p:cNvPr id="26" name="Icon - sliders">
            <a:extLst>
              <a:ext uri="{FF2B5EF4-FFF2-40B4-BE49-F238E27FC236}">
                <a16:creationId xmlns:a16="http://schemas.microsoft.com/office/drawing/2014/main" id="{3A51CC03-F8C2-F685-10A1-6CBD48CF26A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89400" y="5384800"/>
            <a:ext cx="457200" cy="457200"/>
          </a:xfrm>
          <a:prstGeom prst="rect">
            <a:avLst/>
          </a:prstGeom>
        </p:spPr>
      </p:pic>
      <p:pic>
        <p:nvPicPr>
          <p:cNvPr id="32" name="Icon - report_shield">
            <a:extLst>
              <a:ext uri="{FF2B5EF4-FFF2-40B4-BE49-F238E27FC236}">
                <a16:creationId xmlns:a16="http://schemas.microsoft.com/office/drawing/2014/main" id="{012F9895-FFDB-89B7-AE8E-C76DD4E94A7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96400" y="5384800"/>
            <a:ext cx="457200" cy="457200"/>
          </a:xfrm>
          <a:prstGeom prst="rect">
            <a:avLst/>
          </a:prstGeom>
        </p:spPr>
      </p:pic>
      <p:pic>
        <p:nvPicPr>
          <p:cNvPr id="20" name="Icon - shield_check">
            <a:extLst>
              <a:ext uri="{FF2B5EF4-FFF2-40B4-BE49-F238E27FC236}">
                <a16:creationId xmlns:a16="http://schemas.microsoft.com/office/drawing/2014/main" id="{CBBEC5BA-FD3F-567D-4DEA-A66C47A24A1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0331" y="1895341"/>
            <a:ext cx="381000" cy="381000"/>
          </a:xfrm>
          <a:prstGeom prst="rect">
            <a:avLst/>
          </a:prstGeom>
        </p:spPr>
      </p:pic>
      <p:pic>
        <p:nvPicPr>
          <p:cNvPr id="7" name="Icon - user_consent">
            <a:extLst>
              <a:ext uri="{FF2B5EF4-FFF2-40B4-BE49-F238E27FC236}">
                <a16:creationId xmlns:a16="http://schemas.microsoft.com/office/drawing/2014/main" id="{D80F2226-631D-C742-9247-D45C92A39E6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42978" y="1895341"/>
            <a:ext cx="381000" cy="381000"/>
          </a:xfrm>
          <a:prstGeom prst="rect">
            <a:avLst/>
          </a:prstGeom>
        </p:spPr>
      </p:pic>
      <p:pic>
        <p:nvPicPr>
          <p:cNvPr id="29" name="Icon - identity_graph">
            <a:extLst>
              <a:ext uri="{FF2B5EF4-FFF2-40B4-BE49-F238E27FC236}">
                <a16:creationId xmlns:a16="http://schemas.microsoft.com/office/drawing/2014/main" id="{083A7190-40D3-975A-E4C0-B783BBAF7EB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29400" y="5384800"/>
            <a:ext cx="457200" cy="457200"/>
          </a:xfrm>
          <a:prstGeom prst="rect">
            <a:avLst/>
          </a:prstGeom>
        </p:spPr>
      </p:pic>
      <p:sp>
        <p:nvSpPr>
          <p:cNvPr id="239" name="Benefit Metric 1">
            <a:extLst>
              <a:ext uri="{FF2B5EF4-FFF2-40B4-BE49-F238E27FC236}">
                <a16:creationId xmlns:a16="http://schemas.microsoft.com/office/drawing/2014/main" id="{0D5D0982-65E2-463C-A217-9C29D677C452}"/>
              </a:ext>
            </a:extLst>
          </p:cNvPr>
          <p:cNvSpPr txBox="1"/>
          <p:nvPr/>
        </p:nvSpPr>
        <p:spPr>
          <a:xfrm>
            <a:off x="4737099" y="5168900"/>
            <a:ext cx="1422400" cy="406400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30" b="1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Controlled Data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30" b="1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Activation</a:t>
            </a:r>
            <a:endParaRPr kumimoji="0" lang="en-IN" sz="930" b="1" u="none" strike="noStrike" kern="1200" cap="none" spc="0" normalizeH="0" baseline="0" noProof="0" dirty="0">
              <a:ln>
                <a:noFill/>
              </a:ln>
              <a:solidFill>
                <a:srgbClr val="0B0E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" name="Benefit Metric 2">
            <a:extLst>
              <a:ext uri="{FF2B5EF4-FFF2-40B4-BE49-F238E27FC236}">
                <a16:creationId xmlns:a16="http://schemas.microsoft.com/office/drawing/2014/main" id="{83BC6B32-44D8-4938-8E15-54D77BB16BDC}"/>
              </a:ext>
            </a:extLst>
          </p:cNvPr>
          <p:cNvSpPr txBox="1"/>
          <p:nvPr/>
        </p:nvSpPr>
        <p:spPr>
          <a:xfrm>
            <a:off x="7289800" y="5168900"/>
            <a:ext cx="1498600" cy="40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63500" tIns="38100" rIns="63500" bIns="3810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60" b="1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Cross-Channel Consent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60" b="1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Consistency</a:t>
            </a:r>
            <a:endParaRPr kumimoji="0" lang="en-IN" sz="860" b="1" u="none" strike="noStrike" kern="1200" cap="none" spc="0" normalizeH="0" baseline="0" noProof="0" dirty="0">
              <a:ln>
                <a:noFill/>
              </a:ln>
              <a:solidFill>
                <a:srgbClr val="0B0E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1" name="Benefit Metric 3">
            <a:extLst>
              <a:ext uri="{FF2B5EF4-FFF2-40B4-BE49-F238E27FC236}">
                <a16:creationId xmlns:a16="http://schemas.microsoft.com/office/drawing/2014/main" id="{EEA5A933-E2B6-47F7-BA50-6E4974832930}"/>
              </a:ext>
            </a:extLst>
          </p:cNvPr>
          <p:cNvSpPr txBox="1"/>
          <p:nvPr/>
        </p:nvSpPr>
        <p:spPr>
          <a:xfrm>
            <a:off x="9931400" y="5168900"/>
            <a:ext cx="1270000" cy="406400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30" b="1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Stronger Privacy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30" b="1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Governance</a:t>
            </a:r>
            <a:endParaRPr kumimoji="0" lang="en-IN" sz="930" b="1" u="none" strike="noStrike" kern="1200" cap="none" spc="0" normalizeH="0" baseline="0" noProof="0" dirty="0">
              <a:ln>
                <a:noFill/>
              </a:ln>
              <a:solidFill>
                <a:srgbClr val="0B0E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04CFAD-5B46-4E10-85E4-272867250FF3}"/>
              </a:ext>
            </a:extLst>
          </p:cNvPr>
          <p:cNvSpPr txBox="1"/>
          <p:nvPr/>
        </p:nvSpPr>
        <p:spPr>
          <a:xfrm>
            <a:off x="4737100" y="5626100"/>
            <a:ext cx="1422400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Ensures audience and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integration activation is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governed by user consent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preferences</a:t>
            </a:r>
            <a:endParaRPr kumimoji="0" lang="en-IN" sz="78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E604F00-9B0F-4C7C-A279-C53C6C5C46BA}"/>
              </a:ext>
            </a:extLst>
          </p:cNvPr>
          <p:cNvSpPr txBox="1"/>
          <p:nvPr/>
        </p:nvSpPr>
        <p:spPr>
          <a:xfrm>
            <a:off x="7289800" y="5600700"/>
            <a:ext cx="1549400" cy="660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1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Maintains consent state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1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across web, app, and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1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server-side flows using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1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mParticle identity and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1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consent APIs</a:t>
            </a:r>
            <a:endParaRPr kumimoji="0" lang="en-IN" sz="71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FBFFEBA-7D6D-4331-AE06-A2D0AEF13411}"/>
              </a:ext>
            </a:extLst>
          </p:cNvPr>
          <p:cNvSpPr txBox="1"/>
          <p:nvPr/>
        </p:nvSpPr>
        <p:spPr>
          <a:xfrm>
            <a:off x="9931400" y="5626100"/>
            <a:ext cx="1320800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Reduces downstream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compliance risk by enforcing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consent rules at the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mParticle output level</a:t>
            </a:r>
            <a:endParaRPr kumimoji="0" lang="en-IN" sz="74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8368352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801392-319D-44E9-B4F2-59D5EE0E48B4}"/>
              </a:ext>
            </a:extLst>
          </p:cNvPr>
          <p:cNvSpPr/>
          <p:nvPr/>
        </p:nvSpPr>
        <p:spPr>
          <a:xfrm>
            <a:off x="3354672" y="913772"/>
            <a:ext cx="8658567" cy="359461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77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9C331C-CC1E-4325-8026-EE0129F78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C98B77-332E-004E-BD2A-A6DBBD4442FD}" type="slidenum">
              <a:rPr kumimoji="0" lang="sv-S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sv-S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EB1CF-8656-4969-A45E-64364A31DC03}"/>
              </a:ext>
            </a:extLst>
          </p:cNvPr>
          <p:cNvSpPr/>
          <p:nvPr/>
        </p:nvSpPr>
        <p:spPr>
          <a:xfrm>
            <a:off x="382093" y="914400"/>
            <a:ext cx="2807491" cy="55881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D0393-ECDD-4C4C-8754-EC549620B290}"/>
              </a:ext>
            </a:extLst>
          </p:cNvPr>
          <p:cNvSpPr txBox="1"/>
          <p:nvPr/>
        </p:nvSpPr>
        <p:spPr>
          <a:xfrm>
            <a:off x="417240" y="1037401"/>
            <a:ext cx="268888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3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Business Context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2C35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A8843-6FDF-413C-B81D-1E05DA449E1D}"/>
              </a:ext>
            </a:extLst>
          </p:cNvPr>
          <p:cNvSpPr txBox="1"/>
          <p:nvPr/>
        </p:nvSpPr>
        <p:spPr>
          <a:xfrm>
            <a:off x="382093" y="3333722"/>
            <a:ext cx="268888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3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Business Challenges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2C35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34854-D71F-4D82-A796-7D8990EAC131}"/>
              </a:ext>
            </a:extLst>
          </p:cNvPr>
          <p:cNvSpPr txBox="1"/>
          <p:nvPr/>
        </p:nvSpPr>
        <p:spPr>
          <a:xfrm>
            <a:off x="373557" y="1392836"/>
            <a:ext cx="2807088" cy="1858667"/>
          </a:xfrm>
          <a:prstGeom prst="rect">
            <a:avLst/>
          </a:prstGeom>
          <a:noFill/>
        </p:spPr>
        <p:txBody>
          <a:bodyPr wrap="square" lIns="71994" tIns="0" rIns="71994" bIns="0" rtlCol="0">
            <a:noAutofit/>
          </a:bodyPr>
          <a:lstStyle/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25" b="0" i="0" u="none" strike="noStrike" kern="1200" cap="none" spc="0" normalizeH="0" baseline="0" noProof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 digital client needs a compliant process to handle Data Subject Requests, especially right-to-erasure requests, across customer data platforms and downstream activation tools.</a:t>
            </a:r>
          </a:p>
          <a:p>
            <a:pPr marR="0" lvl="0" defTabSz="914400" rtl="0" eaLnBrk="1" fontAlgn="auto" latinLnBrk="0" hangingPunct="1">
              <a:buClrTx/>
              <a:buSzTx/>
              <a:tabLst/>
              <a:defRPr/>
            </a:pPr>
            <a:endParaRPr kumimoji="0" lang="en-US" sz="925" b="0" i="0" u="none" strike="noStrike" kern="1200" cap="none" spc="0" normalizeH="0" baseline="0" noProof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25" b="0" i="0" u="none" strike="noStrike" kern="1200" cap="none" spc="0" normalizeH="0" baseline="0" noProof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When consent is withdrawn or deletion is requested, personal data collected under that consent must be removed within the regulatory timeline, with clear evidence retained for audit and ICO compliance.</a:t>
            </a:r>
            <a:endParaRPr kumimoji="0" lang="en-US" sz="925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E7D527-9F89-40C3-8562-49284B4B8465}"/>
              </a:ext>
            </a:extLst>
          </p:cNvPr>
          <p:cNvSpPr txBox="1"/>
          <p:nvPr/>
        </p:nvSpPr>
        <p:spPr>
          <a:xfrm>
            <a:off x="367337" y="3754495"/>
            <a:ext cx="2834069" cy="2519925"/>
          </a:xfrm>
          <a:prstGeom prst="rect">
            <a:avLst/>
          </a:prstGeom>
          <a:noFill/>
        </p:spPr>
        <p:txBody>
          <a:bodyPr wrap="square" lIns="71994" tIns="0" rIns="71994" bIns="0" rtlCol="0">
            <a:noAutofit/>
          </a:bodyPr>
          <a:lstStyle/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45" b="0" i="0" u="none" strike="noStrike" kern="1200" cap="none" spc="0" normalizeH="0" baseline="0" noProof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DSR requests must be processed across multiple systems such as AEP/RTCDP, mParticle, profile stores, data lakes, audiences, and downstream outputs.</a:t>
            </a:r>
          </a:p>
          <a:p>
            <a:pPr marR="0" lvl="0" defTabSz="914400" rtl="0" eaLnBrk="1" fontAlgn="auto" latinLnBrk="0" hangingPunct="1">
              <a:buClrTx/>
              <a:buSzTx/>
              <a:tabLst/>
              <a:defRPr/>
            </a:pPr>
            <a:endParaRPr kumimoji="0" lang="en-US" sz="845" b="0" i="0" u="none" strike="noStrike" kern="1200" cap="none" spc="0" normalizeH="0" baseline="0" noProof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45" b="0" i="0" u="none" strike="noStrike" kern="1200" cap="none" spc="0" normalizeH="0" baseline="0" noProof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Identity matching can be complex because user records may be linked through ECID, email, MPID, or other identity namespaces.</a:t>
            </a:r>
          </a:p>
          <a:p>
            <a:pPr marR="0" lvl="0" defTabSz="914400" rtl="0" eaLnBrk="1" fontAlgn="auto" latinLnBrk="0" hangingPunct="1">
              <a:buClrTx/>
              <a:buSzTx/>
              <a:tabLst/>
              <a:defRPr/>
            </a:pPr>
            <a:endParaRPr kumimoji="0" lang="en-US" sz="845" b="0" i="0" u="none" strike="noStrike" kern="1200" cap="none" spc="0" normalizeH="0" baseline="0" noProof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45" b="0" i="0" u="none" strike="noStrike" kern="1200" cap="none" spc="0" normalizeH="0" baseline="0" noProof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Deletion must cover profile data, event history, audience membership, destination forwarding, and downstream suppression logic.</a:t>
            </a:r>
          </a:p>
          <a:p>
            <a:pPr marR="0" lvl="0" defTabSz="914400" rtl="0" eaLnBrk="1" fontAlgn="auto" latinLnBrk="0" hangingPunct="1">
              <a:buClrTx/>
              <a:buSzTx/>
              <a:tabLst/>
              <a:defRPr/>
            </a:pPr>
            <a:endParaRPr kumimoji="0" lang="en-US" sz="845" b="0" i="0" u="none" strike="noStrike" kern="1200" cap="none" spc="0" normalizeH="0" baseline="0" noProof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defTabSz="914400" rtl="0" eaLnBrk="1" fontAlgn="auto" latinLnBrk="0" hangingPunct="1"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45" b="0" i="0" u="none" strike="noStrike" kern="1200" cap="none" spc="0" normalizeH="0" baseline="0" noProof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Compliance teams need confirmation receipts, audit logs, and timeline evidence to prove that erasure was completed within the required SLA.</a:t>
            </a:r>
            <a:endParaRPr kumimoji="0" lang="en-US" sz="845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08256F-1D41-410F-BAD4-A88694BEEC2E}"/>
              </a:ext>
            </a:extLst>
          </p:cNvPr>
          <p:cNvSpPr txBox="1"/>
          <p:nvPr/>
        </p:nvSpPr>
        <p:spPr>
          <a:xfrm>
            <a:off x="3567837" y="956914"/>
            <a:ext cx="3314249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eClerx Recommended Solution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2C35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FD2BFC-4B86-4160-99A6-A5AC3EF8F3FF}"/>
              </a:ext>
            </a:extLst>
          </p:cNvPr>
          <p:cNvSpPr/>
          <p:nvPr/>
        </p:nvSpPr>
        <p:spPr>
          <a:xfrm>
            <a:off x="9352994" y="5431974"/>
            <a:ext cx="2263758" cy="1047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" name="Title 6">
            <a:extLst>
              <a:ext uri="{FF2B5EF4-FFF2-40B4-BE49-F238E27FC236}">
                <a16:creationId xmlns:a16="http://schemas.microsoft.com/office/drawing/2014/main" id="{43BE8344-E263-45D7-AE84-8D5505EB2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86" y="303066"/>
            <a:ext cx="11873140" cy="468193"/>
          </a:xfrm>
        </p:spPr>
        <p:txBody>
          <a:bodyPr vert="horz" wrap="square">
            <a:noAutofit/>
          </a:bodyPr>
          <a:lstStyle/>
          <a:p>
            <a:r>
              <a:rPr lang="en-US" sz="2130">
                <a:solidFill>
                  <a:srgbClr val="2C35DE"/>
                </a:solidFill>
              </a:rPr>
              <a:t>Case Study - DSR Handling and Erasure Governance Across AEP/RTCDP and mParticle</a:t>
            </a:r>
            <a:endParaRPr lang="en-US" sz="2130" dirty="0">
              <a:solidFill>
                <a:srgbClr val="2C35DE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FC88D19-5F54-4C5A-8F19-129CF2532F2C}"/>
              </a:ext>
            </a:extLst>
          </p:cNvPr>
          <p:cNvSpPr/>
          <p:nvPr/>
        </p:nvSpPr>
        <p:spPr>
          <a:xfrm>
            <a:off x="3347504" y="4577940"/>
            <a:ext cx="8658568" cy="19246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8CE407F-05AC-4E8F-90C0-58910B4A838A}"/>
              </a:ext>
            </a:extLst>
          </p:cNvPr>
          <p:cNvSpPr txBox="1"/>
          <p:nvPr/>
        </p:nvSpPr>
        <p:spPr>
          <a:xfrm>
            <a:off x="3355376" y="4561609"/>
            <a:ext cx="2688886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3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u="none" strike="noStrike" kern="1200" cap="none" spc="0" normalizeH="0" baseline="0" noProof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Business Benefits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2C35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7" name="Optimization Loop Label Backing">
            <a:extLst>
              <a:ext uri="{FF2B5EF4-FFF2-40B4-BE49-F238E27FC236}">
                <a16:creationId xmlns:a16="http://schemas.microsoft.com/office/drawing/2014/main" id="{C1636681-20E7-4695-BA3A-ACD873196FD0}"/>
              </a:ext>
            </a:extLst>
          </p:cNvPr>
          <p:cNvSpPr/>
          <p:nvPr/>
        </p:nvSpPr>
        <p:spPr>
          <a:xfrm>
            <a:off x="4267199" y="3867150"/>
            <a:ext cx="7112000" cy="260350"/>
          </a:xfrm>
          <a:prstGeom prst="rect">
            <a:avLst/>
          </a:prstGeom>
          <a:solidFill>
            <a:srgbClr val="06264A"/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110BABF-E4F3-49AD-9CB7-13E726A576AD}"/>
              </a:ext>
            </a:extLst>
          </p:cNvPr>
          <p:cNvGrpSpPr/>
          <p:nvPr/>
        </p:nvGrpSpPr>
        <p:grpSpPr>
          <a:xfrm>
            <a:off x="3402662" y="1368935"/>
            <a:ext cx="8370824" cy="2573512"/>
            <a:chOff x="4851400" y="1739900"/>
            <a:chExt cx="10617200" cy="3556000"/>
          </a:xfrm>
        </p:grpSpPr>
        <p:sp>
          <p:nvSpPr>
            <p:cNvPr id="105" name="Flow Card 1">
              <a:extLst>
                <a:ext uri="{FF2B5EF4-FFF2-40B4-BE49-F238E27FC236}">
                  <a16:creationId xmlns:a16="http://schemas.microsoft.com/office/drawing/2014/main" id="{3439280F-828F-455C-8286-FA8625AD87DE}"/>
                </a:ext>
              </a:extLst>
            </p:cNvPr>
            <p:cNvSpPr/>
            <p:nvPr/>
          </p:nvSpPr>
          <p:spPr>
            <a:xfrm>
              <a:off x="48514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6" name="Flow Badge 1">
              <a:extLst>
                <a:ext uri="{FF2B5EF4-FFF2-40B4-BE49-F238E27FC236}">
                  <a16:creationId xmlns:a16="http://schemas.microsoft.com/office/drawing/2014/main" id="{146B46AC-A39C-43C6-8AF0-D72C2E98B8CD}"/>
                </a:ext>
              </a:extLst>
            </p:cNvPr>
            <p:cNvSpPr/>
            <p:nvPr/>
          </p:nvSpPr>
          <p:spPr>
            <a:xfrm>
              <a:off x="54737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1" name="Flow Badge Text 1">
              <a:extLst>
                <a:ext uri="{FF2B5EF4-FFF2-40B4-BE49-F238E27FC236}">
                  <a16:creationId xmlns:a16="http://schemas.microsoft.com/office/drawing/2014/main" id="{F857A09D-2126-4199-82C8-57E095EF6630}"/>
                </a:ext>
              </a:extLst>
            </p:cNvPr>
            <p:cNvSpPr txBox="1"/>
            <p:nvPr/>
          </p:nvSpPr>
          <p:spPr>
            <a:xfrm>
              <a:off x="5473699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2" name="Flow Icon Circle 1">
              <a:extLst>
                <a:ext uri="{FF2B5EF4-FFF2-40B4-BE49-F238E27FC236}">
                  <a16:creationId xmlns:a16="http://schemas.microsoft.com/office/drawing/2014/main" id="{B51D2572-C480-4A2A-8EEF-F03C02E6956C}"/>
                </a:ext>
              </a:extLst>
            </p:cNvPr>
            <p:cNvSpPr/>
            <p:nvPr/>
          </p:nvSpPr>
          <p:spPr>
            <a:xfrm>
              <a:off x="52705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1" name="Flow Title 1">
              <a:extLst>
                <a:ext uri="{FF2B5EF4-FFF2-40B4-BE49-F238E27FC236}">
                  <a16:creationId xmlns:a16="http://schemas.microsoft.com/office/drawing/2014/main" id="{A50DAF96-5CF3-41E1-BB40-C102E66A01EE}"/>
                </a:ext>
              </a:extLst>
            </p:cNvPr>
            <p:cNvSpPr txBox="1"/>
            <p:nvPr/>
          </p:nvSpPr>
          <p:spPr>
            <a:xfrm>
              <a:off x="4953001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2C35D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Receive</a:t>
              </a:r>
              <a:endParaRPr kumimoji="0" lang="en-IN" sz="1300" b="1" u="none" strike="noStrike" kern="1200" cap="none" spc="0" normalizeH="0" baseline="0" noProof="0" dirty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3" name="Flow Body 1">
              <a:extLst>
                <a:ext uri="{FF2B5EF4-FFF2-40B4-BE49-F238E27FC236}">
                  <a16:creationId xmlns:a16="http://schemas.microsoft.com/office/drawing/2014/main" id="{2786180A-BB7C-4853-AA8D-227CA5418F84}"/>
                </a:ext>
              </a:extLst>
            </p:cNvPr>
            <p:cNvSpPr txBox="1"/>
            <p:nvPr/>
          </p:nvSpPr>
          <p:spPr>
            <a:xfrm>
              <a:off x="4965699" y="3600211"/>
              <a:ext cx="1371600" cy="1134071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Capture the DSR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request from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privacy portal,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email, or in-app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submission</a:t>
              </a:r>
              <a:endParaRPr kumimoji="0" lang="en-IN" sz="845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24" name="Flow Arrow 1">
              <a:extLst>
                <a:ext uri="{FF2B5EF4-FFF2-40B4-BE49-F238E27FC236}">
                  <a16:creationId xmlns:a16="http://schemas.microsoft.com/office/drawing/2014/main" id="{138B586C-2D7F-451D-95B0-D1A6DD4F6306}"/>
                </a:ext>
              </a:extLst>
            </p:cNvPr>
            <p:cNvCxnSpPr/>
            <p:nvPr/>
          </p:nvCxnSpPr>
          <p:spPr>
            <a:xfrm>
              <a:off x="64770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Flow Card 2">
              <a:extLst>
                <a:ext uri="{FF2B5EF4-FFF2-40B4-BE49-F238E27FC236}">
                  <a16:creationId xmlns:a16="http://schemas.microsoft.com/office/drawing/2014/main" id="{E73761A6-BBEF-4716-9098-62C47272B2AE}"/>
                </a:ext>
              </a:extLst>
            </p:cNvPr>
            <p:cNvSpPr/>
            <p:nvPr/>
          </p:nvSpPr>
          <p:spPr>
            <a:xfrm>
              <a:off x="66548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9" name="Flow Badge 2">
              <a:extLst>
                <a:ext uri="{FF2B5EF4-FFF2-40B4-BE49-F238E27FC236}">
                  <a16:creationId xmlns:a16="http://schemas.microsoft.com/office/drawing/2014/main" id="{C9D6FD7B-7E87-4F9E-8252-59A0C6ECBDBB}"/>
                </a:ext>
              </a:extLst>
            </p:cNvPr>
            <p:cNvSpPr/>
            <p:nvPr/>
          </p:nvSpPr>
          <p:spPr>
            <a:xfrm>
              <a:off x="72771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1" name="Flow Badge Text 2">
              <a:extLst>
                <a:ext uri="{FF2B5EF4-FFF2-40B4-BE49-F238E27FC236}">
                  <a16:creationId xmlns:a16="http://schemas.microsoft.com/office/drawing/2014/main" id="{8EB40419-A781-4B59-9F1C-4388FEDE5E91}"/>
                </a:ext>
              </a:extLst>
            </p:cNvPr>
            <p:cNvSpPr txBox="1"/>
            <p:nvPr/>
          </p:nvSpPr>
          <p:spPr>
            <a:xfrm>
              <a:off x="7277100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</a:t>
              </a:r>
              <a:endParaRPr kumimoji="0" lang="en-IN" sz="1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2" name="Flow Icon Circle 2">
              <a:extLst>
                <a:ext uri="{FF2B5EF4-FFF2-40B4-BE49-F238E27FC236}">
                  <a16:creationId xmlns:a16="http://schemas.microsoft.com/office/drawing/2014/main" id="{67E149F4-C8F2-4878-9838-61FF66BB684F}"/>
                </a:ext>
              </a:extLst>
            </p:cNvPr>
            <p:cNvSpPr/>
            <p:nvPr/>
          </p:nvSpPr>
          <p:spPr>
            <a:xfrm>
              <a:off x="70739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56" name="Flow Title 2">
              <a:extLst>
                <a:ext uri="{FF2B5EF4-FFF2-40B4-BE49-F238E27FC236}">
                  <a16:creationId xmlns:a16="http://schemas.microsoft.com/office/drawing/2014/main" id="{2016BDCA-CC04-4A05-BB4E-5EB239103132}"/>
                </a:ext>
              </a:extLst>
            </p:cNvPr>
            <p:cNvSpPr txBox="1"/>
            <p:nvPr/>
          </p:nvSpPr>
          <p:spPr>
            <a:xfrm>
              <a:off x="67564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2C35D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Verify</a:t>
              </a:r>
              <a:endParaRPr kumimoji="0" lang="en-IN" sz="1300" b="1" u="none" strike="noStrike" kern="1200" cap="none" spc="0" normalizeH="0" baseline="0" noProof="0" dirty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0" name="Flow Body 2">
              <a:extLst>
                <a:ext uri="{FF2B5EF4-FFF2-40B4-BE49-F238E27FC236}">
                  <a16:creationId xmlns:a16="http://schemas.microsoft.com/office/drawing/2014/main" id="{1AFBEC8F-A65E-4892-95B8-77A6EEAEA556}"/>
                </a:ext>
              </a:extLst>
            </p:cNvPr>
            <p:cNvSpPr txBox="1"/>
            <p:nvPr/>
          </p:nvSpPr>
          <p:spPr>
            <a:xfrm>
              <a:off x="6769100" y="3600211"/>
              <a:ext cx="1371600" cy="1559346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Match user identity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using ECID, email,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MPID, or other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available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identifiers</a:t>
              </a:r>
              <a:endParaRPr kumimoji="0" lang="en-IN" sz="845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65" name="Flow Arrow 2">
              <a:extLst>
                <a:ext uri="{FF2B5EF4-FFF2-40B4-BE49-F238E27FC236}">
                  <a16:creationId xmlns:a16="http://schemas.microsoft.com/office/drawing/2014/main" id="{A1D56DA8-AFF9-41F6-BB3E-6D0B28AF1052}"/>
                </a:ext>
              </a:extLst>
            </p:cNvPr>
            <p:cNvCxnSpPr/>
            <p:nvPr/>
          </p:nvCxnSpPr>
          <p:spPr>
            <a:xfrm>
              <a:off x="82804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Flow Card 3">
              <a:extLst>
                <a:ext uri="{FF2B5EF4-FFF2-40B4-BE49-F238E27FC236}">
                  <a16:creationId xmlns:a16="http://schemas.microsoft.com/office/drawing/2014/main" id="{1261DD49-AD45-4200-87EA-490B9F95E4ED}"/>
                </a:ext>
              </a:extLst>
            </p:cNvPr>
            <p:cNvSpPr/>
            <p:nvPr/>
          </p:nvSpPr>
          <p:spPr>
            <a:xfrm>
              <a:off x="84582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4" name="Flow Badge 3">
              <a:extLst>
                <a:ext uri="{FF2B5EF4-FFF2-40B4-BE49-F238E27FC236}">
                  <a16:creationId xmlns:a16="http://schemas.microsoft.com/office/drawing/2014/main" id="{2E259E15-A164-4302-B7DA-5C4CCB0D0508}"/>
                </a:ext>
              </a:extLst>
            </p:cNvPr>
            <p:cNvSpPr/>
            <p:nvPr/>
          </p:nvSpPr>
          <p:spPr>
            <a:xfrm>
              <a:off x="90805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5" name="Flow Badge Text 3">
              <a:extLst>
                <a:ext uri="{FF2B5EF4-FFF2-40B4-BE49-F238E27FC236}">
                  <a16:creationId xmlns:a16="http://schemas.microsoft.com/office/drawing/2014/main" id="{ABFF859B-95B8-4E99-A66D-ECB2D193B5E4}"/>
                </a:ext>
              </a:extLst>
            </p:cNvPr>
            <p:cNvSpPr txBox="1"/>
            <p:nvPr/>
          </p:nvSpPr>
          <p:spPr>
            <a:xfrm>
              <a:off x="9080499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76" name="Flow Icon Circle 3">
              <a:extLst>
                <a:ext uri="{FF2B5EF4-FFF2-40B4-BE49-F238E27FC236}">
                  <a16:creationId xmlns:a16="http://schemas.microsoft.com/office/drawing/2014/main" id="{72809646-DF59-426F-BC9D-AB50731493C8}"/>
                </a:ext>
              </a:extLst>
            </p:cNvPr>
            <p:cNvSpPr/>
            <p:nvPr/>
          </p:nvSpPr>
          <p:spPr>
            <a:xfrm>
              <a:off x="88773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8" name="Flow Title 3">
              <a:extLst>
                <a:ext uri="{FF2B5EF4-FFF2-40B4-BE49-F238E27FC236}">
                  <a16:creationId xmlns:a16="http://schemas.microsoft.com/office/drawing/2014/main" id="{70154094-E40F-46CA-9D8E-2B06A435C48E}"/>
                </a:ext>
              </a:extLst>
            </p:cNvPr>
            <p:cNvSpPr txBox="1"/>
            <p:nvPr/>
          </p:nvSpPr>
          <p:spPr>
            <a:xfrm>
              <a:off x="85598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2C35D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Submit</a:t>
              </a:r>
              <a:endParaRPr kumimoji="0" lang="en-IN" sz="1300" b="1" u="none" strike="noStrike" kern="1200" cap="none" spc="0" normalizeH="0" baseline="0" noProof="0" dirty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9" name="Flow Body 3">
              <a:extLst>
                <a:ext uri="{FF2B5EF4-FFF2-40B4-BE49-F238E27FC236}">
                  <a16:creationId xmlns:a16="http://schemas.microsoft.com/office/drawing/2014/main" id="{BD258850-9547-4DAD-AFA2-697221B381DA}"/>
                </a:ext>
              </a:extLst>
            </p:cNvPr>
            <p:cNvSpPr txBox="1"/>
            <p:nvPr/>
          </p:nvSpPr>
          <p:spPr>
            <a:xfrm>
              <a:off x="8572501" y="3600211"/>
              <a:ext cx="1371600" cy="1346708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Trigger deletion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jobs through AEP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Privacy Service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and mParticle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OpenDSR API</a:t>
              </a:r>
              <a:endParaRPr kumimoji="0" lang="en-IN" sz="820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80" name="Flow Arrow 3">
              <a:extLst>
                <a:ext uri="{FF2B5EF4-FFF2-40B4-BE49-F238E27FC236}">
                  <a16:creationId xmlns:a16="http://schemas.microsoft.com/office/drawing/2014/main" id="{93133BF5-48A3-4AB9-946D-AF7FB31C7C5B}"/>
                </a:ext>
              </a:extLst>
            </p:cNvPr>
            <p:cNvCxnSpPr/>
            <p:nvPr/>
          </p:nvCxnSpPr>
          <p:spPr>
            <a:xfrm>
              <a:off x="100838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Flow Card 4">
              <a:extLst>
                <a:ext uri="{FF2B5EF4-FFF2-40B4-BE49-F238E27FC236}">
                  <a16:creationId xmlns:a16="http://schemas.microsoft.com/office/drawing/2014/main" id="{0E98FE19-70A3-429B-811D-99CF34EA625A}"/>
                </a:ext>
              </a:extLst>
            </p:cNvPr>
            <p:cNvSpPr/>
            <p:nvPr/>
          </p:nvSpPr>
          <p:spPr>
            <a:xfrm>
              <a:off x="102616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2" name="Flow Badge 4">
              <a:extLst>
                <a:ext uri="{FF2B5EF4-FFF2-40B4-BE49-F238E27FC236}">
                  <a16:creationId xmlns:a16="http://schemas.microsoft.com/office/drawing/2014/main" id="{E3E16296-C0EA-4C41-9732-49A8A3FB4A70}"/>
                </a:ext>
              </a:extLst>
            </p:cNvPr>
            <p:cNvSpPr/>
            <p:nvPr/>
          </p:nvSpPr>
          <p:spPr>
            <a:xfrm>
              <a:off x="108839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3" name="Flow Badge Text 4">
              <a:extLst>
                <a:ext uri="{FF2B5EF4-FFF2-40B4-BE49-F238E27FC236}">
                  <a16:creationId xmlns:a16="http://schemas.microsoft.com/office/drawing/2014/main" id="{E66069A7-6999-4355-BADB-ED6DAD8444BC}"/>
                </a:ext>
              </a:extLst>
            </p:cNvPr>
            <p:cNvSpPr txBox="1"/>
            <p:nvPr/>
          </p:nvSpPr>
          <p:spPr>
            <a:xfrm>
              <a:off x="10883900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</a:t>
              </a:r>
              <a:endParaRPr kumimoji="0" lang="en-IN" sz="1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4" name="Flow Icon Circle 4">
              <a:extLst>
                <a:ext uri="{FF2B5EF4-FFF2-40B4-BE49-F238E27FC236}">
                  <a16:creationId xmlns:a16="http://schemas.microsoft.com/office/drawing/2014/main" id="{631C3979-B90C-4313-816E-4BB622C2FF9F}"/>
                </a:ext>
              </a:extLst>
            </p:cNvPr>
            <p:cNvSpPr/>
            <p:nvPr/>
          </p:nvSpPr>
          <p:spPr>
            <a:xfrm>
              <a:off x="106807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6" name="Flow Title 4">
              <a:extLst>
                <a:ext uri="{FF2B5EF4-FFF2-40B4-BE49-F238E27FC236}">
                  <a16:creationId xmlns:a16="http://schemas.microsoft.com/office/drawing/2014/main" id="{700531C8-8BA1-4B5D-896A-B9470D274D22}"/>
                </a:ext>
              </a:extLst>
            </p:cNvPr>
            <p:cNvSpPr txBox="1"/>
            <p:nvPr/>
          </p:nvSpPr>
          <p:spPr>
            <a:xfrm>
              <a:off x="103632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2C35D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Delete</a:t>
              </a:r>
              <a:endParaRPr kumimoji="0" lang="en-IN" sz="1300" b="1" u="none" strike="noStrike" kern="1200" cap="none" spc="0" normalizeH="0" baseline="0" noProof="0" dirty="0">
                <a:ln>
                  <a:noFill/>
                </a:ln>
                <a:solidFill>
                  <a:srgbClr val="2C35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7" name="Flow Body 4">
              <a:extLst>
                <a:ext uri="{FF2B5EF4-FFF2-40B4-BE49-F238E27FC236}">
                  <a16:creationId xmlns:a16="http://schemas.microsoft.com/office/drawing/2014/main" id="{D065C13A-58F9-43F6-A601-3A9F867E61D0}"/>
                </a:ext>
              </a:extLst>
            </p:cNvPr>
            <p:cNvSpPr txBox="1"/>
            <p:nvPr/>
          </p:nvSpPr>
          <p:spPr>
            <a:xfrm>
              <a:off x="10375900" y="3600211"/>
              <a:ext cx="1371600" cy="1346708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1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Remove profile,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1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event, data lake,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1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and identity-linked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1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records from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10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relevant systems</a:t>
              </a:r>
              <a:endParaRPr kumimoji="0" lang="en-IN" sz="810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88" name="Flow Arrow 4">
              <a:extLst>
                <a:ext uri="{FF2B5EF4-FFF2-40B4-BE49-F238E27FC236}">
                  <a16:creationId xmlns:a16="http://schemas.microsoft.com/office/drawing/2014/main" id="{D6AA9DF1-E242-455D-BFD9-FA2C0D148C57}"/>
                </a:ext>
              </a:extLst>
            </p:cNvPr>
            <p:cNvCxnSpPr/>
            <p:nvPr/>
          </p:nvCxnSpPr>
          <p:spPr>
            <a:xfrm>
              <a:off x="118872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Flow Card 5">
              <a:extLst>
                <a:ext uri="{FF2B5EF4-FFF2-40B4-BE49-F238E27FC236}">
                  <a16:creationId xmlns:a16="http://schemas.microsoft.com/office/drawing/2014/main" id="{EE054984-3DF7-4305-A427-616751587A3D}"/>
                </a:ext>
              </a:extLst>
            </p:cNvPr>
            <p:cNvSpPr/>
            <p:nvPr/>
          </p:nvSpPr>
          <p:spPr>
            <a:xfrm>
              <a:off x="120650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0" name="Flow Badge 5">
              <a:extLst>
                <a:ext uri="{FF2B5EF4-FFF2-40B4-BE49-F238E27FC236}">
                  <a16:creationId xmlns:a16="http://schemas.microsoft.com/office/drawing/2014/main" id="{9EA32569-9ECA-4969-B271-430D13B483C2}"/>
                </a:ext>
              </a:extLst>
            </p:cNvPr>
            <p:cNvSpPr/>
            <p:nvPr/>
          </p:nvSpPr>
          <p:spPr>
            <a:xfrm>
              <a:off x="12687300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1" name="Flow Badge Text 5">
              <a:extLst>
                <a:ext uri="{FF2B5EF4-FFF2-40B4-BE49-F238E27FC236}">
                  <a16:creationId xmlns:a16="http://schemas.microsoft.com/office/drawing/2014/main" id="{6A347994-2F26-44FB-A77F-6E4D26BA21CC}"/>
                </a:ext>
              </a:extLst>
            </p:cNvPr>
            <p:cNvSpPr txBox="1"/>
            <p:nvPr/>
          </p:nvSpPr>
          <p:spPr>
            <a:xfrm>
              <a:off x="12699492" y="1845051"/>
              <a:ext cx="333756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5</a:t>
              </a:r>
              <a:endParaRPr kumimoji="0" lang="en-IN" sz="1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2" name="Flow Icon Circle 5">
              <a:extLst>
                <a:ext uri="{FF2B5EF4-FFF2-40B4-BE49-F238E27FC236}">
                  <a16:creationId xmlns:a16="http://schemas.microsoft.com/office/drawing/2014/main" id="{B1A6238A-61EB-49F3-B1C8-344B802EEB7E}"/>
                </a:ext>
              </a:extLst>
            </p:cNvPr>
            <p:cNvSpPr/>
            <p:nvPr/>
          </p:nvSpPr>
          <p:spPr>
            <a:xfrm>
              <a:off x="124841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4" name="Flow Title 5">
              <a:extLst>
                <a:ext uri="{FF2B5EF4-FFF2-40B4-BE49-F238E27FC236}">
                  <a16:creationId xmlns:a16="http://schemas.microsoft.com/office/drawing/2014/main" id="{C94B1930-0729-4AF3-B5D4-4C1752078177}"/>
                </a:ext>
              </a:extLst>
            </p:cNvPr>
            <p:cNvSpPr txBox="1"/>
            <p:nvPr/>
          </p:nvSpPr>
          <p:spPr>
            <a:xfrm>
              <a:off x="121666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2C35D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Suppress</a:t>
              </a:r>
            </a:p>
          </p:txBody>
        </p:sp>
        <p:sp>
          <p:nvSpPr>
            <p:cNvPr id="195" name="Flow Body 5">
              <a:extLst>
                <a:ext uri="{FF2B5EF4-FFF2-40B4-BE49-F238E27FC236}">
                  <a16:creationId xmlns:a16="http://schemas.microsoft.com/office/drawing/2014/main" id="{9C8E053E-C7DD-4D4B-B446-8E2F5CBBA63D}"/>
                </a:ext>
              </a:extLst>
            </p:cNvPr>
            <p:cNvSpPr txBox="1"/>
            <p:nvPr/>
          </p:nvSpPr>
          <p:spPr>
            <a:xfrm>
              <a:off x="12199535" y="3600209"/>
              <a:ext cx="1371600" cy="1134071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Stop audience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activation and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destination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forwarding for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erased profiles</a:t>
              </a:r>
              <a:endParaRPr kumimoji="0" lang="en-IN" sz="845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96" name="Flow Arrow 5">
              <a:extLst>
                <a:ext uri="{FF2B5EF4-FFF2-40B4-BE49-F238E27FC236}">
                  <a16:creationId xmlns:a16="http://schemas.microsoft.com/office/drawing/2014/main" id="{424BB0BE-59F6-449D-99C6-F5972E3AD5DD}"/>
                </a:ext>
              </a:extLst>
            </p:cNvPr>
            <p:cNvCxnSpPr/>
            <p:nvPr/>
          </p:nvCxnSpPr>
          <p:spPr>
            <a:xfrm>
              <a:off x="136906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Flow Card 6">
              <a:extLst>
                <a:ext uri="{FF2B5EF4-FFF2-40B4-BE49-F238E27FC236}">
                  <a16:creationId xmlns:a16="http://schemas.microsoft.com/office/drawing/2014/main" id="{2A5F4E49-AE55-4E9F-819F-74960B89681D}"/>
                </a:ext>
              </a:extLst>
            </p:cNvPr>
            <p:cNvSpPr/>
            <p:nvPr/>
          </p:nvSpPr>
          <p:spPr>
            <a:xfrm>
              <a:off x="13868400" y="1739900"/>
              <a:ext cx="1600200" cy="3200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8" name="Flow Badge 6">
              <a:extLst>
                <a:ext uri="{FF2B5EF4-FFF2-40B4-BE49-F238E27FC236}">
                  <a16:creationId xmlns:a16="http://schemas.microsoft.com/office/drawing/2014/main" id="{B03EECFA-1482-42AA-BE11-FCFA710F1883}"/>
                </a:ext>
              </a:extLst>
            </p:cNvPr>
            <p:cNvSpPr/>
            <p:nvPr/>
          </p:nvSpPr>
          <p:spPr>
            <a:xfrm>
              <a:off x="14502892" y="1841500"/>
              <a:ext cx="355600" cy="355600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9" name="Flow Badge Text 6">
              <a:extLst>
                <a:ext uri="{FF2B5EF4-FFF2-40B4-BE49-F238E27FC236}">
                  <a16:creationId xmlns:a16="http://schemas.microsoft.com/office/drawing/2014/main" id="{DEE23F13-1E93-4898-A4F3-0E22CACFFE38}"/>
                </a:ext>
              </a:extLst>
            </p:cNvPr>
            <p:cNvSpPr txBox="1"/>
            <p:nvPr/>
          </p:nvSpPr>
          <p:spPr>
            <a:xfrm>
              <a:off x="14502891" y="1829663"/>
              <a:ext cx="355601" cy="36148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6</a:t>
              </a:r>
              <a:endParaRPr kumimoji="0" lang="en-IN" sz="1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0" name="Flow Icon Circle 6">
              <a:extLst>
                <a:ext uri="{FF2B5EF4-FFF2-40B4-BE49-F238E27FC236}">
                  <a16:creationId xmlns:a16="http://schemas.microsoft.com/office/drawing/2014/main" id="{D340A626-59B0-407B-BEE3-706012064D1A}"/>
                </a:ext>
              </a:extLst>
            </p:cNvPr>
            <p:cNvSpPr/>
            <p:nvPr/>
          </p:nvSpPr>
          <p:spPr>
            <a:xfrm>
              <a:off x="14287500" y="2349500"/>
              <a:ext cx="762000" cy="762000"/>
            </a:xfrm>
            <a:prstGeom prst="ellipse">
              <a:avLst/>
            </a:prstGeom>
            <a:solidFill>
              <a:srgbClr val="EEF6FA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2" name="Flow Title 6">
              <a:extLst>
                <a:ext uri="{FF2B5EF4-FFF2-40B4-BE49-F238E27FC236}">
                  <a16:creationId xmlns:a16="http://schemas.microsoft.com/office/drawing/2014/main" id="{6FEDE2D1-5BB0-448D-8AE0-DFD778AD384F}"/>
                </a:ext>
              </a:extLst>
            </p:cNvPr>
            <p:cNvSpPr txBox="1"/>
            <p:nvPr/>
          </p:nvSpPr>
          <p:spPr>
            <a:xfrm>
              <a:off x="13970000" y="3189093"/>
              <a:ext cx="1397000" cy="38274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u="none" strike="noStrike" kern="1200" cap="none" spc="0" normalizeH="0" baseline="0" noProof="0">
                  <a:ln>
                    <a:noFill/>
                  </a:ln>
                  <a:solidFill>
                    <a:srgbClr val="2C35D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Evidence</a:t>
              </a:r>
            </a:p>
          </p:txBody>
        </p:sp>
        <p:sp>
          <p:nvSpPr>
            <p:cNvPr id="203" name="Flow Body 6">
              <a:extLst>
                <a:ext uri="{FF2B5EF4-FFF2-40B4-BE49-F238E27FC236}">
                  <a16:creationId xmlns:a16="http://schemas.microsoft.com/office/drawing/2014/main" id="{5FADBF32-4DCD-487F-9220-5486862FEC65}"/>
                </a:ext>
              </a:extLst>
            </p:cNvPr>
            <p:cNvSpPr txBox="1"/>
            <p:nvPr/>
          </p:nvSpPr>
          <p:spPr>
            <a:xfrm>
              <a:off x="13982700" y="3600209"/>
              <a:ext cx="1371600" cy="1346708"/>
            </a:xfrm>
            <a:prstGeom prst="rect">
              <a:avLst/>
            </a:prstGeom>
            <a:noFill/>
          </p:spPr>
          <p:txBody>
            <a:bodyPr vert="horz" wrap="square" lIns="50800" tIns="25400" rIns="50800" bIns="2540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Store completion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receipts, audit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logs, and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timestamps for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45" u="none" strike="noStrike" kern="1200" cap="none" spc="0" normalizeH="0" baseline="0" noProof="0">
                  <a:ln>
                    <a:noFill/>
                  </a:ln>
                  <a:solidFill>
                    <a:srgbClr val="0B0E4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ICO compliance proof</a:t>
              </a:r>
              <a:endParaRPr kumimoji="0" lang="en-IN" sz="845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204" name="Optimization Loop Down">
              <a:extLst>
                <a:ext uri="{FF2B5EF4-FFF2-40B4-BE49-F238E27FC236}">
                  <a16:creationId xmlns:a16="http://schemas.microsoft.com/office/drawing/2014/main" id="{C6317102-F0C3-4F3B-8848-0284A4964DBF}"/>
                </a:ext>
              </a:extLst>
            </p:cNvPr>
            <p:cNvCxnSpPr/>
            <p:nvPr/>
          </p:nvCxnSpPr>
          <p:spPr>
            <a:xfrm>
              <a:off x="14668500" y="4965700"/>
              <a:ext cx="0" cy="330200"/>
            </a:xfrm>
            <a:prstGeom prst="line">
              <a:avLst/>
            </a:prstGeom>
            <a:ln w="19050">
              <a:solidFill>
                <a:srgbClr val="06264A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Optimization Loop Return">
              <a:extLst>
                <a:ext uri="{FF2B5EF4-FFF2-40B4-BE49-F238E27FC236}">
                  <a16:creationId xmlns:a16="http://schemas.microsoft.com/office/drawing/2014/main" id="{AF54A469-6CEF-4A29-8C34-80B0D8911C79}"/>
                </a:ext>
              </a:extLst>
            </p:cNvPr>
            <p:cNvCxnSpPr/>
            <p:nvPr/>
          </p:nvCxnSpPr>
          <p:spPr>
            <a:xfrm flipH="1">
              <a:off x="5651500" y="5295900"/>
              <a:ext cx="9017000" cy="0"/>
            </a:xfrm>
            <a:prstGeom prst="line">
              <a:avLst/>
            </a:prstGeom>
            <a:ln w="19050">
              <a:solidFill>
                <a:srgbClr val="06264A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Optimization Loop Up">
              <a:extLst>
                <a:ext uri="{FF2B5EF4-FFF2-40B4-BE49-F238E27FC236}">
                  <a16:creationId xmlns:a16="http://schemas.microsoft.com/office/drawing/2014/main" id="{7F46CE3E-8241-475E-A185-7A2CE63ABFB4}"/>
                </a:ext>
              </a:extLst>
            </p:cNvPr>
            <p:cNvCxnSpPr/>
            <p:nvPr/>
          </p:nvCxnSpPr>
          <p:spPr>
            <a:xfrm flipV="1">
              <a:off x="5651500" y="4978400"/>
              <a:ext cx="0" cy="317500"/>
            </a:xfrm>
            <a:prstGeom prst="line">
              <a:avLst/>
            </a:prstGeom>
            <a:ln w="1905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9" name="Solution Caption">
            <a:extLst>
              <a:ext uri="{FF2B5EF4-FFF2-40B4-BE49-F238E27FC236}">
                <a16:creationId xmlns:a16="http://schemas.microsoft.com/office/drawing/2014/main" id="{2D983593-56BC-4FF5-9D1F-567797E84BD9}"/>
              </a:ext>
            </a:extLst>
          </p:cNvPr>
          <p:cNvSpPr txBox="1"/>
          <p:nvPr/>
        </p:nvSpPr>
        <p:spPr>
          <a:xfrm>
            <a:off x="3708399" y="4208190"/>
            <a:ext cx="7937500" cy="384721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5" i="1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DSR governance should combine identity verification, platform-level deletion APIs, downstream suppression, and audit-ready evidence within the required regulatory timeline.</a:t>
            </a:r>
            <a:endParaRPr kumimoji="0" lang="en-IN" sz="805" i="1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6" name="Benefit Card 1">
            <a:extLst>
              <a:ext uri="{FF2B5EF4-FFF2-40B4-BE49-F238E27FC236}">
                <a16:creationId xmlns:a16="http://schemas.microsoft.com/office/drawing/2014/main" id="{A4AEE9E7-F637-40E9-905E-5E957F81F776}"/>
              </a:ext>
            </a:extLst>
          </p:cNvPr>
          <p:cNvSpPr/>
          <p:nvPr/>
        </p:nvSpPr>
        <p:spPr>
          <a:xfrm>
            <a:off x="3853245" y="5033077"/>
            <a:ext cx="2373483" cy="1249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2" name="Benefit Card 2">
            <a:extLst>
              <a:ext uri="{FF2B5EF4-FFF2-40B4-BE49-F238E27FC236}">
                <a16:creationId xmlns:a16="http://schemas.microsoft.com/office/drawing/2014/main" id="{EE1B028A-638B-4D61-A8C1-002ED3777874}"/>
              </a:ext>
            </a:extLst>
          </p:cNvPr>
          <p:cNvSpPr/>
          <p:nvPr/>
        </p:nvSpPr>
        <p:spPr>
          <a:xfrm>
            <a:off x="6299836" y="5033077"/>
            <a:ext cx="2629973" cy="1249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8" name="Benefit Card 3">
            <a:extLst>
              <a:ext uri="{FF2B5EF4-FFF2-40B4-BE49-F238E27FC236}">
                <a16:creationId xmlns:a16="http://schemas.microsoft.com/office/drawing/2014/main" id="{19642EBC-FDC8-49DB-8B00-D262E1362B7C}"/>
              </a:ext>
            </a:extLst>
          </p:cNvPr>
          <p:cNvSpPr/>
          <p:nvPr/>
        </p:nvSpPr>
        <p:spPr>
          <a:xfrm>
            <a:off x="8963675" y="5033374"/>
            <a:ext cx="2285142" cy="1249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3" name="Icon - user_check">
            <a:extLst>
              <a:ext uri="{FF2B5EF4-FFF2-40B4-BE49-F238E27FC236}">
                <a16:creationId xmlns:a16="http://schemas.microsoft.com/office/drawing/2014/main" id="{D8C4515F-A23B-413F-BB2D-2EA8F9BF746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64817" y="1895341"/>
            <a:ext cx="381000" cy="381000"/>
          </a:xfrm>
          <a:prstGeom prst="rect">
            <a:avLst/>
          </a:prstGeom>
        </p:spPr>
      </p:pic>
      <p:pic>
        <p:nvPicPr>
          <p:cNvPr id="18" name="Icon - trash">
            <a:extLst>
              <a:ext uri="{FF2B5EF4-FFF2-40B4-BE49-F238E27FC236}">
                <a16:creationId xmlns:a16="http://schemas.microsoft.com/office/drawing/2014/main" id="{17E7F045-4C90-467D-6D76-4D659C6ED42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8493" y="1895341"/>
            <a:ext cx="381000" cy="381000"/>
          </a:xfrm>
          <a:prstGeom prst="rect">
            <a:avLst/>
          </a:prstGeom>
        </p:spPr>
      </p:pic>
      <p:pic>
        <p:nvPicPr>
          <p:cNvPr id="23" name="Icon - file_check">
            <a:extLst>
              <a:ext uri="{FF2B5EF4-FFF2-40B4-BE49-F238E27FC236}">
                <a16:creationId xmlns:a16="http://schemas.microsoft.com/office/drawing/2014/main" id="{094B3315-43A0-4281-1374-D2A78802333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2171" y="1895341"/>
            <a:ext cx="381000" cy="381000"/>
          </a:xfrm>
          <a:prstGeom prst="rect">
            <a:avLst/>
          </a:prstGeom>
        </p:spPr>
      </p:pic>
      <p:sp>
        <p:nvSpPr>
          <p:cNvPr id="208" name="Optimization Loop Label">
            <a:extLst>
              <a:ext uri="{FF2B5EF4-FFF2-40B4-BE49-F238E27FC236}">
                <a16:creationId xmlns:a16="http://schemas.microsoft.com/office/drawing/2014/main" id="{4F9D16D0-FD70-469D-B318-AE4CFE26E4F1}"/>
              </a:ext>
            </a:extLst>
          </p:cNvPr>
          <p:cNvSpPr txBox="1"/>
          <p:nvPr/>
        </p:nvSpPr>
        <p:spPr>
          <a:xfrm>
            <a:off x="4343399" y="3867865"/>
            <a:ext cx="6959600" cy="246221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5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Compliant right-to-erasure handling across CDP profiles, events, audiences, and downstream outputs</a:t>
            </a:r>
            <a:endParaRPr kumimoji="0" lang="en-IN" sz="845" b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Benefit Icon Circle - database_shield_delete">
            <a:extLst>
              <a:ext uri="{FF2B5EF4-FFF2-40B4-BE49-F238E27FC236}">
                <a16:creationId xmlns:a16="http://schemas.microsoft.com/office/drawing/2014/main" id="{10B21DBA-93B5-2FD1-9605-649EE98D847C}"/>
              </a:ext>
            </a:extLst>
          </p:cNvPr>
          <p:cNvSpPr/>
          <p:nvPr/>
        </p:nvSpPr>
        <p:spPr>
          <a:xfrm>
            <a:off x="6527800" y="5283200"/>
            <a:ext cx="660400" cy="660400"/>
          </a:xfrm>
          <a:prstGeom prst="ellipse">
            <a:avLst/>
          </a:prstGeom>
          <a:solidFill>
            <a:srgbClr val="EE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Benefit Icon Circle - clipboard_check">
            <a:extLst>
              <a:ext uri="{FF2B5EF4-FFF2-40B4-BE49-F238E27FC236}">
                <a16:creationId xmlns:a16="http://schemas.microsoft.com/office/drawing/2014/main" id="{9C883CF9-D25B-B04D-40A7-F121CFC6516E}"/>
              </a:ext>
            </a:extLst>
          </p:cNvPr>
          <p:cNvSpPr/>
          <p:nvPr/>
        </p:nvSpPr>
        <p:spPr>
          <a:xfrm>
            <a:off x="9194800" y="5283200"/>
            <a:ext cx="660400" cy="660400"/>
          </a:xfrm>
          <a:prstGeom prst="ellipse">
            <a:avLst/>
          </a:prstGeom>
          <a:solidFill>
            <a:srgbClr val="EE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gulation API SLA Footer">
            <a:extLst>
              <a:ext uri="{FF2B5EF4-FFF2-40B4-BE49-F238E27FC236}">
                <a16:creationId xmlns:a16="http://schemas.microsoft.com/office/drawing/2014/main" id="{5D96E04E-0447-9893-90F3-7D3E94A11EAC}"/>
              </a:ext>
            </a:extLst>
          </p:cNvPr>
          <p:cNvSpPr txBox="1"/>
          <p:nvPr/>
        </p:nvSpPr>
        <p:spPr>
          <a:xfrm>
            <a:off x="3708400" y="6621780"/>
            <a:ext cx="5143500" cy="877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570">
                <a:solidFill>
                  <a:srgbClr val="666666"/>
                </a:solidFill>
                <a:latin typeface="Arial" panose="020B0604020202020204" pitchFamily="34" charset="0"/>
              </a:rPr>
              <a:t>Regulation: UK GDPR Art. 17 (Right to Erasure) | APIs: AEP Privacy Service · mParticle OpenDSR v3 | SLA: 30 days</a:t>
            </a:r>
          </a:p>
        </p:txBody>
      </p:sp>
      <p:sp>
        <p:nvSpPr>
          <p:cNvPr id="24" name="Benefit Icon Circle - shield_check">
            <a:extLst>
              <a:ext uri="{FF2B5EF4-FFF2-40B4-BE49-F238E27FC236}">
                <a16:creationId xmlns:a16="http://schemas.microsoft.com/office/drawing/2014/main" id="{B884CAE2-AC95-11AD-585E-13C1BD890A96}"/>
              </a:ext>
            </a:extLst>
          </p:cNvPr>
          <p:cNvSpPr/>
          <p:nvPr/>
        </p:nvSpPr>
        <p:spPr>
          <a:xfrm>
            <a:off x="3987800" y="5283200"/>
            <a:ext cx="660400" cy="660400"/>
          </a:xfrm>
          <a:prstGeom prst="ellipse">
            <a:avLst/>
          </a:prstGeom>
          <a:solidFill>
            <a:srgbClr val="EE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Icon - cloud_upload">
            <a:extLst>
              <a:ext uri="{FF2B5EF4-FFF2-40B4-BE49-F238E27FC236}">
                <a16:creationId xmlns:a16="http://schemas.microsoft.com/office/drawing/2014/main" id="{B5944B3C-F7FF-F699-AC07-406230DC43F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6655" y="1895341"/>
            <a:ext cx="381000" cy="381000"/>
          </a:xfrm>
          <a:prstGeom prst="rect">
            <a:avLst/>
          </a:prstGeom>
        </p:spPr>
      </p:pic>
      <p:pic>
        <p:nvPicPr>
          <p:cNvPr id="26" name="Icon - shield_check">
            <a:extLst>
              <a:ext uri="{FF2B5EF4-FFF2-40B4-BE49-F238E27FC236}">
                <a16:creationId xmlns:a16="http://schemas.microsoft.com/office/drawing/2014/main" id="{85433F64-640D-B166-5A95-7D6A1277C10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89400" y="5384800"/>
            <a:ext cx="457200" cy="457200"/>
          </a:xfrm>
          <a:prstGeom prst="rect">
            <a:avLst/>
          </a:prstGeom>
        </p:spPr>
      </p:pic>
      <p:pic>
        <p:nvPicPr>
          <p:cNvPr id="32" name="Icon - clipboard_check">
            <a:extLst>
              <a:ext uri="{FF2B5EF4-FFF2-40B4-BE49-F238E27FC236}">
                <a16:creationId xmlns:a16="http://schemas.microsoft.com/office/drawing/2014/main" id="{1FCA08E3-9A6C-0098-44D6-B9E6EAEB2A4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96400" y="5384800"/>
            <a:ext cx="457200" cy="457200"/>
          </a:xfrm>
          <a:prstGeom prst="rect">
            <a:avLst/>
          </a:prstGeom>
        </p:spPr>
      </p:pic>
      <p:pic>
        <p:nvPicPr>
          <p:cNvPr id="20" name="Icon - shield_block">
            <a:extLst>
              <a:ext uri="{FF2B5EF4-FFF2-40B4-BE49-F238E27FC236}">
                <a16:creationId xmlns:a16="http://schemas.microsoft.com/office/drawing/2014/main" id="{8C0221E7-9001-DB84-5148-1B83FDD0F1D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0331" y="1895341"/>
            <a:ext cx="381000" cy="381000"/>
          </a:xfrm>
          <a:prstGeom prst="rect">
            <a:avLst/>
          </a:prstGeom>
        </p:spPr>
      </p:pic>
      <p:pic>
        <p:nvPicPr>
          <p:cNvPr id="7" name="Icon - envelope">
            <a:extLst>
              <a:ext uri="{FF2B5EF4-FFF2-40B4-BE49-F238E27FC236}">
                <a16:creationId xmlns:a16="http://schemas.microsoft.com/office/drawing/2014/main" id="{DEB2E850-FF93-5231-161E-6433504D768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42978" y="1895341"/>
            <a:ext cx="381000" cy="381000"/>
          </a:xfrm>
          <a:prstGeom prst="rect">
            <a:avLst/>
          </a:prstGeom>
        </p:spPr>
      </p:pic>
      <p:pic>
        <p:nvPicPr>
          <p:cNvPr id="29" name="Icon - database_shield_delete">
            <a:extLst>
              <a:ext uri="{FF2B5EF4-FFF2-40B4-BE49-F238E27FC236}">
                <a16:creationId xmlns:a16="http://schemas.microsoft.com/office/drawing/2014/main" id="{697B506E-BE17-C0F0-A759-2C3653E28DE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29400" y="5384800"/>
            <a:ext cx="457200" cy="457200"/>
          </a:xfrm>
          <a:prstGeom prst="rect">
            <a:avLst/>
          </a:prstGeom>
        </p:spPr>
      </p:pic>
      <p:sp>
        <p:nvSpPr>
          <p:cNvPr id="239" name="Benefit Metric 1">
            <a:extLst>
              <a:ext uri="{FF2B5EF4-FFF2-40B4-BE49-F238E27FC236}">
                <a16:creationId xmlns:a16="http://schemas.microsoft.com/office/drawing/2014/main" id="{0D5D0982-65E2-463C-A217-9C29D677C452}"/>
              </a:ext>
            </a:extLst>
          </p:cNvPr>
          <p:cNvSpPr txBox="1"/>
          <p:nvPr/>
        </p:nvSpPr>
        <p:spPr>
          <a:xfrm>
            <a:off x="4737099" y="5168900"/>
            <a:ext cx="1422400" cy="406400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65" b="1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Regulatory Compliance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65" b="1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Readiness</a:t>
            </a:r>
            <a:endParaRPr kumimoji="0" lang="en-IN" sz="865" b="1" u="none" strike="noStrike" kern="1200" cap="none" spc="0" normalizeH="0" baseline="0" noProof="0" dirty="0">
              <a:ln>
                <a:noFill/>
              </a:ln>
              <a:solidFill>
                <a:srgbClr val="0B0E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" name="Benefit Metric 2">
            <a:extLst>
              <a:ext uri="{FF2B5EF4-FFF2-40B4-BE49-F238E27FC236}">
                <a16:creationId xmlns:a16="http://schemas.microsoft.com/office/drawing/2014/main" id="{83BC6B32-44D8-4938-8E15-54D77BB16BDC}"/>
              </a:ext>
            </a:extLst>
          </p:cNvPr>
          <p:cNvSpPr txBox="1"/>
          <p:nvPr/>
        </p:nvSpPr>
        <p:spPr>
          <a:xfrm>
            <a:off x="7289800" y="5168900"/>
            <a:ext cx="1498600" cy="40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63500" tIns="38100" rIns="63500" bIns="3810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65" b="1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End-to-End Data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65" b="1" u="none" strike="noStrike" kern="1200" cap="none" spc="0" normalizeH="0" baseline="0" noProof="0" dirty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Deletion Control</a:t>
            </a:r>
          </a:p>
        </p:txBody>
      </p:sp>
      <p:sp>
        <p:nvSpPr>
          <p:cNvPr id="251" name="Benefit Metric 3">
            <a:extLst>
              <a:ext uri="{FF2B5EF4-FFF2-40B4-BE49-F238E27FC236}">
                <a16:creationId xmlns:a16="http://schemas.microsoft.com/office/drawing/2014/main" id="{EEA5A933-E2B6-47F7-BA50-6E4974832930}"/>
              </a:ext>
            </a:extLst>
          </p:cNvPr>
          <p:cNvSpPr txBox="1"/>
          <p:nvPr/>
        </p:nvSpPr>
        <p:spPr>
          <a:xfrm>
            <a:off x="9931400" y="5168900"/>
            <a:ext cx="1270000" cy="406400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10" b="1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Audit-Ready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10" b="1" u="none" strike="noStrike" kern="1200" cap="none" spc="0" normalizeH="0" baseline="0" noProof="0">
                <a:ln>
                  <a:noFill/>
                </a:ln>
                <a:solidFill>
                  <a:srgbClr val="0B0E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Evidence</a:t>
            </a:r>
            <a:endParaRPr kumimoji="0" lang="en-IN" sz="910" b="1" u="none" strike="noStrike" kern="1200" cap="none" spc="0" normalizeH="0" baseline="0" noProof="0" dirty="0">
              <a:ln>
                <a:noFill/>
              </a:ln>
              <a:solidFill>
                <a:srgbClr val="0B0E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04CFAD-5B46-4E10-85E4-272867250FF3}"/>
              </a:ext>
            </a:extLst>
          </p:cNvPr>
          <p:cNvSpPr txBox="1"/>
          <p:nvPr/>
        </p:nvSpPr>
        <p:spPr>
          <a:xfrm>
            <a:off x="4737100" y="5600699"/>
            <a:ext cx="1435100" cy="660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1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Supports right-to-erasure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1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fulfilment within required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1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SLA timelines and strengthens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1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ICO audit preparedness</a:t>
            </a:r>
            <a:endParaRPr kumimoji="0" lang="en-IN" sz="71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E604F00-9B0F-4C7C-A279-C53C6C5C46BA}"/>
              </a:ext>
            </a:extLst>
          </p:cNvPr>
          <p:cNvSpPr txBox="1"/>
          <p:nvPr/>
        </p:nvSpPr>
        <p:spPr>
          <a:xfrm>
            <a:off x="7289800" y="5600699"/>
            <a:ext cx="1549400" cy="660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5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Extends deletion coverage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5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across profile stores, event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5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history, data lakes, audiences,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5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and connected destinations</a:t>
            </a:r>
            <a:endParaRPr kumimoji="0" lang="en-IN" sz="705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FBFFEBA-7D6D-4331-AE06-A2D0AEF13411}"/>
              </a:ext>
            </a:extLst>
          </p:cNvPr>
          <p:cNvSpPr txBox="1"/>
          <p:nvPr/>
        </p:nvSpPr>
        <p:spPr>
          <a:xfrm>
            <a:off x="9931400" y="5600699"/>
            <a:ext cx="1333500" cy="660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5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Maintains clear job status,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5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completion receipts, and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5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deletion timelines for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5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compliance validation</a:t>
            </a:r>
            <a:endParaRPr kumimoji="0" lang="en-IN" sz="725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1842683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White">
  <a:themeElements>
    <a:clrScheme name="Custom 27">
      <a:dk1>
        <a:srgbClr val="000000"/>
      </a:dk1>
      <a:lt1>
        <a:srgbClr val="FFFFFF"/>
      </a:lt1>
      <a:dk2>
        <a:srgbClr val="0E1259"/>
      </a:dk2>
      <a:lt2>
        <a:srgbClr val="F7F5F2"/>
      </a:lt2>
      <a:accent1>
        <a:srgbClr val="007BFF"/>
      </a:accent1>
      <a:accent2>
        <a:srgbClr val="8CC6FF"/>
      </a:accent2>
      <a:accent3>
        <a:srgbClr val="71007B"/>
      </a:accent3>
      <a:accent4>
        <a:srgbClr val="FF9600"/>
      </a:accent4>
      <a:accent5>
        <a:srgbClr val="008765"/>
      </a:accent5>
      <a:accent6>
        <a:srgbClr val="C150C9"/>
      </a:accent6>
      <a:hlink>
        <a:srgbClr val="FF9600"/>
      </a:hlink>
      <a:folHlink>
        <a:srgbClr val="FFD79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Clerx Digital ppt template" id="{6B5C8273-BA28-AB41-9C5E-B7CB62A478E6}" vid="{C3E02240-5A5E-8A4C-8AD0-41F0E8A08DC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1582</Words>
  <Application>Microsoft Office PowerPoint</Application>
  <PresentationFormat>Widescreen</PresentationFormat>
  <Paragraphs>355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Edmondsans Regular</vt:lpstr>
      <vt:lpstr>Wingdings</vt:lpstr>
      <vt:lpstr>White</vt:lpstr>
      <vt:lpstr>Case Study - OneTrust A/B Testing for Consent Performance Improvement </vt:lpstr>
      <vt:lpstr>Case Study - ObservePoint HAR Analyzer for App Log Validation</vt:lpstr>
      <vt:lpstr>Case Study - ObservePoint Web Coverage Blindspot Remediation</vt:lpstr>
      <vt:lpstr>Case Study - Consent Signal Propagation with mParticle CDP</vt:lpstr>
      <vt:lpstr>Case Study - DSR Handling and Erasure Governance Across AEP/RTCDP and mParticle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Rajavel T</dc:creator>
  <cp:lastModifiedBy>Rajavel T</cp:lastModifiedBy>
  <cp:revision>11</cp:revision>
  <dcterms:created xsi:type="dcterms:W3CDTF">2026-06-24T19:13:01Z</dcterms:created>
  <dcterms:modified xsi:type="dcterms:W3CDTF">2026-06-25T06:46:56Z</dcterms:modified>
</cp:coreProperties>
</file>