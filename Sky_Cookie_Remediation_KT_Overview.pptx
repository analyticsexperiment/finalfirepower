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8fdce7ac24819" /><Relationship Type="http://schemas.openxmlformats.org/officeDocument/2006/relationships/extended-properties" Target="/docProps/app.xml" Id="R6c9ceddb05234a64" /><Relationship Type="http://schemas.openxmlformats.org/officeDocument/2006/relationships/officeDocument" Target="/ppt/presentation.xml" Id="R8fd8f0c011ff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6966d60234d41"/>
  </p:sldMasterIdLst>
  <p:notesMasterIdLst>
    <p:notesMasterId xmlns:r="http://schemas.openxmlformats.org/officeDocument/2006/relationships" r:id="R8e6320008ac6472f"/>
  </p:notesMasterIdLst>
  <p:sldIdLst>
    <p:sldId xmlns:r="http://schemas.openxmlformats.org/officeDocument/2006/relationships" id="256" r:id="R36f3ac3e2bb84c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072542ad04719" /><Relationship Type="http://schemas.openxmlformats.org/officeDocument/2006/relationships/slideMaster" Target="/ppt/slideMasters/slideMaster1.xml" Id="R83a6966d60234d41" /><Relationship Type="http://schemas.openxmlformats.org/officeDocument/2006/relationships/notesMaster" Target="/ppt/notesMasters/notesMaster1.xml" Id="R8e6320008ac6472f" /><Relationship Type="http://schemas.openxmlformats.org/officeDocument/2006/relationships/presProps" Target="/ppt/presProps.xml" Id="R8451ef15e0ff4b35" /><Relationship Type="http://schemas.openxmlformats.org/officeDocument/2006/relationships/tableStyles" Target="/ppt/tableStyles.xml" Id="R5e47e77d63694d5c" /><Relationship Type="http://schemas.openxmlformats.org/officeDocument/2006/relationships/slide" Target="/ppt/slides/slide1.xml" Id="R36f3ac3e2bb8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ebe47594a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5890b2f414a09" /><Relationship Type="http://schemas.openxmlformats.org/officeDocument/2006/relationships/notesMaster" Target="/ppt/notesMasters/notesMaster1.xml" Id="R951456f1ce18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onboarding over exactly five working days. Day 1 establishes scope and consent expectations. Day 2 covers vendor implementation and browser evidence. Day 3 covers ObservePoint audit configuration, custom tags, and rules. Day 4 covers validation, potential defects, and remediation reporting. Day 5 combines the workflow in practical and reverse KT. Trainer names, working dates, suggested durations, and status are maintained in the companion Excel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33a6e035e44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8516d4f254c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8d3378dc74b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1805e3d104f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0d969716c4b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ab9d58017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EADD8E-E3FA-4191-98B9-3663650EB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9D81C0-FC88-4688-BA64-F7C92A5617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DE41E3-82F5-45D3-911B-2D1EB6E81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A53BB4-D67E-4897-B558-13E0B06C2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756E8D-9550-4502-BADD-B9EBAD70B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237444-3E16-4EA1-BCA9-28D8915F7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8BD98B-9155-4894-9E41-C792AFCA62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A1E147-5A67-41DB-87D7-EDCD4E9F30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E1D8A8-E629-4B83-A3F1-509BCE784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50DAFC-BCFC-46D6-A777-938C3A263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f6be1288243d0" /><Relationship Type="http://schemas.openxmlformats.org/officeDocument/2006/relationships/slideLayout" Target="/ppt/slideLayouts/slideLayout1.xml" Id="R543ebc1c57414886" /><Relationship Type="http://schemas.openxmlformats.org/officeDocument/2006/relationships/slideLayout" Target="/ppt/slideLayouts/slideLayout2.xml" Id="Ra5b299ee666949f1" /><Relationship Type="http://schemas.openxmlformats.org/officeDocument/2006/relationships/slideLayout" Target="/ppt/slideLayouts/slideLayout3.xml" Id="R2c71f562ff3d457a" /><Relationship Type="http://schemas.openxmlformats.org/officeDocument/2006/relationships/slideLayout" Target="/ppt/slideLayouts/slideLayout4.xml" Id="R2c193c2a917f4733" /><Relationship Type="http://schemas.openxmlformats.org/officeDocument/2006/relationships/slideLayout" Target="/ppt/slideLayouts/slideLayout5.xml" Id="R3e01b609f25844aa" /><Relationship Type="http://schemas.openxmlformats.org/officeDocument/2006/relationships/slideLayout" Target="/ppt/slideLayouts/slideLayout6.xml" Id="R0b181472cad7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ebc1c57414886"/>
    <p:sldLayoutId xmlns:r="http://schemas.openxmlformats.org/officeDocument/2006/relationships" id="2147483650" r:id="Ra5b299ee666949f1"/>
    <p:sldLayoutId xmlns:r="http://schemas.openxmlformats.org/officeDocument/2006/relationships" id="2147483651" r:id="R2c71f562ff3d457a"/>
    <p:sldLayoutId xmlns:r="http://schemas.openxmlformats.org/officeDocument/2006/relationships" id="2147483652" r:id="R2c193c2a917f4733"/>
    <p:sldLayoutId xmlns:r="http://schemas.openxmlformats.org/officeDocument/2006/relationships" id="2147483653" r:id="R3e01b609f25844aa"/>
    <p:sldLayoutId xmlns:r="http://schemas.openxmlformats.org/officeDocument/2006/relationships" id="2147483654" r:id="R0b181472cad7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483e2cc6f46c9" /><Relationship Type="http://schemas.openxmlformats.org/officeDocument/2006/relationships/notesSlide" Target="/ppt/notesSlides/notesSlide1.xml" Id="Rce5b3f707c1844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ky Cookie Remediation — 5-Day Knowledge Transfer Plan">
            <a:extLst xmlns:a="http://schemas.openxmlformats.org/drawingml/2006/main">
              <a:ext uri="{FF2B5EF4-FFF2-40B4-BE49-F238E27FC236}">
                <a16:creationId xmlns:a16="http://schemas.microsoft.com/office/drawing/2014/main" id="{A79EDB90-D2B6-4794-9CFC-5EB2897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Sky Cookie Remediation — 5-Day Knowledge Transfer Plan</a:t>
            </a:r>
          </a:p>
        </p:txBody>
      </p:sp>
      <p:sp>
        <p:nvSpPr>
          <p:cNvPr id="2" name="Planned training scope, practical learning, and handover">
            <a:extLst xmlns:a="http://schemas.openxmlformats.org/drawingml/2006/main">
              <a:ext uri="{FF2B5EF4-FFF2-40B4-BE49-F238E27FC236}">
                <a16:creationId xmlns:a16="http://schemas.microsoft.com/office/drawing/2014/main" id="{F64B21C1-F6AF-4E7A-9134-2E525DB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57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579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26579"/>
                </a:solidFill>
                <a:latin typeface="Lato"/>
                <a:ea typeface="Lato"/>
                <a:cs typeface="Lato"/>
              </a:rPr>
              <a:t>Planned training scope, practical learning, and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80DC-42ED-46BD-B842-FEEF8F7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4" name="DAY 1">
            <a:extLst xmlns:a="http://schemas.openxmlformats.org/drawingml/2006/main">
              <a:ext uri="{FF2B5EF4-FFF2-40B4-BE49-F238E27FC236}">
                <a16:creationId xmlns:a16="http://schemas.microsoft.com/office/drawing/2014/main" id="{F13CFF17-C441-4EBD-9272-829BE871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FB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6FB9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06FB9"/>
                </a:solidFill>
                <a:latin typeface="Lato"/>
                <a:ea typeface="Lato"/>
                <a:cs typeface="Lato"/>
              </a:rPr>
              <a:t>DAY 1</a:t>
            </a:r>
          </a:p>
        </p:txBody>
      </p:sp>
      <p:sp>
        <p:nvSpPr>
          <p:cNvPr id="5" name="Project &amp; Consent Management">
            <a:extLst xmlns:a="http://schemas.openxmlformats.org/drawingml/2006/main">
              <a:ext uri="{FF2B5EF4-FFF2-40B4-BE49-F238E27FC236}">
                <a16:creationId xmlns:a16="http://schemas.microsoft.com/office/drawing/2014/main" id="{5565AE71-9F8A-4763-88CF-B26BA39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9775"/>
            <a:ext cx="2066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Project &amp; Consent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FD45-818E-4EC4-9372-090B82A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20669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Project overview and scope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Cookie compliance fundamentals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CMP and consent categories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Consent scenarios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Project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342BA-BD82-4AD2-BCF6-1D0765D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590675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8" name="DAY 2">
            <a:extLst xmlns:a="http://schemas.openxmlformats.org/drawingml/2006/main">
              <a:ext uri="{FF2B5EF4-FFF2-40B4-BE49-F238E27FC236}">
                <a16:creationId xmlns:a16="http://schemas.microsoft.com/office/drawing/2014/main" id="{D91BC874-F31C-4D17-95DD-3BDF8F4A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5906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E8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87E8B"/>
                </a:solidFill>
                <a:latin typeface="Lato"/>
                <a:ea typeface="Lato"/>
                <a:cs typeface="Lato"/>
              </a:rPr>
              <a:t>DAY 2</a:t>
            </a:r>
          </a:p>
        </p:txBody>
      </p:sp>
      <p:sp>
        <p:nvSpPr>
          <p:cNvPr id="9" name="Vendor &amp; Cookie Analysis">
            <a:extLst xmlns:a="http://schemas.openxmlformats.org/drawingml/2006/main">
              <a:ext uri="{FF2B5EF4-FFF2-40B4-BE49-F238E27FC236}">
                <a16:creationId xmlns:a16="http://schemas.microsoft.com/office/drawing/2014/main" id="{634D909D-7065-4E0B-981D-628C723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9775"/>
            <a:ext cx="2066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Vendor &amp; Cookie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9D61C-5399-4873-912D-25BC5126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47975"/>
            <a:ext cx="20669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Vendor identification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Implementation methods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Network request inspection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Vendor documentation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Cookie and storage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2B07F-3B20-4F9C-9485-EA28AB0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90675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12" name="DAY 3">
            <a:extLst xmlns:a="http://schemas.openxmlformats.org/drawingml/2006/main">
              <a:ext uri="{FF2B5EF4-FFF2-40B4-BE49-F238E27FC236}">
                <a16:creationId xmlns:a16="http://schemas.microsoft.com/office/drawing/2014/main" id="{B55F95D3-33AE-4BA5-985C-D44D5FB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906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157A6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6157A6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6157A6"/>
                </a:solidFill>
                <a:latin typeface="Lato"/>
                <a:ea typeface="Lato"/>
                <a:cs typeface="Lato"/>
              </a:rPr>
              <a:t>DAY 3</a:t>
            </a:r>
          </a:p>
        </p:txBody>
      </p:sp>
      <p:sp>
        <p:nvSpPr>
          <p:cNvPr id="13" name="ObservePoint Configuration">
            <a:extLst xmlns:a="http://schemas.openxmlformats.org/drawingml/2006/main">
              <a:ext uri="{FF2B5EF4-FFF2-40B4-BE49-F238E27FC236}">
                <a16:creationId xmlns:a16="http://schemas.microsoft.com/office/drawing/2014/main" id="{979FA14F-20C7-42C5-865A-7E48EA03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9775"/>
            <a:ext cx="2066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ObservePoint 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42BAF-0C06-4ABC-87FE-D07AC575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20669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Audit setup and management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URL lists and journeys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Consent-based configurations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Custom tags and rules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Presence/absence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2DCAD-CF92-491A-B925-5B07E1C8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90675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16" name="DAY 4">
            <a:extLst xmlns:a="http://schemas.openxmlformats.org/drawingml/2006/main">
              <a:ext uri="{FF2B5EF4-FFF2-40B4-BE49-F238E27FC236}">
                <a16:creationId xmlns:a16="http://schemas.microsoft.com/office/drawing/2014/main" id="{78BBDA6C-6F2B-4EC5-8039-131D1BAB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5906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26724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26724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B26724"/>
                </a:solidFill>
                <a:latin typeface="Lato"/>
                <a:ea typeface="Lato"/>
                <a:cs typeface="Lato"/>
              </a:rPr>
              <a:t>DAY 4</a:t>
            </a:r>
          </a:p>
        </p:txBody>
      </p:sp>
      <p:sp>
        <p:nvSpPr>
          <p:cNvPr id="17" name="Audit Validation &amp; Reporting">
            <a:extLst xmlns:a="http://schemas.openxmlformats.org/drawingml/2006/main">
              <a:ext uri="{FF2B5EF4-FFF2-40B4-BE49-F238E27FC236}">
                <a16:creationId xmlns:a16="http://schemas.microsoft.com/office/drawing/2014/main" id="{3C4AB0E8-693E-4A5F-B1FA-5EF47F7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09775"/>
            <a:ext cx="2066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Audit Validation &amp;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A859B-F3C0-4036-8D3C-60D1B04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47975"/>
            <a:ext cx="20669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Audit report analysis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Consent validation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Vendor firing issues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Defect investigation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Evidence and remediation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FF2CE-B21D-4361-98F1-47C6AAC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90675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20" name="DAY 5">
            <a:extLst xmlns:a="http://schemas.openxmlformats.org/drawingml/2006/main">
              <a:ext uri="{FF2B5EF4-FFF2-40B4-BE49-F238E27FC236}">
                <a16:creationId xmlns:a16="http://schemas.microsoft.com/office/drawing/2014/main" id="{C72AF2A7-912F-4B0A-9F1F-6A4ABB4B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906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77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776C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4776C"/>
                </a:solidFill>
                <a:latin typeface="Lato"/>
                <a:ea typeface="Lato"/>
                <a:cs typeface="Lato"/>
              </a:rPr>
              <a:t>DAY 5</a:t>
            </a:r>
          </a:p>
        </p:txBody>
      </p:sp>
      <p:sp>
        <p:nvSpPr>
          <p:cNvPr id="21" name="Practical KT &amp; Handover">
            <a:extLst xmlns:a="http://schemas.openxmlformats.org/drawingml/2006/main">
              <a:ext uri="{FF2B5EF4-FFF2-40B4-BE49-F238E27FC236}">
                <a16:creationId xmlns:a16="http://schemas.microsoft.com/office/drawing/2014/main" id="{099EF255-863B-4588-B4F8-86F3FE5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2066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D4E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42D4E"/>
                </a:solidFill>
                <a:latin typeface="Lato"/>
                <a:ea typeface="Lato"/>
                <a:cs typeface="Lato"/>
              </a:rPr>
              <a:t>Practical KT &amp;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21E5D-2A22-40B3-BEC4-52E327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47975"/>
            <a:ext cx="20669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End-to-end vendor analysis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ObservePoint walkthrough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Documentation and reporting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Practical exercise</a:t>
            </a:r>
          </a:p>
          <a:p xmlns:a="http://schemas.openxmlformats.org/drawingml/2006/main">
            <a:pPr marL="152400" indent="-76200" algn="l">
              <a:spcAft>
                <a:spcPts val="300"/>
              </a:spcAft>
              <a:buChar char="•"/>
              <a:defRPr sz="1650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21344B"/>
                </a:solidFill>
                <a:latin typeface="Lato"/>
                <a:ea typeface="Lato"/>
                <a:cs typeface="Lato"/>
              </a:rPr>
              <a:t>Reverse KT and Q&amp;A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07262-43A6-4CF2-A383-5EF85F46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150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9"/>
            </a:solidFill>
            <a:prstDash val="solid"/>
          </a:ln>
        </p:spPr>
      </p:sp>
      <p:sp>
        <p:nvSpPr>
          <p:cNvPr id="24" name="Expected outcome">
            <a:extLst xmlns:a="http://schemas.openxmlformats.org/drawingml/2006/main">
              <a:ext uri="{FF2B5EF4-FFF2-40B4-BE49-F238E27FC236}">
                <a16:creationId xmlns:a16="http://schemas.microsoft.com/office/drawing/2014/main" id="{D4B3512E-B9AE-4675-A059-5553CB75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FB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6FB9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06FB9"/>
                </a:solidFill>
                <a:latin typeface="Lato"/>
                <a:ea typeface="Lato"/>
                <a:cs typeface="Lato"/>
              </a:rPr>
              <a:t>Expected outcome</a:t>
            </a:r>
          </a:p>
        </p:txBody>
      </p:sp>
      <p:sp>
        <p:nvSpPr>
          <p:cNvPr id="25" name="Independently perform routine vendor investigation, document trac">
            <a:extLst xmlns:a="http://schemas.openxmlformats.org/drawingml/2006/main">
              <a:ext uri="{FF2B5EF4-FFF2-40B4-BE49-F238E27FC236}">
                <a16:creationId xmlns:a16="http://schemas.microsoft.com/office/drawing/2014/main" id="{686A4BCA-59A8-49B2-BA1B-77AF34F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096000"/>
            <a:ext cx="9182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1344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1344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21344B"/>
                </a:solidFill>
                <a:latin typeface="Lato"/>
                <a:ea typeface="Lato"/>
                <a:cs typeface="Lato"/>
              </a:rPr>
              <a:t>Independently perform routine vendor investigation, document tracking technologies, and validate ObservePoint audits.</a:t>
            </a:r>
          </a:p>
        </p:txBody>
      </p:sp>
    </p:spTree>
    <p:extLst>
      <p:ext uri="{BB962C8B-B14F-4D97-AF65-F5344CB8AC3E}">
        <p14:creationId xmlns:p14="http://schemas.microsoft.com/office/powerpoint/2010/main" val="924864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2026-10-09T05:24:21.9220000Z</dcterms:created>
  <dcterms:modified xsi:type="dcterms:W3CDTF">2026-10-09T05:24:21.9220000Z</dcterms:modified>
</coreProperties>
</file>