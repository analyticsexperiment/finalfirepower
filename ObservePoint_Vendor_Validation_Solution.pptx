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6.svg"/><Relationship Id="rId15" Type="http://schemas.openxmlformats.org/officeDocument/2006/relationships/image" Target="../media/image22.svg"/><Relationship Id="rId10" Type="http://schemas.openxmlformats.org/officeDocument/2006/relationships/image" Target="../media/image17.svg"/><Relationship Id="rId4" Type="http://schemas.openxmlformats.org/officeDocument/2006/relationships/image" Target="../media/image12.svg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1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14.svg"/><Relationship Id="rId10" Type="http://schemas.openxmlformats.org/officeDocument/2006/relationships/image" Target="../media/image10.svg"/><Relationship Id="rId4" Type="http://schemas.openxmlformats.org/officeDocument/2006/relationships/image" Target="../media/image13.sv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0.svg"/><Relationship Id="rId3" Type="http://schemas.openxmlformats.org/officeDocument/2006/relationships/image" Target="../media/image1.svg"/><Relationship Id="rId7" Type="http://schemas.openxmlformats.org/officeDocument/2006/relationships/image" Target="../media/image26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11" Type="http://schemas.openxmlformats.org/officeDocument/2006/relationships/image" Target="../media/image21.svg"/><Relationship Id="rId5" Type="http://schemas.openxmlformats.org/officeDocument/2006/relationships/image" Target="../media/image24.svg"/><Relationship Id="rId10" Type="http://schemas.openxmlformats.org/officeDocument/2006/relationships/image" Target="../media/image28.svg"/><Relationship Id="rId4" Type="http://schemas.openxmlformats.org/officeDocument/2006/relationships/image" Target="../media/image6.svg"/><Relationship Id="rId9" Type="http://schemas.openxmlformats.org/officeDocument/2006/relationships/image" Target="../media/image4.svg"/><Relationship Id="rId1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0" Type="http://schemas.openxmlformats.org/officeDocument/2006/relationships/image" Target="../media/image30.svg"/><Relationship Id="rId4" Type="http://schemas.openxmlformats.org/officeDocument/2006/relationships/image" Target="../media/image14.sv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1 number badge">
            <a:extLst>
              <a:ext uri="{FF2B5EF4-FFF2-40B4-BE49-F238E27FC236}">
                <a16:creationId xmlns:a16="http://schemas.microsoft.com/office/drawing/2014/main" id="{EBFEBDE6-D355-4817-96FC-0355B2BED300}"/>
              </a:ext>
            </a:extLst>
          </p:cNvPr>
          <p:cNvSpPr>
            <a:spLocks noGrp="1"/>
          </p:cNvSpPr>
          <p:nvPr/>
        </p:nvSpPr>
        <p:spPr>
          <a:xfrm>
            <a:off x="209550" y="161925"/>
            <a:ext cx="628650" cy="657225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B48CB4-0C05-4B98-B561-F76B67047289}"/>
              </a:ext>
            </a:extLst>
          </p:cNvPr>
          <p:cNvSpPr>
            <a:spLocks noGrp="1"/>
          </p:cNvSpPr>
          <p:nvPr/>
        </p:nvSpPr>
        <p:spPr>
          <a:xfrm>
            <a:off x="209550" y="133350"/>
            <a:ext cx="628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EE5C5-E340-47AA-AB92-682949C5ABCB}"/>
              </a:ext>
            </a:extLst>
          </p:cNvPr>
          <p:cNvSpPr>
            <a:spLocks noGrp="1"/>
          </p:cNvSpPr>
          <p:nvPr/>
        </p:nvSpPr>
        <p:spPr>
          <a:xfrm>
            <a:off x="1095375" y="38100"/>
            <a:ext cx="1338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4050" b="1">
                <a:solidFill>
                  <a:srgbClr val="000629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00629"/>
                </a:solidFill>
                <a:latin typeface="Segoe UI"/>
                <a:ea typeface="Segoe UI"/>
                <a:cs typeface="Segoe UI"/>
              </a:rPr>
              <a:t>Current 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99F94-598E-4831-92A4-751BFFF83A6E}"/>
              </a:ext>
            </a:extLst>
          </p:cNvPr>
          <p:cNvSpPr>
            <a:spLocks noGrp="1"/>
          </p:cNvSpPr>
          <p:nvPr/>
        </p:nvSpPr>
        <p:spPr>
          <a:xfrm>
            <a:off x="1104900" y="695325"/>
            <a:ext cx="1200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2025" b="0">
                <a:solidFill>
                  <a:srgbClr val="0054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0054C8"/>
                </a:solidFill>
                <a:latin typeface="Segoe UI"/>
                <a:ea typeface="Segoe UI"/>
                <a:cs typeface="Segoe UI"/>
              </a:rPr>
              <a:t>Why we moved beyond On-Page Actions for vendor validation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ACDFB-1359-4B72-943F-F6895643851C}"/>
              </a:ext>
            </a:extLst>
          </p:cNvPr>
          <p:cNvSpPr>
            <a:spLocks noGrp="1"/>
          </p:cNvSpPr>
          <p:nvPr/>
        </p:nvSpPr>
        <p:spPr>
          <a:xfrm>
            <a:off x="209550" y="1066800"/>
            <a:ext cx="14573250" cy="23813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C97BD5-6123-4106-9F91-951CDC2B575A}"/>
              </a:ext>
            </a:extLst>
          </p:cNvPr>
          <p:cNvSpPr>
            <a:spLocks noGrp="1"/>
          </p:cNvSpPr>
          <p:nvPr/>
        </p:nvSpPr>
        <p:spPr>
          <a:xfrm>
            <a:off x="14697075" y="1023938"/>
            <a:ext cx="104775" cy="104775"/>
          </a:xfrm>
          <a:prstGeom prst="ellipse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C3D3F0-1E07-42B7-B4E4-859A1C8A017C}"/>
              </a:ext>
            </a:extLst>
          </p:cNvPr>
          <p:cNvSpPr>
            <a:spLocks noGrp="1"/>
          </p:cNvSpPr>
          <p:nvPr/>
        </p:nvSpPr>
        <p:spPr>
          <a:xfrm>
            <a:off x="542925" y="1266825"/>
            <a:ext cx="13992225" cy="866775"/>
          </a:xfrm>
          <a:prstGeom prst="roundRect">
            <a:avLst>
              <a:gd name="adj" fmla="val 10989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11430">
            <a:solidFill>
              <a:srgbClr val="1E6A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6" name="Graphic 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04875" y="1381125"/>
            <a:ext cx="666750" cy="64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5CBBAA-057D-4FE7-AF83-A5382B8BF8DD}"/>
              </a:ext>
            </a:extLst>
          </p:cNvPr>
          <p:cNvSpPr>
            <a:spLocks noGrp="1"/>
          </p:cNvSpPr>
          <p:nvPr/>
        </p:nvSpPr>
        <p:spPr>
          <a:xfrm>
            <a:off x="1971675" y="1390650"/>
            <a:ext cx="12049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 use ObservePoint to audit 800+ pages across multiple properties and consent scenarios.
Our goal is to accurately validate whether each vendor fires (or does not fire) on every page.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00DB0A-78F6-46E0-B509-AC743C11AFDE}"/>
              </a:ext>
            </a:extLst>
          </p:cNvPr>
          <p:cNvSpPr>
            <a:spLocks noGrp="1"/>
          </p:cNvSpPr>
          <p:nvPr/>
        </p:nvSpPr>
        <p:spPr>
          <a:xfrm>
            <a:off x="523875" y="2409825"/>
            <a:ext cx="2009775" cy="1276350"/>
          </a:xfrm>
          <a:prstGeom prst="roundRect">
            <a:avLst>
              <a:gd name="adj" fmla="val 6716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ection 1 number badge">
            <a:extLst>
              <a:ext uri="{FF2B5EF4-FFF2-40B4-BE49-F238E27FC236}">
                <a16:creationId xmlns:a16="http://schemas.microsoft.com/office/drawing/2014/main" id="{133AE94D-CCB3-46AE-B72E-58C57B57EC39}"/>
              </a:ext>
            </a:extLst>
          </p:cNvPr>
          <p:cNvSpPr>
            <a:spLocks noGrp="1"/>
          </p:cNvSpPr>
          <p:nvPr/>
        </p:nvSpPr>
        <p:spPr>
          <a:xfrm>
            <a:off x="657225" y="255270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E0AE12-2199-4679-900F-EDF9C09155F3}"/>
              </a:ext>
            </a:extLst>
          </p:cNvPr>
          <p:cNvSpPr>
            <a:spLocks noGrp="1"/>
          </p:cNvSpPr>
          <p:nvPr/>
        </p:nvSpPr>
        <p:spPr>
          <a:xfrm>
            <a:off x="657225" y="254317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pic>
        <p:nvPicPr>
          <p:cNvPr id="81" name="Graphic 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09675" y="2724150"/>
            <a:ext cx="742950" cy="742950"/>
          </a:xfrm>
          <a:prstGeom prst="rect">
            <a:avLst/>
          </a:prstGeom>
        </p:spPr>
      </p:pic>
      <p:pic>
        <p:nvPicPr>
          <p:cNvPr id="82" name="Graphic 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52600" y="3248025"/>
            <a:ext cx="438150" cy="4381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B151F47-5060-41C8-908F-A5101E528F6B}"/>
              </a:ext>
            </a:extLst>
          </p:cNvPr>
          <p:cNvSpPr>
            <a:spLocks noGrp="1"/>
          </p:cNvSpPr>
          <p:nvPr/>
        </p:nvSpPr>
        <p:spPr>
          <a:xfrm>
            <a:off x="2762250" y="2505075"/>
            <a:ext cx="719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Browser-Side Limitations (On-Page Action Code)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CA5DC5-F1BB-4AA0-AE0A-21DE0DEAC146}"/>
              </a:ext>
            </a:extLst>
          </p:cNvPr>
          <p:cNvSpPr>
            <a:spLocks noGrp="1"/>
          </p:cNvSpPr>
          <p:nvPr/>
        </p:nvSpPr>
        <p:spPr>
          <a:xfrm>
            <a:off x="2762250" y="28860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937DDE-93DC-4907-9572-AFBBD1F3C8AD}"/>
              </a:ext>
            </a:extLst>
          </p:cNvPr>
          <p:cNvSpPr>
            <a:spLocks noGrp="1"/>
          </p:cNvSpPr>
          <p:nvPr/>
        </p:nvSpPr>
        <p:spPr>
          <a:xfrm>
            <a:off x="2981325" y="2895600"/>
            <a:ext cx="6972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Our current JavaScript uses performance.getEntriesByType(‘resource’).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C7584F-DDE7-430B-BB18-52112EC16003}"/>
              </a:ext>
            </a:extLst>
          </p:cNvPr>
          <p:cNvSpPr>
            <a:spLocks noGrp="1"/>
          </p:cNvSpPr>
          <p:nvPr/>
        </p:nvSpPr>
        <p:spPr>
          <a:xfrm>
            <a:off x="2762250" y="31527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2DC7FA-45C6-4408-997F-A07160EDD4EF}"/>
              </a:ext>
            </a:extLst>
          </p:cNvPr>
          <p:cNvSpPr>
            <a:spLocks noGrp="1"/>
          </p:cNvSpPr>
          <p:nvPr/>
        </p:nvSpPr>
        <p:spPr>
          <a:xfrm>
            <a:off x="2981325" y="3162300"/>
            <a:ext cx="6972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High-traffic pages (e.g., Sky Sports) generate 900+ network requests.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EDDCD8-296E-4C6E-A8EA-8A4F94B48D91}"/>
              </a:ext>
            </a:extLst>
          </p:cNvPr>
          <p:cNvSpPr>
            <a:spLocks noGrp="1"/>
          </p:cNvSpPr>
          <p:nvPr/>
        </p:nvSpPr>
        <p:spPr>
          <a:xfrm>
            <a:off x="2762250" y="34194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0542E-6853-46DB-9F01-2FB25919B282}"/>
              </a:ext>
            </a:extLst>
          </p:cNvPr>
          <p:cNvSpPr>
            <a:spLocks noGrp="1"/>
          </p:cNvSpPr>
          <p:nvPr/>
        </p:nvSpPr>
        <p:spPr>
          <a:xfrm>
            <a:off x="2981325" y="3429000"/>
            <a:ext cx="6972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Browser resource timing exposes only ~250 requests, causing missed vendor calls.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5F0835-B669-461C-9304-69DD3B6A004D}"/>
              </a:ext>
            </a:extLst>
          </p:cNvPr>
          <p:cNvSpPr>
            <a:spLocks noGrp="1"/>
          </p:cNvSpPr>
          <p:nvPr/>
        </p:nvSpPr>
        <p:spPr>
          <a:xfrm>
            <a:off x="2533650" y="3752850"/>
            <a:ext cx="7419975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1C7DD7-838A-4E9A-8ACE-0825E5A341EE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2009775" cy="1276350"/>
          </a:xfrm>
          <a:prstGeom prst="roundRect">
            <a:avLst>
              <a:gd name="adj" fmla="val 6716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ection 2 number badge">
            <a:extLst>
              <a:ext uri="{FF2B5EF4-FFF2-40B4-BE49-F238E27FC236}">
                <a16:creationId xmlns:a16="http://schemas.microsoft.com/office/drawing/2014/main" id="{2B0DC250-2BB4-48A7-92BF-55DED260B58B}"/>
              </a:ext>
            </a:extLst>
          </p:cNvPr>
          <p:cNvSpPr>
            <a:spLocks noGrp="1"/>
          </p:cNvSpPr>
          <p:nvPr/>
        </p:nvSpPr>
        <p:spPr>
          <a:xfrm>
            <a:off x="657225" y="400050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A44582-8581-4DC4-AC46-770E18D2EF02}"/>
              </a:ext>
            </a:extLst>
          </p:cNvPr>
          <p:cNvSpPr>
            <a:spLocks noGrp="1"/>
          </p:cNvSpPr>
          <p:nvPr/>
        </p:nvSpPr>
        <p:spPr>
          <a:xfrm>
            <a:off x="657225" y="399097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pic>
        <p:nvPicPr>
          <p:cNvPr id="94" name="Graphic 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09675" y="4171950"/>
            <a:ext cx="742950" cy="742950"/>
          </a:xfrm>
          <a:prstGeom prst="rect">
            <a:avLst/>
          </a:prstGeom>
        </p:spPr>
      </p:pic>
      <p:pic>
        <p:nvPicPr>
          <p:cNvPr id="95" name="Graphic 9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752600" y="4695825"/>
            <a:ext cx="438150" cy="4381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1605E23-F9A4-40C8-928B-8EC374089976}"/>
              </a:ext>
            </a:extLst>
          </p:cNvPr>
          <p:cNvSpPr>
            <a:spLocks noGrp="1"/>
          </p:cNvSpPr>
          <p:nvPr/>
        </p:nvSpPr>
        <p:spPr>
          <a:xfrm>
            <a:off x="2762250" y="3952875"/>
            <a:ext cx="719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Not All Vendors Have Native Tags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6FE6EA-B6DE-4D1A-8EE8-4B8ABA3F1D9C}"/>
              </a:ext>
            </a:extLst>
          </p:cNvPr>
          <p:cNvSpPr>
            <a:spLocks noGrp="1"/>
          </p:cNvSpPr>
          <p:nvPr/>
        </p:nvSpPr>
        <p:spPr>
          <a:xfrm>
            <a:off x="2762250" y="43338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B7672B-2821-4ED2-9DE6-78201E2BB949}"/>
              </a:ext>
            </a:extLst>
          </p:cNvPr>
          <p:cNvSpPr>
            <a:spLocks noGrp="1"/>
          </p:cNvSpPr>
          <p:nvPr/>
        </p:nvSpPr>
        <p:spPr>
          <a:xfrm>
            <a:off x="2981325" y="4343400"/>
            <a:ext cx="6972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Many vendors are not available as native tags in ObservePoint.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67B0F-7522-4841-B4FC-51B93822EEE2}"/>
              </a:ext>
            </a:extLst>
          </p:cNvPr>
          <p:cNvSpPr>
            <a:spLocks noGrp="1"/>
          </p:cNvSpPr>
          <p:nvPr/>
        </p:nvSpPr>
        <p:spPr>
          <a:xfrm>
            <a:off x="2762250" y="46005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235B15-50D7-413B-B1D8-1EBC1D1466A5}"/>
              </a:ext>
            </a:extLst>
          </p:cNvPr>
          <p:cNvSpPr>
            <a:spLocks noGrp="1"/>
          </p:cNvSpPr>
          <p:nvPr/>
        </p:nvSpPr>
        <p:spPr>
          <a:xfrm>
            <a:off x="2981325" y="4610100"/>
            <a:ext cx="6972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Requesting and waiting for new native tags takes time.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55F317-4A99-4718-8117-0F479A2305D7}"/>
              </a:ext>
            </a:extLst>
          </p:cNvPr>
          <p:cNvSpPr>
            <a:spLocks noGrp="1"/>
          </p:cNvSpPr>
          <p:nvPr/>
        </p:nvSpPr>
        <p:spPr>
          <a:xfrm>
            <a:off x="2762250" y="48672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2FAD1C-E96C-42DB-B115-DEA966D6D063}"/>
              </a:ext>
            </a:extLst>
          </p:cNvPr>
          <p:cNvSpPr>
            <a:spLocks noGrp="1"/>
          </p:cNvSpPr>
          <p:nvPr/>
        </p:nvSpPr>
        <p:spPr>
          <a:xfrm>
            <a:off x="2981325" y="4876800"/>
            <a:ext cx="6972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 need a flexible solution that works for all vendors, now and in the future.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0294D3-A77B-495D-8FC9-A60C2E5F3F65}"/>
              </a:ext>
            </a:extLst>
          </p:cNvPr>
          <p:cNvSpPr>
            <a:spLocks noGrp="1"/>
          </p:cNvSpPr>
          <p:nvPr/>
        </p:nvSpPr>
        <p:spPr>
          <a:xfrm>
            <a:off x="2533650" y="5200650"/>
            <a:ext cx="7419975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12868AE-159C-4C7B-83E4-9206AF92C9F5}"/>
              </a:ext>
            </a:extLst>
          </p:cNvPr>
          <p:cNvSpPr>
            <a:spLocks noGrp="1"/>
          </p:cNvSpPr>
          <p:nvPr/>
        </p:nvSpPr>
        <p:spPr>
          <a:xfrm>
            <a:off x="523875" y="5324475"/>
            <a:ext cx="2009775" cy="1724025"/>
          </a:xfrm>
          <a:prstGeom prst="roundRect">
            <a:avLst>
              <a:gd name="adj" fmla="val 4972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ection 3 number badge">
            <a:extLst>
              <a:ext uri="{FF2B5EF4-FFF2-40B4-BE49-F238E27FC236}">
                <a16:creationId xmlns:a16="http://schemas.microsoft.com/office/drawing/2014/main" id="{93A49715-3FC8-4FA7-B84E-5491888E7200}"/>
              </a:ext>
            </a:extLst>
          </p:cNvPr>
          <p:cNvSpPr>
            <a:spLocks noGrp="1"/>
          </p:cNvSpPr>
          <p:nvPr/>
        </p:nvSpPr>
        <p:spPr>
          <a:xfrm>
            <a:off x="657225" y="546735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A1BD73-D044-4D82-8C90-CD19AAF15DB8}"/>
              </a:ext>
            </a:extLst>
          </p:cNvPr>
          <p:cNvSpPr>
            <a:spLocks noGrp="1"/>
          </p:cNvSpPr>
          <p:nvPr/>
        </p:nvSpPr>
        <p:spPr>
          <a:xfrm>
            <a:off x="657225" y="545782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pic>
        <p:nvPicPr>
          <p:cNvPr id="107" name="Graphic 1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09675" y="5638800"/>
            <a:ext cx="742950" cy="742950"/>
          </a:xfrm>
          <a:prstGeom prst="rect">
            <a:avLst/>
          </a:prstGeom>
        </p:spPr>
      </p:pic>
      <p:pic>
        <p:nvPicPr>
          <p:cNvPr id="108" name="Graphic 10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752600" y="6162675"/>
            <a:ext cx="438150" cy="43815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1B0C9DC7-4710-471A-87C5-B71E097B42AB}"/>
              </a:ext>
            </a:extLst>
          </p:cNvPr>
          <p:cNvSpPr>
            <a:spLocks noGrp="1"/>
          </p:cNvSpPr>
          <p:nvPr/>
        </p:nvSpPr>
        <p:spPr>
          <a:xfrm>
            <a:off x="2762250" y="5419725"/>
            <a:ext cx="719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Absent Scenarios Cannot Be Marked as Pass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BAAAD0-DA7D-41D0-9969-5FED50A31EF5}"/>
              </a:ext>
            </a:extLst>
          </p:cNvPr>
          <p:cNvSpPr>
            <a:spLocks noGrp="1"/>
          </p:cNvSpPr>
          <p:nvPr/>
        </p:nvSpPr>
        <p:spPr>
          <a:xfrm>
            <a:off x="2762250" y="580072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DF0D77-4059-42D7-BD16-937856556CDA}"/>
              </a:ext>
            </a:extLst>
          </p:cNvPr>
          <p:cNvSpPr>
            <a:spLocks noGrp="1"/>
          </p:cNvSpPr>
          <p:nvPr/>
        </p:nvSpPr>
        <p:spPr>
          <a:xfrm>
            <a:off x="2981325" y="5810250"/>
            <a:ext cx="69723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With native tags, if a vendor does not fire, the rule is marked as Failed or Not Applicable.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7779DF9-30B4-4D67-A18C-EC89345C9312}"/>
              </a:ext>
            </a:extLst>
          </p:cNvPr>
          <p:cNvSpPr>
            <a:spLocks noGrp="1"/>
          </p:cNvSpPr>
          <p:nvPr/>
        </p:nvSpPr>
        <p:spPr>
          <a:xfrm>
            <a:off x="2762250" y="62388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5AE863-D03B-4F4B-8E81-1797086FA075}"/>
              </a:ext>
            </a:extLst>
          </p:cNvPr>
          <p:cNvSpPr>
            <a:spLocks noGrp="1"/>
          </p:cNvSpPr>
          <p:nvPr/>
        </p:nvSpPr>
        <p:spPr>
          <a:xfrm>
            <a:off x="2981325" y="6248400"/>
            <a:ext cx="69723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25"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For scenarios like Reject All, Essential Cookies, or Pre-consent,</a:t>
            </a:r>
          </a:p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 need the rule to appear as Passed when the vendor is absent.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F7CA160-1D56-4700-902E-0B24BED26ECE}"/>
              </a:ext>
            </a:extLst>
          </p:cNvPr>
          <p:cNvSpPr>
            <a:spLocks noGrp="1"/>
          </p:cNvSpPr>
          <p:nvPr/>
        </p:nvSpPr>
        <p:spPr>
          <a:xfrm>
            <a:off x="2762250" y="667702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4AAC68-1C2A-4840-8F91-699270DEA706}"/>
              </a:ext>
            </a:extLst>
          </p:cNvPr>
          <p:cNvSpPr>
            <a:spLocks noGrp="1"/>
          </p:cNvSpPr>
          <p:nvPr/>
        </p:nvSpPr>
        <p:spPr>
          <a:xfrm>
            <a:off x="2981325" y="6686550"/>
            <a:ext cx="69723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25"/>
          </a:bodyPr>
          <a:lstStyle/>
          <a:p>
            <a:pPr algn="l">
              <a:lnSpc>
                <a:spcPct val="107000"/>
              </a:lnSpc>
              <a:buNone/>
              <a:defRPr sz="120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On-Page Action code allows explicit comparisons, so absent scenarios can be
correctly marked as Passed.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577314-FB82-482C-8C80-48C78DD32BAE}"/>
              </a:ext>
            </a:extLst>
          </p:cNvPr>
          <p:cNvSpPr>
            <a:spLocks noGrp="1"/>
          </p:cNvSpPr>
          <p:nvPr/>
        </p:nvSpPr>
        <p:spPr>
          <a:xfrm>
            <a:off x="10191750" y="2447925"/>
            <a:ext cx="9525" cy="4695825"/>
          </a:xfrm>
          <a:prstGeom prst="rect">
            <a:avLst/>
          </a:prstGeom>
          <a:solidFill>
            <a:srgbClr val="BFC9D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FE611A2-A5C9-4EC1-921F-D0B437565C23}"/>
              </a:ext>
            </a:extLst>
          </p:cNvPr>
          <p:cNvSpPr>
            <a:spLocks noGrp="1"/>
          </p:cNvSpPr>
          <p:nvPr/>
        </p:nvSpPr>
        <p:spPr>
          <a:xfrm>
            <a:off x="10515600" y="2428875"/>
            <a:ext cx="3590925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C4CAC0-810D-4430-A061-4538F9A4696A}"/>
              </a:ext>
            </a:extLst>
          </p:cNvPr>
          <p:cNvSpPr>
            <a:spLocks noGrp="1"/>
          </p:cNvSpPr>
          <p:nvPr/>
        </p:nvSpPr>
        <p:spPr>
          <a:xfrm>
            <a:off x="10515600" y="2886075"/>
            <a:ext cx="3590925" cy="104775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1CAA2A-DB66-4D66-A297-4331AB24387B}"/>
              </a:ext>
            </a:extLst>
          </p:cNvPr>
          <p:cNvSpPr>
            <a:spLocks noGrp="1"/>
          </p:cNvSpPr>
          <p:nvPr/>
        </p:nvSpPr>
        <p:spPr>
          <a:xfrm>
            <a:off x="10610850" y="2438400"/>
            <a:ext cx="34004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Impact of Current Approach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D15A532-60A7-4328-B35B-F218A51FE559}"/>
              </a:ext>
            </a:extLst>
          </p:cNvPr>
          <p:cNvSpPr>
            <a:spLocks noGrp="1"/>
          </p:cNvSpPr>
          <p:nvPr/>
        </p:nvSpPr>
        <p:spPr>
          <a:xfrm>
            <a:off x="10639425" y="3095625"/>
            <a:ext cx="847725" cy="685800"/>
          </a:xfrm>
          <a:prstGeom prst="roundRect">
            <a:avLst>
              <a:gd name="adj" fmla="val 250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1" name="Graphic 1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820400" y="3190875"/>
            <a:ext cx="495300" cy="4953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E7B2C13-D993-4F44-9B64-A1E74506C949}"/>
              </a:ext>
            </a:extLst>
          </p:cNvPr>
          <p:cNvSpPr>
            <a:spLocks noGrp="1"/>
          </p:cNvSpPr>
          <p:nvPr/>
        </p:nvSpPr>
        <p:spPr>
          <a:xfrm>
            <a:off x="11687175" y="3124200"/>
            <a:ext cx="21431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Potentially incomplete</a:t>
            </a:r>
          </a:p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request visibility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C41064F-CD44-4A9D-A825-02087B415C60}"/>
              </a:ext>
            </a:extLst>
          </p:cNvPr>
          <p:cNvSpPr>
            <a:spLocks noGrp="1"/>
          </p:cNvSpPr>
          <p:nvPr/>
        </p:nvSpPr>
        <p:spPr>
          <a:xfrm>
            <a:off x="10639425" y="3962400"/>
            <a:ext cx="847725" cy="685800"/>
          </a:xfrm>
          <a:prstGeom prst="roundRect">
            <a:avLst>
              <a:gd name="adj" fmla="val 250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4" name="Graphic 1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820400" y="4057650"/>
            <a:ext cx="495300" cy="4953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032187B-0361-46DC-ACC0-A0C0C53F7460}"/>
              </a:ext>
            </a:extLst>
          </p:cNvPr>
          <p:cNvSpPr>
            <a:spLocks noGrp="1"/>
          </p:cNvSpPr>
          <p:nvPr/>
        </p:nvSpPr>
        <p:spPr>
          <a:xfrm>
            <a:off x="11687175" y="3990975"/>
            <a:ext cx="21431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Delays in resolving</a:t>
            </a:r>
          </a:p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vendor validation gaps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73EE233-5B1F-4CAC-AB3E-445C9CE1B7A1}"/>
              </a:ext>
            </a:extLst>
          </p:cNvPr>
          <p:cNvSpPr>
            <a:spLocks noGrp="1"/>
          </p:cNvSpPr>
          <p:nvPr/>
        </p:nvSpPr>
        <p:spPr>
          <a:xfrm>
            <a:off x="10639425" y="4829175"/>
            <a:ext cx="847725" cy="685800"/>
          </a:xfrm>
          <a:prstGeom prst="roundRect">
            <a:avLst>
              <a:gd name="adj" fmla="val 250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7" name="Graphic 1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20400" y="4924425"/>
            <a:ext cx="495300" cy="4953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2868F52A-E305-4761-8CCD-7F194EBFD9A1}"/>
              </a:ext>
            </a:extLst>
          </p:cNvPr>
          <p:cNvSpPr>
            <a:spLocks noGrp="1"/>
          </p:cNvSpPr>
          <p:nvPr/>
        </p:nvSpPr>
        <p:spPr>
          <a:xfrm>
            <a:off x="11687175" y="4857750"/>
            <a:ext cx="21431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331"/>
          </a:bodyPr>
          <a:lstStyle/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Absent vendors appear</a:t>
            </a:r>
          </a:p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as Fail/Not Applicable</a:t>
            </a:r>
          </a:p>
          <a:p>
            <a:pPr algn="l">
              <a:lnSpc>
                <a:spcPct val="114000"/>
              </a:lnSpc>
              <a:buNone/>
              <a:defRPr sz="129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9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instead of Pass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37F512-C4F6-4535-A54C-B53D57DAEC60}"/>
              </a:ext>
            </a:extLst>
          </p:cNvPr>
          <p:cNvSpPr>
            <a:spLocks noGrp="1"/>
          </p:cNvSpPr>
          <p:nvPr/>
        </p:nvSpPr>
        <p:spPr>
          <a:xfrm>
            <a:off x="10563225" y="5867400"/>
            <a:ext cx="3524250" cy="9525"/>
          </a:xfrm>
          <a:prstGeom prst="rect">
            <a:avLst/>
          </a:prstGeom>
          <a:solidFill>
            <a:srgbClr val="B8C5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1E74612-E531-4823-8BD9-9595934F6048}"/>
              </a:ext>
            </a:extLst>
          </p:cNvPr>
          <p:cNvSpPr>
            <a:spLocks noGrp="1"/>
          </p:cNvSpPr>
          <p:nvPr/>
        </p:nvSpPr>
        <p:spPr>
          <a:xfrm>
            <a:off x="10563225" y="6067425"/>
            <a:ext cx="3524250" cy="1076325"/>
          </a:xfrm>
          <a:prstGeom prst="roundRect">
            <a:avLst>
              <a:gd name="adj" fmla="val 8850"/>
            </a:avLst>
          </a:prstGeom>
          <a:solidFill>
            <a:srgbClr val="FFF8E5"/>
          </a:solidFill>
          <a:ln w="9525">
            <a:solidFill>
              <a:srgbClr val="F1C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1" name="Graphic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706100" y="6229350"/>
            <a:ext cx="638175" cy="7239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6FB21F2F-9DFD-471A-9C21-DD48B69FA43E}"/>
              </a:ext>
            </a:extLst>
          </p:cNvPr>
          <p:cNvSpPr>
            <a:spLocks noGrp="1"/>
          </p:cNvSpPr>
          <p:nvPr/>
        </p:nvSpPr>
        <p:spPr>
          <a:xfrm>
            <a:off x="11430000" y="6181725"/>
            <a:ext cx="2400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21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1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 need a complete,
automated, and accurate way
to validate vendors across all
pages and consent scenarios.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D74BB3B-788A-4461-B3B9-AA19F410DC08}"/>
              </a:ext>
            </a:extLst>
          </p:cNvPr>
          <p:cNvSpPr>
            <a:spLocks noGrp="1"/>
          </p:cNvSpPr>
          <p:nvPr/>
        </p:nvSpPr>
        <p:spPr>
          <a:xfrm>
            <a:off x="533400" y="7353300"/>
            <a:ext cx="14001750" cy="904875"/>
          </a:xfrm>
          <a:prstGeom prst="roundRect">
            <a:avLst>
              <a:gd name="adj" fmla="val 842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4" name="Graphic 1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104900" y="7486650"/>
            <a:ext cx="704850" cy="6477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8E301719-935A-4DFB-9E08-B36780694738}"/>
              </a:ext>
            </a:extLst>
          </p:cNvPr>
          <p:cNvSpPr>
            <a:spLocks noGrp="1"/>
          </p:cNvSpPr>
          <p:nvPr/>
        </p:nvSpPr>
        <p:spPr>
          <a:xfrm>
            <a:off x="2200275" y="7524750"/>
            <a:ext cx="1181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38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38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These challenges led us to build an API-based, automated solution that retrieves all network requests post-audit</a:t>
            </a:r>
          </a:p>
          <a:p>
            <a:pPr algn="l">
              <a:lnSpc>
                <a:spcPct val="112000"/>
              </a:lnSpc>
              <a:buNone/>
              <a:defRPr sz="1538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38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delivers accurate vendor validation with Rules-like reporting.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90DF50-BA90-431D-9F20-A9EE09979F70}"/>
              </a:ext>
            </a:extLst>
          </p:cNvPr>
          <p:cNvSpPr>
            <a:spLocks noGrp="1"/>
          </p:cNvSpPr>
          <p:nvPr/>
        </p:nvSpPr>
        <p:spPr>
          <a:xfrm>
            <a:off x="14335125" y="825817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94"/>
          </a:bodyPr>
          <a:lstStyle/>
          <a:p>
            <a:pPr algn="r">
              <a:lnSpc>
                <a:spcPct val="103000"/>
              </a:lnSpc>
              <a:buNone/>
              <a:defRPr sz="1650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156492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2 number badge">
            <a:extLst>
              <a:ext uri="{FF2B5EF4-FFF2-40B4-BE49-F238E27FC236}">
                <a16:creationId xmlns:a16="http://schemas.microsoft.com/office/drawing/2014/main" id="{01484D1D-DCF5-450B-8969-D75320C8960C}"/>
              </a:ext>
            </a:extLst>
          </p:cNvPr>
          <p:cNvSpPr>
            <a:spLocks noGrp="1"/>
          </p:cNvSpPr>
          <p:nvPr/>
        </p:nvSpPr>
        <p:spPr>
          <a:xfrm>
            <a:off x="209550" y="161925"/>
            <a:ext cx="628650" cy="657225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83D4B-9AAD-4761-B8CB-5F976F2ECF94}"/>
              </a:ext>
            </a:extLst>
          </p:cNvPr>
          <p:cNvSpPr>
            <a:spLocks noGrp="1"/>
          </p:cNvSpPr>
          <p:nvPr/>
        </p:nvSpPr>
        <p:spPr>
          <a:xfrm>
            <a:off x="209550" y="133350"/>
            <a:ext cx="628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7752B-FCD8-4AFB-B8DA-F064F9C01667}"/>
              </a:ext>
            </a:extLst>
          </p:cNvPr>
          <p:cNvSpPr>
            <a:spLocks noGrp="1"/>
          </p:cNvSpPr>
          <p:nvPr/>
        </p:nvSpPr>
        <p:spPr>
          <a:xfrm>
            <a:off x="1095375" y="38100"/>
            <a:ext cx="1338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4050" b="1">
                <a:solidFill>
                  <a:srgbClr val="000629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00629"/>
                </a:solidFill>
                <a:latin typeface="Segoe UI"/>
                <a:ea typeface="Segoe UI"/>
                <a:cs typeface="Segoe UI"/>
              </a:rPr>
              <a:t>2. Proposed Automated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60AF3-2FAE-45DA-9A88-9A17DC058127}"/>
              </a:ext>
            </a:extLst>
          </p:cNvPr>
          <p:cNvSpPr>
            <a:spLocks noGrp="1"/>
          </p:cNvSpPr>
          <p:nvPr/>
        </p:nvSpPr>
        <p:spPr>
          <a:xfrm>
            <a:off x="1104900" y="695325"/>
            <a:ext cx="1200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2025" b="0">
                <a:solidFill>
                  <a:srgbClr val="0054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0054C8"/>
                </a:solidFill>
                <a:latin typeface="Segoe UI"/>
                <a:ea typeface="Segoe UI"/>
                <a:cs typeface="Segoe UI"/>
              </a:rPr>
              <a:t>Webhook-to-reporting automation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00014-43B8-41D1-959C-299C6B5E1ECB}"/>
              </a:ext>
            </a:extLst>
          </p:cNvPr>
          <p:cNvSpPr>
            <a:spLocks noGrp="1"/>
          </p:cNvSpPr>
          <p:nvPr/>
        </p:nvSpPr>
        <p:spPr>
          <a:xfrm>
            <a:off x="209550" y="1066800"/>
            <a:ext cx="14573250" cy="23813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FC07D9-FA11-48AD-A4DE-6CE87ACD2612}"/>
              </a:ext>
            </a:extLst>
          </p:cNvPr>
          <p:cNvSpPr>
            <a:spLocks noGrp="1"/>
          </p:cNvSpPr>
          <p:nvPr/>
        </p:nvSpPr>
        <p:spPr>
          <a:xfrm>
            <a:off x="14697075" y="1023938"/>
            <a:ext cx="104775" cy="104775"/>
          </a:xfrm>
          <a:prstGeom prst="ellipse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01C9D1-39A7-4910-BEA4-0B21741DF415}"/>
              </a:ext>
            </a:extLst>
          </p:cNvPr>
          <p:cNvSpPr>
            <a:spLocks noGrp="1"/>
          </p:cNvSpPr>
          <p:nvPr/>
        </p:nvSpPr>
        <p:spPr>
          <a:xfrm>
            <a:off x="542925" y="1266825"/>
            <a:ext cx="13992225" cy="866775"/>
          </a:xfrm>
          <a:prstGeom prst="roundRect">
            <a:avLst>
              <a:gd name="adj" fmla="val 10989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11430">
            <a:solidFill>
              <a:srgbClr val="1E6A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2" name="Graphic 1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04875" y="1381125"/>
            <a:ext cx="666750" cy="64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866CFD-816A-4BD1-B86E-D28890C8406A}"/>
              </a:ext>
            </a:extLst>
          </p:cNvPr>
          <p:cNvSpPr>
            <a:spLocks noGrp="1"/>
          </p:cNvSpPr>
          <p:nvPr/>
        </p:nvSpPr>
        <p:spPr>
          <a:xfrm>
            <a:off x="1971675" y="1390650"/>
            <a:ext cx="12049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Instead of relying on browser-side capture, the solution will process completed ObservePoint audits automatically</a:t>
            </a:r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and generate vendor validation outputs using the full API request history.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87C80C-733D-41E8-BDFA-C821098EDA39}"/>
              </a:ext>
            </a:extLst>
          </p:cNvPr>
          <p:cNvSpPr>
            <a:spLocks noGrp="1"/>
          </p:cNvSpPr>
          <p:nvPr/>
        </p:nvSpPr>
        <p:spPr>
          <a:xfrm>
            <a:off x="542925" y="2333625"/>
            <a:ext cx="1885950" cy="1381125"/>
          </a:xfrm>
          <a:prstGeom prst="roundRect">
            <a:avLst>
              <a:gd name="adj" fmla="val 6207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ection 1 number badge">
            <a:extLst>
              <a:ext uri="{FF2B5EF4-FFF2-40B4-BE49-F238E27FC236}">
                <a16:creationId xmlns:a16="http://schemas.microsoft.com/office/drawing/2014/main" id="{A30EF7EF-481F-4297-A5B6-E4C51661A5AD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CE9B38-9902-45E3-BD3F-6AE85D082709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pic>
        <p:nvPicPr>
          <p:cNvPr id="117" name="Graphic 1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00150" y="2686050"/>
            <a:ext cx="704850" cy="704850"/>
          </a:xfrm>
          <a:prstGeom prst="rect">
            <a:avLst/>
          </a:prstGeom>
        </p:spPr>
      </p:pic>
      <p:pic>
        <p:nvPicPr>
          <p:cNvPr id="118" name="Graphic 1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90700" y="3305175"/>
            <a:ext cx="409575" cy="4095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28D5940-BAEE-4D20-A225-F50DE4C4A7DC}"/>
              </a:ext>
            </a:extLst>
          </p:cNvPr>
          <p:cNvSpPr>
            <a:spLocks noGrp="1"/>
          </p:cNvSpPr>
          <p:nvPr/>
        </p:nvSpPr>
        <p:spPr>
          <a:xfrm>
            <a:off x="2628900" y="24574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1. Automatic Trigger After Audit Completion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3351CE-A6C2-4D05-A074-3268F3AE0BC8}"/>
              </a:ext>
            </a:extLst>
          </p:cNvPr>
          <p:cNvSpPr>
            <a:spLocks noGrp="1"/>
          </p:cNvSpPr>
          <p:nvPr/>
        </p:nvSpPr>
        <p:spPr>
          <a:xfrm>
            <a:off x="2628900" y="28384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9C0677-1F4B-4CBF-BEBC-7F5DED31AB86}"/>
              </a:ext>
            </a:extLst>
          </p:cNvPr>
          <p:cNvSpPr>
            <a:spLocks noGrp="1"/>
          </p:cNvSpPr>
          <p:nvPr/>
        </p:nvSpPr>
        <p:spPr>
          <a:xfrm>
            <a:off x="2847975" y="2847975"/>
            <a:ext cx="5610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06"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0" b="0" dirty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Each scheduled audit run can trigger our processing flow once the run is completed.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779456-FE1B-4CAB-B9B5-4C3B97E2589B}"/>
              </a:ext>
            </a:extLst>
          </p:cNvPr>
          <p:cNvSpPr>
            <a:spLocks noGrp="1"/>
          </p:cNvSpPr>
          <p:nvPr/>
        </p:nvSpPr>
        <p:spPr>
          <a:xfrm>
            <a:off x="2628900" y="31051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1492DA-00A1-44ED-94B4-3EC47741B0F2}"/>
              </a:ext>
            </a:extLst>
          </p:cNvPr>
          <p:cNvSpPr>
            <a:spLocks noGrp="1"/>
          </p:cNvSpPr>
          <p:nvPr/>
        </p:nvSpPr>
        <p:spPr>
          <a:xfrm>
            <a:off x="2847975" y="3081338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 dirty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 webhook sends the audit ID and run ID to the solution automatically.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C4D93C-6ED9-489B-9993-51C1699E4865}"/>
              </a:ext>
            </a:extLst>
          </p:cNvPr>
          <p:cNvSpPr>
            <a:spLocks noGrp="1"/>
          </p:cNvSpPr>
          <p:nvPr/>
        </p:nvSpPr>
        <p:spPr>
          <a:xfrm>
            <a:off x="2628900" y="33718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8C30E4-D952-4834-AED6-D85D342A8916}"/>
              </a:ext>
            </a:extLst>
          </p:cNvPr>
          <p:cNvSpPr>
            <a:spLocks noGrp="1"/>
          </p:cNvSpPr>
          <p:nvPr/>
        </p:nvSpPr>
        <p:spPr>
          <a:xfrm>
            <a:off x="2847975" y="3381375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 dirty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This removes the need for manual export and repeated monitoring.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58A51F-B284-48C5-8378-0146EBA218D8}"/>
              </a:ext>
            </a:extLst>
          </p:cNvPr>
          <p:cNvSpPr>
            <a:spLocks noGrp="1"/>
          </p:cNvSpPr>
          <p:nvPr/>
        </p:nvSpPr>
        <p:spPr>
          <a:xfrm>
            <a:off x="2409825" y="3771900"/>
            <a:ext cx="5610225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C767817-E8E9-4273-80F6-1C7B109225CD}"/>
              </a:ext>
            </a:extLst>
          </p:cNvPr>
          <p:cNvSpPr>
            <a:spLocks noGrp="1"/>
          </p:cNvSpPr>
          <p:nvPr/>
        </p:nvSpPr>
        <p:spPr>
          <a:xfrm>
            <a:off x="542925" y="3829050"/>
            <a:ext cx="1885950" cy="1552575"/>
          </a:xfrm>
          <a:prstGeom prst="roundRect">
            <a:avLst>
              <a:gd name="adj" fmla="val 5521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ection 2 number badge">
            <a:extLst>
              <a:ext uri="{FF2B5EF4-FFF2-40B4-BE49-F238E27FC236}">
                <a16:creationId xmlns:a16="http://schemas.microsoft.com/office/drawing/2014/main" id="{1F074C27-EF58-4CB8-A25B-DEF4A8E64C9B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82398B-48AC-4164-8A69-1F468145B821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pic>
        <p:nvPicPr>
          <p:cNvPr id="130" name="Graphic 1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00150" y="4171950"/>
            <a:ext cx="704850" cy="7048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A2F363A-3CF3-4666-867D-93C1965F1C81}"/>
              </a:ext>
            </a:extLst>
          </p:cNvPr>
          <p:cNvSpPr>
            <a:spLocks noGrp="1"/>
          </p:cNvSpPr>
          <p:nvPr/>
        </p:nvSpPr>
        <p:spPr>
          <a:xfrm>
            <a:off x="2628900" y="3952875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2. API Retrieval and Vendor Evaluation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124A09-D296-4FA2-BD46-60C2814B3F10}"/>
              </a:ext>
            </a:extLst>
          </p:cNvPr>
          <p:cNvSpPr>
            <a:spLocks noGrp="1"/>
          </p:cNvSpPr>
          <p:nvPr/>
        </p:nvSpPr>
        <p:spPr>
          <a:xfrm>
            <a:off x="2628900" y="43243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0BA808-7A0C-4763-B3D5-60E7C599B0C5}"/>
              </a:ext>
            </a:extLst>
          </p:cNvPr>
          <p:cNvSpPr>
            <a:spLocks noGrp="1"/>
          </p:cNvSpPr>
          <p:nvPr/>
        </p:nvSpPr>
        <p:spPr>
          <a:xfrm>
            <a:off x="2847975" y="4333875"/>
            <a:ext cx="51720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 dirty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The processing service calls </a:t>
            </a:r>
            <a:r>
              <a:rPr sz="1177" b="0" dirty="0" err="1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ObservePoint</a:t>
            </a:r>
            <a:r>
              <a:rPr sz="1177" b="0" dirty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 APIs to retrieve all audited</a:t>
            </a:r>
          </a:p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 dirty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pages and their network requests.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955A44-C818-4F38-BF5A-5362A154F1B0}"/>
              </a:ext>
            </a:extLst>
          </p:cNvPr>
          <p:cNvSpPr>
            <a:spLocks noGrp="1"/>
          </p:cNvSpPr>
          <p:nvPr/>
        </p:nvSpPr>
        <p:spPr>
          <a:xfrm>
            <a:off x="2628900" y="4791075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CFEDE7-C4D2-454B-AAEB-D24996906D84}"/>
              </a:ext>
            </a:extLst>
          </p:cNvPr>
          <p:cNvSpPr>
            <a:spLocks noGrp="1"/>
          </p:cNvSpPr>
          <p:nvPr/>
        </p:nvSpPr>
        <p:spPr>
          <a:xfrm>
            <a:off x="2847975" y="4800600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Vendor logic checks each page to see whether a vendor is present or absent.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CAC548-30BD-4205-B43A-BD5084334E65}"/>
              </a:ext>
            </a:extLst>
          </p:cNvPr>
          <p:cNvSpPr>
            <a:spLocks noGrp="1"/>
          </p:cNvSpPr>
          <p:nvPr/>
        </p:nvSpPr>
        <p:spPr>
          <a:xfrm>
            <a:off x="2628900" y="5057775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955D52-EB39-43EC-B92A-F6B09E1D265B}"/>
              </a:ext>
            </a:extLst>
          </p:cNvPr>
          <p:cNvSpPr>
            <a:spLocks noGrp="1"/>
          </p:cNvSpPr>
          <p:nvPr/>
        </p:nvSpPr>
        <p:spPr>
          <a:xfrm>
            <a:off x="2847975" y="5067300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Both Present and Absent rule outcomes can then be calculated consistently.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9D93DB-D77E-4FB3-BC2F-46A48093D809}"/>
              </a:ext>
            </a:extLst>
          </p:cNvPr>
          <p:cNvSpPr>
            <a:spLocks noGrp="1"/>
          </p:cNvSpPr>
          <p:nvPr/>
        </p:nvSpPr>
        <p:spPr>
          <a:xfrm>
            <a:off x="2409825" y="5438775"/>
            <a:ext cx="5610225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3B111A-8E2B-4205-B33E-8A3BBB6239EB}"/>
              </a:ext>
            </a:extLst>
          </p:cNvPr>
          <p:cNvSpPr>
            <a:spLocks noGrp="1"/>
          </p:cNvSpPr>
          <p:nvPr/>
        </p:nvSpPr>
        <p:spPr>
          <a:xfrm>
            <a:off x="542925" y="5495925"/>
            <a:ext cx="1885950" cy="1666875"/>
          </a:xfrm>
          <a:prstGeom prst="roundRect">
            <a:avLst>
              <a:gd name="adj" fmla="val 5143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ection 3 number badge">
            <a:extLst>
              <a:ext uri="{FF2B5EF4-FFF2-40B4-BE49-F238E27FC236}">
                <a16:creationId xmlns:a16="http://schemas.microsoft.com/office/drawing/2014/main" id="{186724C5-E940-4D98-A18B-1559B5EDDD99}"/>
              </a:ext>
            </a:extLst>
          </p:cNvPr>
          <p:cNvSpPr>
            <a:spLocks noGrp="1"/>
          </p:cNvSpPr>
          <p:nvPr/>
        </p:nvSpPr>
        <p:spPr>
          <a:xfrm>
            <a:off x="666750" y="5629275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E1B99F-BF3A-480E-9383-5733595F45BD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pic>
        <p:nvPicPr>
          <p:cNvPr id="142" name="Graphic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00150" y="5838825"/>
            <a:ext cx="704850" cy="7048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C56D55D-C7AA-4337-A537-D2E363C81E9C}"/>
              </a:ext>
            </a:extLst>
          </p:cNvPr>
          <p:cNvSpPr>
            <a:spLocks noGrp="1"/>
          </p:cNvSpPr>
          <p:nvPr/>
        </p:nvSpPr>
        <p:spPr>
          <a:xfrm>
            <a:off x="2628900" y="56197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3. Reporting and Reuse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A02734-7CA3-4F77-A54C-77E31E57E73F}"/>
              </a:ext>
            </a:extLst>
          </p:cNvPr>
          <p:cNvSpPr>
            <a:spLocks noGrp="1"/>
          </p:cNvSpPr>
          <p:nvPr/>
        </p:nvSpPr>
        <p:spPr>
          <a:xfrm>
            <a:off x="2628900" y="60007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0C6A22-3BC0-4CBD-A229-75A4F35427F7}"/>
              </a:ext>
            </a:extLst>
          </p:cNvPr>
          <p:cNvSpPr>
            <a:spLocks noGrp="1"/>
          </p:cNvSpPr>
          <p:nvPr/>
        </p:nvSpPr>
        <p:spPr>
          <a:xfrm>
            <a:off x="2847975" y="6010275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Results can be saved for reporting, trend analysis, and future reuse.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07E3EF-0395-4224-88ED-63ED18669E04}"/>
              </a:ext>
            </a:extLst>
          </p:cNvPr>
          <p:cNvSpPr>
            <a:spLocks noGrp="1"/>
          </p:cNvSpPr>
          <p:nvPr/>
        </p:nvSpPr>
        <p:spPr>
          <a:xfrm>
            <a:off x="2628900" y="62674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8DD21F-DBEE-4E80-B770-B7D9CAFFAE72}"/>
              </a:ext>
            </a:extLst>
          </p:cNvPr>
          <p:cNvSpPr>
            <a:spLocks noGrp="1"/>
          </p:cNvSpPr>
          <p:nvPr/>
        </p:nvSpPr>
        <p:spPr>
          <a:xfrm>
            <a:off x="2847975" y="6276975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Excel output remains available for operational reporting and sharing.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ADC82E-8FD3-418B-86B2-FADC92126D9D}"/>
              </a:ext>
            </a:extLst>
          </p:cNvPr>
          <p:cNvSpPr>
            <a:spLocks noGrp="1"/>
          </p:cNvSpPr>
          <p:nvPr/>
        </p:nvSpPr>
        <p:spPr>
          <a:xfrm>
            <a:off x="2628900" y="65341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1A7081-1487-4850-8B86-E5FBD9D4B787}"/>
              </a:ext>
            </a:extLst>
          </p:cNvPr>
          <p:cNvSpPr>
            <a:spLocks noGrp="1"/>
          </p:cNvSpPr>
          <p:nvPr/>
        </p:nvSpPr>
        <p:spPr>
          <a:xfrm>
            <a:off x="2847975" y="6543675"/>
            <a:ext cx="51720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The same processed data can also feed Power BI or a web</a:t>
            </a:r>
          </a:p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application for interactive analysis.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738140-A891-467F-82F3-CDAA87D46C65}"/>
              </a:ext>
            </a:extLst>
          </p:cNvPr>
          <p:cNvSpPr>
            <a:spLocks noGrp="1"/>
          </p:cNvSpPr>
          <p:nvPr/>
        </p:nvSpPr>
        <p:spPr>
          <a:xfrm>
            <a:off x="8134350" y="2352675"/>
            <a:ext cx="9525" cy="4810125"/>
          </a:xfrm>
          <a:prstGeom prst="rect">
            <a:avLst/>
          </a:prstGeom>
          <a:solidFill>
            <a:srgbClr val="BFC9D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CA9FA7D-B7FD-491C-8890-1997D5DBD622}"/>
              </a:ext>
            </a:extLst>
          </p:cNvPr>
          <p:cNvSpPr>
            <a:spLocks noGrp="1"/>
          </p:cNvSpPr>
          <p:nvPr/>
        </p:nvSpPr>
        <p:spPr>
          <a:xfrm>
            <a:off x="8286750" y="2352675"/>
            <a:ext cx="622935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AF1043B-F7E0-4DCE-BFA3-04D7DA8A24F1}"/>
              </a:ext>
            </a:extLst>
          </p:cNvPr>
          <p:cNvSpPr>
            <a:spLocks noGrp="1"/>
          </p:cNvSpPr>
          <p:nvPr/>
        </p:nvSpPr>
        <p:spPr>
          <a:xfrm>
            <a:off x="8286750" y="2352675"/>
            <a:ext cx="6229350" cy="504825"/>
          </a:xfrm>
          <a:prstGeom prst="roundRect">
            <a:avLst>
              <a:gd name="adj" fmla="val 1698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48221E-8FF4-4717-AB2E-B3671D224312}"/>
              </a:ext>
            </a:extLst>
          </p:cNvPr>
          <p:cNvSpPr>
            <a:spLocks noGrp="1"/>
          </p:cNvSpPr>
          <p:nvPr/>
        </p:nvSpPr>
        <p:spPr>
          <a:xfrm>
            <a:off x="8286750" y="2752725"/>
            <a:ext cx="6229350" cy="104775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E4276E-28DA-4A8D-B2B9-208BC9598F70}"/>
              </a:ext>
            </a:extLst>
          </p:cNvPr>
          <p:cNvSpPr>
            <a:spLocks noGrp="1"/>
          </p:cNvSpPr>
          <p:nvPr/>
        </p:nvSpPr>
        <p:spPr>
          <a:xfrm>
            <a:off x="8382000" y="2362200"/>
            <a:ext cx="60388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End-to-End Solution Flow</a:t>
            </a:r>
          </a:p>
        </p:txBody>
      </p:sp>
      <p:sp>
        <p:nvSpPr>
          <p:cNvPr id="51" name="Section 1 number badge">
            <a:extLst>
              <a:ext uri="{FF2B5EF4-FFF2-40B4-BE49-F238E27FC236}">
                <a16:creationId xmlns:a16="http://schemas.microsoft.com/office/drawing/2014/main" id="{6E251C1E-3B67-4228-94E8-96BB5E31D48F}"/>
              </a:ext>
            </a:extLst>
          </p:cNvPr>
          <p:cNvSpPr>
            <a:spLocks noGrp="1"/>
          </p:cNvSpPr>
          <p:nvPr/>
        </p:nvSpPr>
        <p:spPr>
          <a:xfrm>
            <a:off x="8667750" y="2962275"/>
            <a:ext cx="323850" cy="32385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6A5892-5025-4E4E-81C3-A7D24449FAB2}"/>
              </a:ext>
            </a:extLst>
          </p:cNvPr>
          <p:cNvSpPr>
            <a:spLocks noGrp="1"/>
          </p:cNvSpPr>
          <p:nvPr/>
        </p:nvSpPr>
        <p:spPr>
          <a:xfrm>
            <a:off x="8667750" y="29527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0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0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B0A2370-DAD1-49DA-AE8A-3DB97F2088DB}"/>
              </a:ext>
            </a:extLst>
          </p:cNvPr>
          <p:cNvSpPr>
            <a:spLocks noGrp="1"/>
          </p:cNvSpPr>
          <p:nvPr/>
        </p:nvSpPr>
        <p:spPr>
          <a:xfrm>
            <a:off x="8429625" y="3409950"/>
            <a:ext cx="723900" cy="838200"/>
          </a:xfrm>
          <a:prstGeom prst="roundRect">
            <a:avLst>
              <a:gd name="adj" fmla="val 13158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8" name="Graphic 1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534400" y="3543300"/>
            <a:ext cx="514350" cy="5143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F485C5AB-EBF6-440D-881A-223288C3DFD4}"/>
              </a:ext>
            </a:extLst>
          </p:cNvPr>
          <p:cNvSpPr>
            <a:spLocks noGrp="1"/>
          </p:cNvSpPr>
          <p:nvPr/>
        </p:nvSpPr>
        <p:spPr>
          <a:xfrm>
            <a:off x="8343900" y="4333875"/>
            <a:ext cx="914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Audit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Completes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4C8472D0-D730-4AC0-B62D-09FFAB6D52F4}"/>
              </a:ext>
            </a:extLst>
          </p:cNvPr>
          <p:cNvSpPr>
            <a:spLocks noGrp="1"/>
          </p:cNvSpPr>
          <p:nvPr/>
        </p:nvSpPr>
        <p:spPr>
          <a:xfrm>
            <a:off x="9172575" y="3733800"/>
            <a:ext cx="228600" cy="180975"/>
          </a:xfrm>
          <a:prstGeom prst="rightArrow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ection 2 number badge">
            <a:extLst>
              <a:ext uri="{FF2B5EF4-FFF2-40B4-BE49-F238E27FC236}">
                <a16:creationId xmlns:a16="http://schemas.microsoft.com/office/drawing/2014/main" id="{17962795-BA30-4F6B-BFAF-9577F7B8A4C6}"/>
              </a:ext>
            </a:extLst>
          </p:cNvPr>
          <p:cNvSpPr>
            <a:spLocks noGrp="1"/>
          </p:cNvSpPr>
          <p:nvPr/>
        </p:nvSpPr>
        <p:spPr>
          <a:xfrm>
            <a:off x="9658350" y="2962275"/>
            <a:ext cx="323850" cy="32385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C348CB-A161-43DC-8F30-A0EC11B33DCA}"/>
              </a:ext>
            </a:extLst>
          </p:cNvPr>
          <p:cNvSpPr>
            <a:spLocks noGrp="1"/>
          </p:cNvSpPr>
          <p:nvPr/>
        </p:nvSpPr>
        <p:spPr>
          <a:xfrm>
            <a:off x="9658350" y="29527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0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0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D1AD2F-3EB5-488E-88C2-C54EC08BC423}"/>
              </a:ext>
            </a:extLst>
          </p:cNvPr>
          <p:cNvSpPr>
            <a:spLocks noGrp="1"/>
          </p:cNvSpPr>
          <p:nvPr/>
        </p:nvSpPr>
        <p:spPr>
          <a:xfrm>
            <a:off x="9420225" y="3409950"/>
            <a:ext cx="723900" cy="838200"/>
          </a:xfrm>
          <a:prstGeom prst="roundRect">
            <a:avLst>
              <a:gd name="adj" fmla="val 13158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4" name="Graphic 1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525000" y="3543300"/>
            <a:ext cx="514350" cy="51435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B44CA538-9844-4B77-904B-DCAEE201F883}"/>
              </a:ext>
            </a:extLst>
          </p:cNvPr>
          <p:cNvSpPr>
            <a:spLocks noGrp="1"/>
          </p:cNvSpPr>
          <p:nvPr/>
        </p:nvSpPr>
        <p:spPr>
          <a:xfrm>
            <a:off x="9334500" y="4333875"/>
            <a:ext cx="914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Webhook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Trigger</a:t>
            </a: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2252A270-2789-42D2-BFA6-8ABDD0965773}"/>
              </a:ext>
            </a:extLst>
          </p:cNvPr>
          <p:cNvSpPr>
            <a:spLocks noGrp="1"/>
          </p:cNvSpPr>
          <p:nvPr/>
        </p:nvSpPr>
        <p:spPr>
          <a:xfrm>
            <a:off x="10163175" y="3733800"/>
            <a:ext cx="228600" cy="180975"/>
          </a:xfrm>
          <a:prstGeom prst="rightArrow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ection 3 number badge">
            <a:extLst>
              <a:ext uri="{FF2B5EF4-FFF2-40B4-BE49-F238E27FC236}">
                <a16:creationId xmlns:a16="http://schemas.microsoft.com/office/drawing/2014/main" id="{691A12F7-F17E-482D-ABF4-5E947D383961}"/>
              </a:ext>
            </a:extLst>
          </p:cNvPr>
          <p:cNvSpPr>
            <a:spLocks noGrp="1"/>
          </p:cNvSpPr>
          <p:nvPr/>
        </p:nvSpPr>
        <p:spPr>
          <a:xfrm>
            <a:off x="10648950" y="2962275"/>
            <a:ext cx="323850" cy="32385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2130D17-FFBC-4B0F-9236-ADC23E8C8B2F}"/>
              </a:ext>
            </a:extLst>
          </p:cNvPr>
          <p:cNvSpPr>
            <a:spLocks noGrp="1"/>
          </p:cNvSpPr>
          <p:nvPr/>
        </p:nvSpPr>
        <p:spPr>
          <a:xfrm>
            <a:off x="10648950" y="29527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0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0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0A5D9AD-3C97-49D6-89A1-4D166A94425A}"/>
              </a:ext>
            </a:extLst>
          </p:cNvPr>
          <p:cNvSpPr>
            <a:spLocks noGrp="1"/>
          </p:cNvSpPr>
          <p:nvPr/>
        </p:nvSpPr>
        <p:spPr>
          <a:xfrm>
            <a:off x="10410825" y="3409950"/>
            <a:ext cx="723900" cy="838200"/>
          </a:xfrm>
          <a:prstGeom prst="roundRect">
            <a:avLst>
              <a:gd name="adj" fmla="val 13158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0" name="Graphic 1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515600" y="3543300"/>
            <a:ext cx="514350" cy="51435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2C6148E8-005E-45D3-BB0D-DFE28968ACD0}"/>
              </a:ext>
            </a:extLst>
          </p:cNvPr>
          <p:cNvSpPr>
            <a:spLocks noGrp="1"/>
          </p:cNvSpPr>
          <p:nvPr/>
        </p:nvSpPr>
        <p:spPr>
          <a:xfrm>
            <a:off x="10325100" y="4333875"/>
            <a:ext cx="914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API Data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Retrieval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66007975-1105-482E-8B25-01C6923879E7}"/>
              </a:ext>
            </a:extLst>
          </p:cNvPr>
          <p:cNvSpPr>
            <a:spLocks noGrp="1"/>
          </p:cNvSpPr>
          <p:nvPr/>
        </p:nvSpPr>
        <p:spPr>
          <a:xfrm>
            <a:off x="11153775" y="3733800"/>
            <a:ext cx="228600" cy="180975"/>
          </a:xfrm>
          <a:prstGeom prst="rightArrow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ection 4 number badge">
            <a:extLst>
              <a:ext uri="{FF2B5EF4-FFF2-40B4-BE49-F238E27FC236}">
                <a16:creationId xmlns:a16="http://schemas.microsoft.com/office/drawing/2014/main" id="{7B0FB115-D331-4B27-928E-44161BC830B9}"/>
              </a:ext>
            </a:extLst>
          </p:cNvPr>
          <p:cNvSpPr>
            <a:spLocks noGrp="1"/>
          </p:cNvSpPr>
          <p:nvPr/>
        </p:nvSpPr>
        <p:spPr>
          <a:xfrm>
            <a:off x="11639550" y="2962275"/>
            <a:ext cx="323850" cy="32385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BE3A01-1765-49E4-90C6-7F22CBD311AC}"/>
              </a:ext>
            </a:extLst>
          </p:cNvPr>
          <p:cNvSpPr>
            <a:spLocks noGrp="1"/>
          </p:cNvSpPr>
          <p:nvPr/>
        </p:nvSpPr>
        <p:spPr>
          <a:xfrm>
            <a:off x="11639550" y="29527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0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0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FD44F8D-02F9-4298-B2EC-1950B9FA1EE3}"/>
              </a:ext>
            </a:extLst>
          </p:cNvPr>
          <p:cNvSpPr>
            <a:spLocks noGrp="1"/>
          </p:cNvSpPr>
          <p:nvPr/>
        </p:nvSpPr>
        <p:spPr>
          <a:xfrm>
            <a:off x="11401425" y="3409950"/>
            <a:ext cx="723900" cy="838200"/>
          </a:xfrm>
          <a:prstGeom prst="roundRect">
            <a:avLst>
              <a:gd name="adj" fmla="val 13158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6" name="Graphic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1506200" y="3543300"/>
            <a:ext cx="514350" cy="51435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053F2A10-626A-4690-A8A4-374DE2694EBF}"/>
              </a:ext>
            </a:extLst>
          </p:cNvPr>
          <p:cNvSpPr>
            <a:spLocks noGrp="1"/>
          </p:cNvSpPr>
          <p:nvPr/>
        </p:nvSpPr>
        <p:spPr>
          <a:xfrm>
            <a:off x="11315700" y="4333875"/>
            <a:ext cx="914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Vendor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Validation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Engine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3FA08321-336E-4206-995C-DCD3C2ABD6E7}"/>
              </a:ext>
            </a:extLst>
          </p:cNvPr>
          <p:cNvSpPr>
            <a:spLocks noGrp="1"/>
          </p:cNvSpPr>
          <p:nvPr/>
        </p:nvSpPr>
        <p:spPr>
          <a:xfrm>
            <a:off x="12144375" y="3733800"/>
            <a:ext cx="228600" cy="180975"/>
          </a:xfrm>
          <a:prstGeom prst="rightArrow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ection 5 number badge">
            <a:extLst>
              <a:ext uri="{FF2B5EF4-FFF2-40B4-BE49-F238E27FC236}">
                <a16:creationId xmlns:a16="http://schemas.microsoft.com/office/drawing/2014/main" id="{FC043BB5-FF65-4C0C-93B5-B2FEDE1CBD4A}"/>
              </a:ext>
            </a:extLst>
          </p:cNvPr>
          <p:cNvSpPr>
            <a:spLocks noGrp="1"/>
          </p:cNvSpPr>
          <p:nvPr/>
        </p:nvSpPr>
        <p:spPr>
          <a:xfrm>
            <a:off x="12630150" y="2962275"/>
            <a:ext cx="323850" cy="32385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44BA6F-6316-4A93-8165-314D94A08934}"/>
              </a:ext>
            </a:extLst>
          </p:cNvPr>
          <p:cNvSpPr>
            <a:spLocks noGrp="1"/>
          </p:cNvSpPr>
          <p:nvPr/>
        </p:nvSpPr>
        <p:spPr>
          <a:xfrm>
            <a:off x="12630150" y="29527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0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0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E06A6E1-63C6-4084-B350-CFFCB904C820}"/>
              </a:ext>
            </a:extLst>
          </p:cNvPr>
          <p:cNvSpPr>
            <a:spLocks noGrp="1"/>
          </p:cNvSpPr>
          <p:nvPr/>
        </p:nvSpPr>
        <p:spPr>
          <a:xfrm>
            <a:off x="12392025" y="3409950"/>
            <a:ext cx="723900" cy="838200"/>
          </a:xfrm>
          <a:prstGeom prst="roundRect">
            <a:avLst>
              <a:gd name="adj" fmla="val 13158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2" name="Graphic 1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2496800" y="3543300"/>
            <a:ext cx="514350" cy="51435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C922D469-4967-46DD-89DA-B35D163298FA}"/>
              </a:ext>
            </a:extLst>
          </p:cNvPr>
          <p:cNvSpPr>
            <a:spLocks noGrp="1"/>
          </p:cNvSpPr>
          <p:nvPr/>
        </p:nvSpPr>
        <p:spPr>
          <a:xfrm>
            <a:off x="12306300" y="4333875"/>
            <a:ext cx="914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Results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Stored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0D5D2FB7-583B-46DA-8059-2D047D3E5B34}"/>
              </a:ext>
            </a:extLst>
          </p:cNvPr>
          <p:cNvSpPr>
            <a:spLocks noGrp="1"/>
          </p:cNvSpPr>
          <p:nvPr/>
        </p:nvSpPr>
        <p:spPr>
          <a:xfrm>
            <a:off x="13134975" y="3733800"/>
            <a:ext cx="228600" cy="180975"/>
          </a:xfrm>
          <a:prstGeom prst="rightArrow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ection 6 number badge">
            <a:extLst>
              <a:ext uri="{FF2B5EF4-FFF2-40B4-BE49-F238E27FC236}">
                <a16:creationId xmlns:a16="http://schemas.microsoft.com/office/drawing/2014/main" id="{BBF9F233-637D-4552-9762-1819ACA361EB}"/>
              </a:ext>
            </a:extLst>
          </p:cNvPr>
          <p:cNvSpPr>
            <a:spLocks noGrp="1"/>
          </p:cNvSpPr>
          <p:nvPr/>
        </p:nvSpPr>
        <p:spPr>
          <a:xfrm>
            <a:off x="13620750" y="2962275"/>
            <a:ext cx="323850" cy="32385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1BFB7C2-19CE-43A7-A6A6-557B01FD5BF0}"/>
              </a:ext>
            </a:extLst>
          </p:cNvPr>
          <p:cNvSpPr>
            <a:spLocks noGrp="1"/>
          </p:cNvSpPr>
          <p:nvPr/>
        </p:nvSpPr>
        <p:spPr>
          <a:xfrm>
            <a:off x="13620750" y="29527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0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0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68834A4-4AAF-4028-BFA4-3360FC1814B2}"/>
              </a:ext>
            </a:extLst>
          </p:cNvPr>
          <p:cNvSpPr>
            <a:spLocks noGrp="1"/>
          </p:cNvSpPr>
          <p:nvPr/>
        </p:nvSpPr>
        <p:spPr>
          <a:xfrm>
            <a:off x="13382625" y="3409950"/>
            <a:ext cx="723900" cy="838200"/>
          </a:xfrm>
          <a:prstGeom prst="roundRect">
            <a:avLst>
              <a:gd name="adj" fmla="val 13158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8" name="Graphic 18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3439775" y="3676650"/>
            <a:ext cx="209550" cy="381000"/>
          </a:xfrm>
          <a:prstGeom prst="rect">
            <a:avLst/>
          </a:prstGeom>
        </p:spPr>
      </p:pic>
      <p:pic>
        <p:nvPicPr>
          <p:cNvPr id="189" name="Graphic 1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3687425" y="3552825"/>
            <a:ext cx="295275" cy="295275"/>
          </a:xfrm>
          <a:prstGeom prst="rect">
            <a:avLst/>
          </a:prstGeom>
        </p:spPr>
      </p:pic>
      <p:pic>
        <p:nvPicPr>
          <p:cNvPr id="190" name="Graphic 18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3754100" y="3876675"/>
            <a:ext cx="238125" cy="238125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2F504DA8-BC2C-46BA-8603-41BB610697DF}"/>
              </a:ext>
            </a:extLst>
          </p:cNvPr>
          <p:cNvSpPr>
            <a:spLocks noGrp="1"/>
          </p:cNvSpPr>
          <p:nvPr/>
        </p:nvSpPr>
        <p:spPr>
          <a:xfrm>
            <a:off x="13296900" y="4333875"/>
            <a:ext cx="914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Power BI /</a:t>
            </a:r>
          </a:p>
          <a:p>
            <a:pPr algn="ctr">
              <a:lnSpc>
                <a:spcPct val="105000"/>
              </a:lnSpc>
              <a:buNone/>
              <a:defRPr sz="99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99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Web App / Excel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BAF42C5-A3F5-448E-B56E-6628EE4C27B7}"/>
              </a:ext>
            </a:extLst>
          </p:cNvPr>
          <p:cNvSpPr>
            <a:spLocks noGrp="1"/>
          </p:cNvSpPr>
          <p:nvPr/>
        </p:nvSpPr>
        <p:spPr>
          <a:xfrm>
            <a:off x="8286750" y="5305425"/>
            <a:ext cx="6229350" cy="9525"/>
          </a:xfrm>
          <a:prstGeom prst="rect">
            <a:avLst/>
          </a:prstGeom>
          <a:solidFill>
            <a:srgbClr val="B8C5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CA9AE01-BADE-451F-8499-850FB4B39529}"/>
              </a:ext>
            </a:extLst>
          </p:cNvPr>
          <p:cNvSpPr>
            <a:spLocks noGrp="1"/>
          </p:cNvSpPr>
          <p:nvPr/>
        </p:nvSpPr>
        <p:spPr>
          <a:xfrm>
            <a:off x="8286750" y="5476875"/>
            <a:ext cx="6229350" cy="1685925"/>
          </a:xfrm>
          <a:prstGeom prst="roundRect">
            <a:avLst>
              <a:gd name="adj" fmla="val 5650"/>
            </a:avLst>
          </a:prstGeom>
          <a:gradFill>
            <a:gsLst>
              <a:gs pos="0">
                <a:srgbClr val="F9FFFA"/>
              </a:gs>
              <a:gs pos="100000">
                <a:srgbClr val="F2FAF4"/>
              </a:gs>
            </a:gsLst>
            <a:lin ang="0"/>
          </a:gradFill>
          <a:ln w="9525">
            <a:solidFill>
              <a:srgbClr val="BFDA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C4A70D4-2166-4A52-8AB0-F8B8D2E702F1}"/>
              </a:ext>
            </a:extLst>
          </p:cNvPr>
          <p:cNvSpPr>
            <a:spLocks noGrp="1"/>
          </p:cNvSpPr>
          <p:nvPr/>
        </p:nvSpPr>
        <p:spPr>
          <a:xfrm>
            <a:off x="8439150" y="5676900"/>
            <a:ext cx="971550" cy="971550"/>
          </a:xfrm>
          <a:prstGeom prst="ellipse">
            <a:avLst/>
          </a:prstGeom>
          <a:solidFill>
            <a:srgbClr val="1C873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5" name="Graphic 19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8620125" y="5848350"/>
            <a:ext cx="609600" cy="62865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AB129F55-2506-49B7-AFFD-D07C194E3917}"/>
              </a:ext>
            </a:extLst>
          </p:cNvPr>
          <p:cNvSpPr>
            <a:spLocks noGrp="1"/>
          </p:cNvSpPr>
          <p:nvPr/>
        </p:nvSpPr>
        <p:spPr>
          <a:xfrm>
            <a:off x="9667875" y="5619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19713B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9713B"/>
                </a:solidFill>
                <a:latin typeface="Segoe UI"/>
                <a:ea typeface="Segoe UI"/>
                <a:cs typeface="Segoe UI"/>
              </a:rPr>
              <a:t>Why This Helps</a:t>
            </a:r>
          </a:p>
        </p:txBody>
      </p:sp>
      <p:pic>
        <p:nvPicPr>
          <p:cNvPr id="197" name="Graphic 1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77400" y="5991225"/>
            <a:ext cx="200025" cy="200025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6B8784F8-6DBC-48FD-AC18-FB7BA9EF09E6}"/>
              </a:ext>
            </a:extLst>
          </p:cNvPr>
          <p:cNvSpPr>
            <a:spLocks noGrp="1"/>
          </p:cNvSpPr>
          <p:nvPr/>
        </p:nvSpPr>
        <p:spPr>
          <a:xfrm>
            <a:off x="9963150" y="59626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No 250-request browser limit</a:t>
            </a:r>
          </a:p>
        </p:txBody>
      </p:sp>
      <p:pic>
        <p:nvPicPr>
          <p:cNvPr id="199" name="Graphic 1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77400" y="6276975"/>
            <a:ext cx="200025" cy="200025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63A8FD14-8B6E-43B2-B6C9-363BCB53A7DF}"/>
              </a:ext>
            </a:extLst>
          </p:cNvPr>
          <p:cNvSpPr>
            <a:spLocks noGrp="1"/>
          </p:cNvSpPr>
          <p:nvPr/>
        </p:nvSpPr>
        <p:spPr>
          <a:xfrm>
            <a:off x="9963150" y="624840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Fully automated post-audit processing</a:t>
            </a:r>
          </a:p>
        </p:txBody>
      </p:sp>
      <p:pic>
        <p:nvPicPr>
          <p:cNvPr id="201" name="Graphic 2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77400" y="6562725"/>
            <a:ext cx="200025" cy="200025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7E45AD2C-DD6F-45C0-8605-23A80E3A69B9}"/>
              </a:ext>
            </a:extLst>
          </p:cNvPr>
          <p:cNvSpPr>
            <a:spLocks noGrp="1"/>
          </p:cNvSpPr>
          <p:nvPr/>
        </p:nvSpPr>
        <p:spPr>
          <a:xfrm>
            <a:off x="9963150" y="65341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Rules-like reporting for non-native vendors</a:t>
            </a:r>
          </a:p>
        </p:txBody>
      </p:sp>
      <p:pic>
        <p:nvPicPr>
          <p:cNvPr id="203" name="Graphic 2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77400" y="6848475"/>
            <a:ext cx="200025" cy="200025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E31F9D30-39AD-492C-8277-0D7B3E399A44}"/>
              </a:ext>
            </a:extLst>
          </p:cNvPr>
          <p:cNvSpPr>
            <a:spLocks noGrp="1"/>
          </p:cNvSpPr>
          <p:nvPr/>
        </p:nvSpPr>
        <p:spPr>
          <a:xfrm>
            <a:off x="9963150" y="681990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Supports Excel, Power BI, and web reporting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E7363F7-6095-49CF-8E70-EC8A87BEB877}"/>
              </a:ext>
            </a:extLst>
          </p:cNvPr>
          <p:cNvSpPr>
            <a:spLocks noGrp="1"/>
          </p:cNvSpPr>
          <p:nvPr/>
        </p:nvSpPr>
        <p:spPr>
          <a:xfrm>
            <a:off x="533400" y="7353300"/>
            <a:ext cx="14001750" cy="904875"/>
          </a:xfrm>
          <a:prstGeom prst="roundRect">
            <a:avLst>
              <a:gd name="adj" fmla="val 842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6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2238375" y="7486650"/>
            <a:ext cx="704850" cy="6477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F8222BF1-AC30-482E-8BFF-CD8DA3187D7B}"/>
              </a:ext>
            </a:extLst>
          </p:cNvPr>
          <p:cNvSpPr>
            <a:spLocks noGrp="1"/>
          </p:cNvSpPr>
          <p:nvPr/>
        </p:nvSpPr>
        <p:spPr>
          <a:xfrm>
            <a:off x="3333750" y="752475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1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Key takeaway: the proposed solution automates audit processing end to end and creates a</a:t>
            </a:r>
          </a:p>
          <a:p>
            <a:pPr algn="l">
              <a:lnSpc>
                <a:spcPct val="112000"/>
              </a:lnSpc>
              <a:buNone/>
              <a:defRPr sz="161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scalable foundation for vendor validation, reporting, and future dashboarding.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EF0CF9E-26E2-4F12-BCB4-58F0C4216AF1}"/>
              </a:ext>
            </a:extLst>
          </p:cNvPr>
          <p:cNvSpPr>
            <a:spLocks noGrp="1"/>
          </p:cNvSpPr>
          <p:nvPr/>
        </p:nvSpPr>
        <p:spPr>
          <a:xfrm>
            <a:off x="14335125" y="825817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94"/>
          </a:bodyPr>
          <a:lstStyle/>
          <a:p>
            <a:pPr algn="r">
              <a:lnSpc>
                <a:spcPct val="103000"/>
              </a:lnSpc>
              <a:buNone/>
              <a:defRPr sz="1650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84576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3 number badge">
            <a:extLst>
              <a:ext uri="{FF2B5EF4-FFF2-40B4-BE49-F238E27FC236}">
                <a16:creationId xmlns:a16="http://schemas.microsoft.com/office/drawing/2014/main" id="{DC2DC940-B695-4BBE-9A1C-6188973D5B97}"/>
              </a:ext>
            </a:extLst>
          </p:cNvPr>
          <p:cNvSpPr>
            <a:spLocks noGrp="1"/>
          </p:cNvSpPr>
          <p:nvPr/>
        </p:nvSpPr>
        <p:spPr>
          <a:xfrm>
            <a:off x="209550" y="161925"/>
            <a:ext cx="628650" cy="657225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140884-3436-4A48-B8F8-7F271A9328FD}"/>
              </a:ext>
            </a:extLst>
          </p:cNvPr>
          <p:cNvSpPr>
            <a:spLocks noGrp="1"/>
          </p:cNvSpPr>
          <p:nvPr/>
        </p:nvSpPr>
        <p:spPr>
          <a:xfrm>
            <a:off x="209550" y="133350"/>
            <a:ext cx="628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C4B06-A5F2-40A6-B6B4-E7E255E41B9B}"/>
              </a:ext>
            </a:extLst>
          </p:cNvPr>
          <p:cNvSpPr>
            <a:spLocks noGrp="1"/>
          </p:cNvSpPr>
          <p:nvPr/>
        </p:nvSpPr>
        <p:spPr>
          <a:xfrm>
            <a:off x="1095375" y="38100"/>
            <a:ext cx="1338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4050" b="1">
                <a:solidFill>
                  <a:srgbClr val="000629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00629"/>
                </a:solidFill>
                <a:latin typeface="Segoe UI"/>
                <a:ea typeface="Segoe UI"/>
                <a:cs typeface="Segoe UI"/>
              </a:rPr>
              <a:t>3. Vendor Validation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D2270-5FC1-4A2F-86C8-923E76DEEB28}"/>
              </a:ext>
            </a:extLst>
          </p:cNvPr>
          <p:cNvSpPr>
            <a:spLocks noGrp="1"/>
          </p:cNvSpPr>
          <p:nvPr/>
        </p:nvSpPr>
        <p:spPr>
          <a:xfrm>
            <a:off x="1104900" y="695325"/>
            <a:ext cx="1200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2025" b="0">
                <a:solidFill>
                  <a:srgbClr val="0054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0054C8"/>
                </a:solidFill>
                <a:latin typeface="Segoe UI"/>
                <a:ea typeface="Segoe UI"/>
                <a:cs typeface="Segoe UI"/>
              </a:rPr>
              <a:t>Expected behavior vs actual request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83DC7-10EC-485A-983B-9216C742AA60}"/>
              </a:ext>
            </a:extLst>
          </p:cNvPr>
          <p:cNvSpPr>
            <a:spLocks noGrp="1"/>
          </p:cNvSpPr>
          <p:nvPr/>
        </p:nvSpPr>
        <p:spPr>
          <a:xfrm>
            <a:off x="209550" y="1066800"/>
            <a:ext cx="14573250" cy="23813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CB514A-B653-44F2-8EFA-C30B45051DE4}"/>
              </a:ext>
            </a:extLst>
          </p:cNvPr>
          <p:cNvSpPr>
            <a:spLocks noGrp="1"/>
          </p:cNvSpPr>
          <p:nvPr/>
        </p:nvSpPr>
        <p:spPr>
          <a:xfrm>
            <a:off x="14697075" y="1023938"/>
            <a:ext cx="104775" cy="104775"/>
          </a:xfrm>
          <a:prstGeom prst="ellipse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C272A2-130D-473D-9B32-CABF4DB93518}"/>
              </a:ext>
            </a:extLst>
          </p:cNvPr>
          <p:cNvSpPr>
            <a:spLocks noGrp="1"/>
          </p:cNvSpPr>
          <p:nvPr/>
        </p:nvSpPr>
        <p:spPr>
          <a:xfrm>
            <a:off x="542925" y="1266825"/>
            <a:ext cx="13992225" cy="866775"/>
          </a:xfrm>
          <a:prstGeom prst="roundRect">
            <a:avLst>
              <a:gd name="adj" fmla="val 10989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11430">
            <a:solidFill>
              <a:srgbClr val="1E6A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4" name="Graphic 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04875" y="1381125"/>
            <a:ext cx="666750" cy="64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79AC2D-8A13-4051-9CCB-49F61FA28A51}"/>
              </a:ext>
            </a:extLst>
          </p:cNvPr>
          <p:cNvSpPr>
            <a:spLocks noGrp="1"/>
          </p:cNvSpPr>
          <p:nvPr/>
        </p:nvSpPr>
        <p:spPr>
          <a:xfrm>
            <a:off x="1971675" y="1390650"/>
            <a:ext cx="12049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For each audited page, the solution checks vendor request patterns and compares actual behavior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against the expected outcome for that audit scenario.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4714E8-753A-4AD4-8C48-8F425181336A}"/>
              </a:ext>
            </a:extLst>
          </p:cNvPr>
          <p:cNvSpPr>
            <a:spLocks noGrp="1"/>
          </p:cNvSpPr>
          <p:nvPr/>
        </p:nvSpPr>
        <p:spPr>
          <a:xfrm>
            <a:off x="533400" y="2314575"/>
            <a:ext cx="7239000" cy="4848225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ection 1 number badge">
            <a:extLst>
              <a:ext uri="{FF2B5EF4-FFF2-40B4-BE49-F238E27FC236}">
                <a16:creationId xmlns:a16="http://schemas.microsoft.com/office/drawing/2014/main" id="{E4FF74B4-9D21-4522-B8E5-2AD16A066C1D}"/>
              </a:ext>
            </a:extLst>
          </p:cNvPr>
          <p:cNvSpPr>
            <a:spLocks noGrp="1"/>
          </p:cNvSpPr>
          <p:nvPr/>
        </p:nvSpPr>
        <p:spPr>
          <a:xfrm>
            <a:off x="657225" y="2447925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1073A8-FAB1-42B8-9D32-95695803B3E0}"/>
              </a:ext>
            </a:extLst>
          </p:cNvPr>
          <p:cNvSpPr>
            <a:spLocks noGrp="1"/>
          </p:cNvSpPr>
          <p:nvPr/>
        </p:nvSpPr>
        <p:spPr>
          <a:xfrm>
            <a:off x="657225" y="2438400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4297A-C2C3-473A-9320-9FC30113D51F}"/>
              </a:ext>
            </a:extLst>
          </p:cNvPr>
          <p:cNvSpPr>
            <a:spLocks noGrp="1"/>
          </p:cNvSpPr>
          <p:nvPr/>
        </p:nvSpPr>
        <p:spPr>
          <a:xfrm>
            <a:off x="2476500" y="2400300"/>
            <a:ext cx="9525" cy="151447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0" name="Graphic 9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00150" y="2724150"/>
            <a:ext cx="876300" cy="7810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B8F6ECE-B200-4177-966D-4E1C0D3DA87B}"/>
              </a:ext>
            </a:extLst>
          </p:cNvPr>
          <p:cNvSpPr>
            <a:spLocks noGrp="1"/>
          </p:cNvSpPr>
          <p:nvPr/>
        </p:nvSpPr>
        <p:spPr>
          <a:xfrm>
            <a:off x="2686050" y="242887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8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8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1. Detect Actual Vendor Behavior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D1A97-1F20-486F-9E4B-4AEE695BA9BC}"/>
              </a:ext>
            </a:extLst>
          </p:cNvPr>
          <p:cNvSpPr>
            <a:spLocks noGrp="1"/>
          </p:cNvSpPr>
          <p:nvPr/>
        </p:nvSpPr>
        <p:spPr>
          <a:xfrm>
            <a:off x="2686050" y="279082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8F1777-E1D4-455D-B485-6F3E65BB48CF}"/>
              </a:ext>
            </a:extLst>
          </p:cNvPr>
          <p:cNvSpPr>
            <a:spLocks noGrp="1"/>
          </p:cNvSpPr>
          <p:nvPr/>
        </p:nvSpPr>
        <p:spPr>
          <a:xfrm>
            <a:off x="2905125" y="2800350"/>
            <a:ext cx="46386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All network requests for each page are retrieved from the</a:t>
            </a:r>
          </a:p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ObservePoint API export.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64EC9-5EB0-418C-A5CB-34C894D376CB}"/>
              </a:ext>
            </a:extLst>
          </p:cNvPr>
          <p:cNvSpPr>
            <a:spLocks noGrp="1"/>
          </p:cNvSpPr>
          <p:nvPr/>
        </p:nvSpPr>
        <p:spPr>
          <a:xfrm>
            <a:off x="2686050" y="32289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8C214-0B8A-4E2D-9532-45757F5975EC}"/>
              </a:ext>
            </a:extLst>
          </p:cNvPr>
          <p:cNvSpPr>
            <a:spLocks noGrp="1"/>
          </p:cNvSpPr>
          <p:nvPr/>
        </p:nvSpPr>
        <p:spPr>
          <a:xfrm>
            <a:off x="2905125" y="3238500"/>
            <a:ext cx="46386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Vendor patterns are checked page by page to determine whether</a:t>
            </a:r>
          </a:p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 vendor is Present or Absent.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B246C4-734A-4B53-84F4-E61D702EEC96}"/>
              </a:ext>
            </a:extLst>
          </p:cNvPr>
          <p:cNvSpPr>
            <a:spLocks noGrp="1"/>
          </p:cNvSpPr>
          <p:nvPr/>
        </p:nvSpPr>
        <p:spPr>
          <a:xfrm>
            <a:off x="2686050" y="366712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AFE7AB-03EE-4B92-A3B5-5B4A50D0291C}"/>
              </a:ext>
            </a:extLst>
          </p:cNvPr>
          <p:cNvSpPr>
            <a:spLocks noGrp="1"/>
          </p:cNvSpPr>
          <p:nvPr/>
        </p:nvSpPr>
        <p:spPr>
          <a:xfrm>
            <a:off x="2905125" y="3676650"/>
            <a:ext cx="46386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This gives one consistent source of truth for vendor availability.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4A1231-190D-4DD5-8846-A2ABFEB66399}"/>
              </a:ext>
            </a:extLst>
          </p:cNvPr>
          <p:cNvSpPr>
            <a:spLocks noGrp="1"/>
          </p:cNvSpPr>
          <p:nvPr/>
        </p:nvSpPr>
        <p:spPr>
          <a:xfrm>
            <a:off x="533400" y="4000500"/>
            <a:ext cx="723900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ection 2 number badge">
            <a:extLst>
              <a:ext uri="{FF2B5EF4-FFF2-40B4-BE49-F238E27FC236}">
                <a16:creationId xmlns:a16="http://schemas.microsoft.com/office/drawing/2014/main" id="{07DDF816-FB69-48F6-B3D9-7A1CB8F33B0C}"/>
              </a:ext>
            </a:extLst>
          </p:cNvPr>
          <p:cNvSpPr>
            <a:spLocks noGrp="1"/>
          </p:cNvSpPr>
          <p:nvPr/>
        </p:nvSpPr>
        <p:spPr>
          <a:xfrm>
            <a:off x="657225" y="4143375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FBCC22-E810-4695-BDF2-E1C441FB522A}"/>
              </a:ext>
            </a:extLst>
          </p:cNvPr>
          <p:cNvSpPr>
            <a:spLocks noGrp="1"/>
          </p:cNvSpPr>
          <p:nvPr/>
        </p:nvSpPr>
        <p:spPr>
          <a:xfrm>
            <a:off x="657225" y="4133850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A5F4D3-CDAC-4AC6-AF0B-25DA7EF8DE5C}"/>
              </a:ext>
            </a:extLst>
          </p:cNvPr>
          <p:cNvSpPr>
            <a:spLocks noGrp="1"/>
          </p:cNvSpPr>
          <p:nvPr/>
        </p:nvSpPr>
        <p:spPr>
          <a:xfrm>
            <a:off x="2476500" y="4095750"/>
            <a:ext cx="9525" cy="148590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2" name="Graphic 1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00150" y="4419600"/>
            <a:ext cx="876300" cy="7810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8E20EE3-8A38-4968-AD4E-83846BF09925}"/>
              </a:ext>
            </a:extLst>
          </p:cNvPr>
          <p:cNvSpPr>
            <a:spLocks noGrp="1"/>
          </p:cNvSpPr>
          <p:nvPr/>
        </p:nvSpPr>
        <p:spPr>
          <a:xfrm>
            <a:off x="2686050" y="41243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8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8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2. Apply Audit-Specific Expectation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207B87-B672-4A8E-A886-E8916C2F8DBE}"/>
              </a:ext>
            </a:extLst>
          </p:cNvPr>
          <p:cNvSpPr>
            <a:spLocks noGrp="1"/>
          </p:cNvSpPr>
          <p:nvPr/>
        </p:nvSpPr>
        <p:spPr>
          <a:xfrm>
            <a:off x="2686050" y="44862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C25990-C520-45E8-9E7B-6F38DBC96C41}"/>
              </a:ext>
            </a:extLst>
          </p:cNvPr>
          <p:cNvSpPr>
            <a:spLocks noGrp="1"/>
          </p:cNvSpPr>
          <p:nvPr/>
        </p:nvSpPr>
        <p:spPr>
          <a:xfrm>
            <a:off x="2905125" y="4495800"/>
            <a:ext cx="46386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Expected behavior is defined by the audit scenario and the</a:t>
            </a:r>
          </a:p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approved business specification.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C6C669-5CDB-4B85-B560-F3734E198C1A}"/>
              </a:ext>
            </a:extLst>
          </p:cNvPr>
          <p:cNvSpPr>
            <a:spLocks noGrp="1"/>
          </p:cNvSpPr>
          <p:nvPr/>
        </p:nvSpPr>
        <p:spPr>
          <a:xfrm>
            <a:off x="2686050" y="492442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0155CB-8469-415D-AA9A-DAD419750DBF}"/>
              </a:ext>
            </a:extLst>
          </p:cNvPr>
          <p:cNvSpPr>
            <a:spLocks noGrp="1"/>
          </p:cNvSpPr>
          <p:nvPr/>
        </p:nvSpPr>
        <p:spPr>
          <a:xfrm>
            <a:off x="2905125" y="4933950"/>
            <a:ext cx="46386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In Accept All, selected vendors are expected to fire.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30CB13-0547-47BE-9153-B48F7FEF6DEE}"/>
              </a:ext>
            </a:extLst>
          </p:cNvPr>
          <p:cNvSpPr>
            <a:spLocks noGrp="1"/>
          </p:cNvSpPr>
          <p:nvPr/>
        </p:nvSpPr>
        <p:spPr>
          <a:xfrm>
            <a:off x="2686050" y="517207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B58BDB-BDEF-4677-8284-40861075439A}"/>
              </a:ext>
            </a:extLst>
          </p:cNvPr>
          <p:cNvSpPr>
            <a:spLocks noGrp="1"/>
          </p:cNvSpPr>
          <p:nvPr/>
        </p:nvSpPr>
        <p:spPr>
          <a:xfrm>
            <a:off x="2905125" y="5181600"/>
            <a:ext cx="46386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In Reject All, Essential Cookies, or Pre-consent, selected vendors</a:t>
            </a:r>
          </a:p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may be expected not to fire.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1072B-7191-49BA-ADA5-F631149769C9}"/>
              </a:ext>
            </a:extLst>
          </p:cNvPr>
          <p:cNvSpPr>
            <a:spLocks noGrp="1"/>
          </p:cNvSpPr>
          <p:nvPr/>
        </p:nvSpPr>
        <p:spPr>
          <a:xfrm>
            <a:off x="533400" y="5667375"/>
            <a:ext cx="723900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ection 3 number badge">
            <a:extLst>
              <a:ext uri="{FF2B5EF4-FFF2-40B4-BE49-F238E27FC236}">
                <a16:creationId xmlns:a16="http://schemas.microsoft.com/office/drawing/2014/main" id="{4660657B-394D-4FD8-96BC-F877C538B52B}"/>
              </a:ext>
            </a:extLst>
          </p:cNvPr>
          <p:cNvSpPr>
            <a:spLocks noGrp="1"/>
          </p:cNvSpPr>
          <p:nvPr/>
        </p:nvSpPr>
        <p:spPr>
          <a:xfrm>
            <a:off x="657225" y="581025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86B678-5C6E-4C7C-B0E4-394CD196B1C0}"/>
              </a:ext>
            </a:extLst>
          </p:cNvPr>
          <p:cNvSpPr>
            <a:spLocks noGrp="1"/>
          </p:cNvSpPr>
          <p:nvPr/>
        </p:nvSpPr>
        <p:spPr>
          <a:xfrm>
            <a:off x="657225" y="580072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27B3CB-394C-46DA-95A8-8C3545989C42}"/>
              </a:ext>
            </a:extLst>
          </p:cNvPr>
          <p:cNvSpPr>
            <a:spLocks noGrp="1"/>
          </p:cNvSpPr>
          <p:nvPr/>
        </p:nvSpPr>
        <p:spPr>
          <a:xfrm>
            <a:off x="2476500" y="5762625"/>
            <a:ext cx="9525" cy="131445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4" name="Graphic 1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200150" y="6086475"/>
            <a:ext cx="876300" cy="7810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E48E17B8-8435-4DD7-99E8-9166794A9DCC}"/>
              </a:ext>
            </a:extLst>
          </p:cNvPr>
          <p:cNvSpPr>
            <a:spLocks noGrp="1"/>
          </p:cNvSpPr>
          <p:nvPr/>
        </p:nvSpPr>
        <p:spPr>
          <a:xfrm>
            <a:off x="2686050" y="57912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88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88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3. Calculate Rule Outcome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6F574A-0978-45C8-A4AE-620A2B262C9F}"/>
              </a:ext>
            </a:extLst>
          </p:cNvPr>
          <p:cNvSpPr>
            <a:spLocks noGrp="1"/>
          </p:cNvSpPr>
          <p:nvPr/>
        </p:nvSpPr>
        <p:spPr>
          <a:xfrm>
            <a:off x="2686050" y="615315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7010BF-A454-45E2-9FFE-8AB83B2C3044}"/>
              </a:ext>
            </a:extLst>
          </p:cNvPr>
          <p:cNvSpPr>
            <a:spLocks noGrp="1"/>
          </p:cNvSpPr>
          <p:nvPr/>
        </p:nvSpPr>
        <p:spPr>
          <a:xfrm>
            <a:off x="2905125" y="6162675"/>
            <a:ext cx="46386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1"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The same request data can produce both Present and Absent rule results.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B71299-6823-4F82-AAA1-5E9FCEF18D82}"/>
              </a:ext>
            </a:extLst>
          </p:cNvPr>
          <p:cNvSpPr>
            <a:spLocks noGrp="1"/>
          </p:cNvSpPr>
          <p:nvPr/>
        </p:nvSpPr>
        <p:spPr>
          <a:xfrm>
            <a:off x="2686050" y="640080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9E766F-1191-4B9D-836E-06EB0A9F02F6}"/>
              </a:ext>
            </a:extLst>
          </p:cNvPr>
          <p:cNvSpPr>
            <a:spLocks noGrp="1"/>
          </p:cNvSpPr>
          <p:nvPr/>
        </p:nvSpPr>
        <p:spPr>
          <a:xfrm>
            <a:off x="2905125" y="6410325"/>
            <a:ext cx="46386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This makes it possible to show a true Pass when a vendor is</a:t>
            </a:r>
          </a:p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correctly absent.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D5BEE2-04C8-416E-9251-8732E1DCF65B}"/>
              </a:ext>
            </a:extLst>
          </p:cNvPr>
          <p:cNvSpPr>
            <a:spLocks noGrp="1"/>
          </p:cNvSpPr>
          <p:nvPr/>
        </p:nvSpPr>
        <p:spPr>
          <a:xfrm>
            <a:off x="2686050" y="683895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351437-A46B-4F6B-8CAA-F357ACB994FE}"/>
              </a:ext>
            </a:extLst>
          </p:cNvPr>
          <p:cNvSpPr>
            <a:spLocks noGrp="1"/>
          </p:cNvSpPr>
          <p:nvPr/>
        </p:nvSpPr>
        <p:spPr>
          <a:xfrm>
            <a:off x="2905125" y="6848475"/>
            <a:ext cx="46386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Failed or incomplete page data should be marked as Not Applied,</a:t>
            </a:r>
          </a:p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not as Pass.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AC5A337-078D-43B5-BD2A-3192D3514C75}"/>
              </a:ext>
            </a:extLst>
          </p:cNvPr>
          <p:cNvSpPr>
            <a:spLocks noGrp="1"/>
          </p:cNvSpPr>
          <p:nvPr/>
        </p:nvSpPr>
        <p:spPr>
          <a:xfrm>
            <a:off x="7962900" y="2314575"/>
            <a:ext cx="6648450" cy="308610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1430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A75872D-9B67-4F5A-ACD8-A4BFBD3D3EBC}"/>
              </a:ext>
            </a:extLst>
          </p:cNvPr>
          <p:cNvSpPr>
            <a:spLocks noGrp="1"/>
          </p:cNvSpPr>
          <p:nvPr/>
        </p:nvSpPr>
        <p:spPr>
          <a:xfrm>
            <a:off x="7962900" y="2314575"/>
            <a:ext cx="6648450" cy="504825"/>
          </a:xfrm>
          <a:prstGeom prst="roundRect">
            <a:avLst>
              <a:gd name="adj" fmla="val 1698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1862CA-6CDB-45A3-A61F-71404537AC05}"/>
              </a:ext>
            </a:extLst>
          </p:cNvPr>
          <p:cNvSpPr>
            <a:spLocks noGrp="1"/>
          </p:cNvSpPr>
          <p:nvPr/>
        </p:nvSpPr>
        <p:spPr>
          <a:xfrm>
            <a:off x="7962900" y="2714625"/>
            <a:ext cx="6648450" cy="104775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814CAB-BBF4-4FD3-A52A-2CA8F23D96E1}"/>
              </a:ext>
            </a:extLst>
          </p:cNvPr>
          <p:cNvSpPr>
            <a:spLocks noGrp="1"/>
          </p:cNvSpPr>
          <p:nvPr/>
        </p:nvSpPr>
        <p:spPr>
          <a:xfrm>
            <a:off x="8058150" y="2324100"/>
            <a:ext cx="64579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Validation Decision Matrix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3D770DF-5D5B-435F-81A9-C4DAF23EC12A}"/>
              </a:ext>
            </a:extLst>
          </p:cNvPr>
          <p:cNvSpPr>
            <a:spLocks noGrp="1"/>
          </p:cNvSpPr>
          <p:nvPr/>
        </p:nvSpPr>
        <p:spPr>
          <a:xfrm>
            <a:off x="7962900" y="2752725"/>
            <a:ext cx="4143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25" b="1">
                <a:solidFill>
                  <a:srgbClr val="0869E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869EF"/>
                </a:solidFill>
                <a:latin typeface="Segoe UI"/>
                <a:ea typeface="Segoe UI"/>
                <a:cs typeface="Segoe UI"/>
              </a:rPr>
              <a:t>Actual Result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30D2CB-0670-4D6D-8766-1D69CC0513DB}"/>
              </a:ext>
            </a:extLst>
          </p:cNvPr>
          <p:cNvSpPr>
            <a:spLocks noGrp="1"/>
          </p:cNvSpPr>
          <p:nvPr/>
        </p:nvSpPr>
        <p:spPr>
          <a:xfrm>
            <a:off x="12106275" y="27527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25" b="1">
                <a:solidFill>
                  <a:srgbClr val="0869E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869EF"/>
                </a:solidFill>
                <a:latin typeface="Segoe UI"/>
                <a:ea typeface="Segoe UI"/>
                <a:cs typeface="Segoe UI"/>
              </a:rPr>
              <a:t>Rule Outcome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592B0BF-DE72-48D9-A547-F654437A48FD}"/>
              </a:ext>
            </a:extLst>
          </p:cNvPr>
          <p:cNvSpPr>
            <a:spLocks noGrp="1"/>
          </p:cNvSpPr>
          <p:nvPr/>
        </p:nvSpPr>
        <p:spPr>
          <a:xfrm>
            <a:off x="7962900" y="3181350"/>
            <a:ext cx="664845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0B4C9A-C6E9-49C0-9D63-4B514B3C52E2}"/>
              </a:ext>
            </a:extLst>
          </p:cNvPr>
          <p:cNvSpPr>
            <a:spLocks noGrp="1"/>
          </p:cNvSpPr>
          <p:nvPr/>
        </p:nvSpPr>
        <p:spPr>
          <a:xfrm>
            <a:off x="12106275" y="2733675"/>
            <a:ext cx="9525" cy="266700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0" name="Graphic 1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20075" y="3305175"/>
            <a:ext cx="323850" cy="3238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76C7B270-47DB-495C-A36B-5CE9D3BADD1D}"/>
              </a:ext>
            </a:extLst>
          </p:cNvPr>
          <p:cNvSpPr>
            <a:spLocks noGrp="1"/>
          </p:cNvSpPr>
          <p:nvPr/>
        </p:nvSpPr>
        <p:spPr>
          <a:xfrm>
            <a:off x="8791575" y="3228975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2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Expected to fire + Vendor Present</a:t>
            </a:r>
          </a:p>
        </p:txBody>
      </p:sp>
      <p:pic>
        <p:nvPicPr>
          <p:cNvPr id="142" name="Graphic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696825" y="3305175"/>
            <a:ext cx="323850" cy="32385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776A384-D1F6-4CFB-99B9-0FD941CCDD33}"/>
              </a:ext>
            </a:extLst>
          </p:cNvPr>
          <p:cNvSpPr>
            <a:spLocks noGrp="1"/>
          </p:cNvSpPr>
          <p:nvPr/>
        </p:nvSpPr>
        <p:spPr>
          <a:xfrm>
            <a:off x="13182600" y="3228975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43B44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43B44D"/>
                </a:solidFill>
                <a:latin typeface="Segoe UI"/>
                <a:ea typeface="Segoe UI"/>
                <a:cs typeface="Segoe UI"/>
              </a:rPr>
              <a:t>Pass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89B830D-7705-468C-BC8D-DDE1FD07F1A4}"/>
              </a:ext>
            </a:extLst>
          </p:cNvPr>
          <p:cNvSpPr>
            <a:spLocks noGrp="1"/>
          </p:cNvSpPr>
          <p:nvPr/>
        </p:nvSpPr>
        <p:spPr>
          <a:xfrm>
            <a:off x="7962900" y="3743325"/>
            <a:ext cx="664845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5" name="Graphic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220075" y="3857625"/>
            <a:ext cx="323850" cy="32385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41562882-B9DA-4D13-A042-954DBFA299F0}"/>
              </a:ext>
            </a:extLst>
          </p:cNvPr>
          <p:cNvSpPr>
            <a:spLocks noGrp="1"/>
          </p:cNvSpPr>
          <p:nvPr/>
        </p:nvSpPr>
        <p:spPr>
          <a:xfrm>
            <a:off x="8791575" y="3781425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2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Expected to fire + Vendor Absent</a:t>
            </a:r>
          </a:p>
        </p:txBody>
      </p:sp>
      <p:pic>
        <p:nvPicPr>
          <p:cNvPr id="147" name="Graphic 1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2696825" y="3857625"/>
            <a:ext cx="323850" cy="32385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16E6C59F-7995-4EF1-8E5B-EA6CB54064C2}"/>
              </a:ext>
            </a:extLst>
          </p:cNvPr>
          <p:cNvSpPr>
            <a:spLocks noGrp="1"/>
          </p:cNvSpPr>
          <p:nvPr/>
        </p:nvSpPr>
        <p:spPr>
          <a:xfrm>
            <a:off x="13182600" y="3781425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E5393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E53935"/>
                </a:solidFill>
                <a:latin typeface="Segoe UI"/>
                <a:ea typeface="Segoe UI"/>
                <a:cs typeface="Segoe UI"/>
              </a:rPr>
              <a:t>Fail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09BD5A9-AF53-4887-A0A8-3A5F860A5B6F}"/>
              </a:ext>
            </a:extLst>
          </p:cNvPr>
          <p:cNvSpPr>
            <a:spLocks noGrp="1"/>
          </p:cNvSpPr>
          <p:nvPr/>
        </p:nvSpPr>
        <p:spPr>
          <a:xfrm>
            <a:off x="7962900" y="4295775"/>
            <a:ext cx="664845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0" name="Graphic 1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20075" y="4410075"/>
            <a:ext cx="323850" cy="32385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3280795E-0CED-4AA4-B1E3-8E6CB4041541}"/>
              </a:ext>
            </a:extLst>
          </p:cNvPr>
          <p:cNvSpPr>
            <a:spLocks noGrp="1"/>
          </p:cNvSpPr>
          <p:nvPr/>
        </p:nvSpPr>
        <p:spPr>
          <a:xfrm>
            <a:off x="8791575" y="4333875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2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Expected to be absent + Vendor Absent</a:t>
            </a:r>
          </a:p>
        </p:txBody>
      </p:sp>
      <p:pic>
        <p:nvPicPr>
          <p:cNvPr id="152" name="Graphic 1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696825" y="4410075"/>
            <a:ext cx="323850" cy="32385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2BB6D2F0-9463-45A6-AF81-C71154337AA9}"/>
              </a:ext>
            </a:extLst>
          </p:cNvPr>
          <p:cNvSpPr>
            <a:spLocks noGrp="1"/>
          </p:cNvSpPr>
          <p:nvPr/>
        </p:nvSpPr>
        <p:spPr>
          <a:xfrm>
            <a:off x="13182600" y="4333875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43B44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43B44D"/>
                </a:solidFill>
                <a:latin typeface="Segoe UI"/>
                <a:ea typeface="Segoe UI"/>
                <a:cs typeface="Segoe UI"/>
              </a:rPr>
              <a:t>Pass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E8FF07-11AE-45BF-89C8-EFF1DC77B8A8}"/>
              </a:ext>
            </a:extLst>
          </p:cNvPr>
          <p:cNvSpPr>
            <a:spLocks noGrp="1"/>
          </p:cNvSpPr>
          <p:nvPr/>
        </p:nvSpPr>
        <p:spPr>
          <a:xfrm>
            <a:off x="7962900" y="4848225"/>
            <a:ext cx="664845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5" name="Graphic 1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220075" y="4962525"/>
            <a:ext cx="323850" cy="323850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93122A0D-1922-4B7B-B9FB-F10B6E394509}"/>
              </a:ext>
            </a:extLst>
          </p:cNvPr>
          <p:cNvSpPr>
            <a:spLocks noGrp="1"/>
          </p:cNvSpPr>
          <p:nvPr/>
        </p:nvSpPr>
        <p:spPr>
          <a:xfrm>
            <a:off x="8791575" y="4886325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238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Expected to be absent + Vendor Present</a:t>
            </a:r>
          </a:p>
        </p:txBody>
      </p:sp>
      <p:pic>
        <p:nvPicPr>
          <p:cNvPr id="157" name="Graphic 1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2696825" y="4962525"/>
            <a:ext cx="323850" cy="32385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8B0D71F8-1B84-475E-922F-5C3E524155B1}"/>
              </a:ext>
            </a:extLst>
          </p:cNvPr>
          <p:cNvSpPr>
            <a:spLocks noGrp="1"/>
          </p:cNvSpPr>
          <p:nvPr/>
        </p:nvSpPr>
        <p:spPr>
          <a:xfrm>
            <a:off x="13182600" y="4886325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E5393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E53935"/>
                </a:solidFill>
                <a:latin typeface="Segoe UI"/>
                <a:ea typeface="Segoe UI"/>
                <a:cs typeface="Segoe UI"/>
              </a:rPr>
              <a:t>Fail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804CABA-C4DA-48EB-AED2-8165085306C4}"/>
              </a:ext>
            </a:extLst>
          </p:cNvPr>
          <p:cNvSpPr>
            <a:spLocks noGrp="1"/>
          </p:cNvSpPr>
          <p:nvPr/>
        </p:nvSpPr>
        <p:spPr>
          <a:xfrm>
            <a:off x="7962900" y="5591175"/>
            <a:ext cx="6648450" cy="1571625"/>
          </a:xfrm>
          <a:prstGeom prst="roundRect">
            <a:avLst>
              <a:gd name="adj" fmla="val 6061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10478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0" name="Graphic 1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153400" y="5810250"/>
            <a:ext cx="733425" cy="733425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657BC961-D254-48B7-9DDB-20EAA556795D}"/>
              </a:ext>
            </a:extLst>
          </p:cNvPr>
          <p:cNvSpPr>
            <a:spLocks noGrp="1"/>
          </p:cNvSpPr>
          <p:nvPr/>
        </p:nvSpPr>
        <p:spPr>
          <a:xfrm>
            <a:off x="9029700" y="57531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00" b="1">
                <a:solidFill>
                  <a:srgbClr val="0869E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869EF"/>
                </a:solidFill>
                <a:latin typeface="Segoe UI"/>
                <a:ea typeface="Segoe UI"/>
                <a:cs typeface="Segoe UI"/>
              </a:rPr>
              <a:t>Typical Audit Scenarios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3A69B86-83F7-48A3-87AD-E615778CA424}"/>
              </a:ext>
            </a:extLst>
          </p:cNvPr>
          <p:cNvSpPr>
            <a:spLocks noGrp="1"/>
          </p:cNvSpPr>
          <p:nvPr/>
        </p:nvSpPr>
        <p:spPr>
          <a:xfrm>
            <a:off x="9029700" y="61245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C8A8CD4-2A3D-4D98-A614-5F57EAEDF4E5}"/>
              </a:ext>
            </a:extLst>
          </p:cNvPr>
          <p:cNvSpPr>
            <a:spLocks noGrp="1"/>
          </p:cNvSpPr>
          <p:nvPr/>
        </p:nvSpPr>
        <p:spPr>
          <a:xfrm>
            <a:off x="9248775" y="6134100"/>
            <a:ext cx="4876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Accept All: evaluate vendors expected to fire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0011EA8-B0F6-460C-A126-B2781CA402EB}"/>
              </a:ext>
            </a:extLst>
          </p:cNvPr>
          <p:cNvSpPr>
            <a:spLocks noGrp="1"/>
          </p:cNvSpPr>
          <p:nvPr/>
        </p:nvSpPr>
        <p:spPr>
          <a:xfrm>
            <a:off x="9029700" y="64198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BDFEE6A-EF6F-43E1-8762-92101785FFB9}"/>
              </a:ext>
            </a:extLst>
          </p:cNvPr>
          <p:cNvSpPr>
            <a:spLocks noGrp="1"/>
          </p:cNvSpPr>
          <p:nvPr/>
        </p:nvSpPr>
        <p:spPr>
          <a:xfrm>
            <a:off x="9248775" y="6429375"/>
            <a:ext cx="4876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Reject All: validate vendors expected to remain absent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E87B2B3-B32B-45B0-AA20-5AD15AF9E036}"/>
              </a:ext>
            </a:extLst>
          </p:cNvPr>
          <p:cNvSpPr>
            <a:spLocks noGrp="1"/>
          </p:cNvSpPr>
          <p:nvPr/>
        </p:nvSpPr>
        <p:spPr>
          <a:xfrm>
            <a:off x="9029700" y="6715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180F805-336B-49C8-AB12-08E299C9ADED}"/>
              </a:ext>
            </a:extLst>
          </p:cNvPr>
          <p:cNvSpPr>
            <a:spLocks noGrp="1"/>
          </p:cNvSpPr>
          <p:nvPr/>
        </p:nvSpPr>
        <p:spPr>
          <a:xfrm>
            <a:off x="9248775" y="6724650"/>
            <a:ext cx="4876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Essential / Pre-consent: confirm only permitted vendors are active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CDA7003-12DC-432A-9F83-E3EFEC9ACD3D}"/>
              </a:ext>
            </a:extLst>
          </p:cNvPr>
          <p:cNvSpPr>
            <a:spLocks noGrp="1"/>
          </p:cNvSpPr>
          <p:nvPr/>
        </p:nvSpPr>
        <p:spPr>
          <a:xfrm>
            <a:off x="533400" y="7353300"/>
            <a:ext cx="14001750" cy="904875"/>
          </a:xfrm>
          <a:prstGeom prst="roundRect">
            <a:avLst>
              <a:gd name="adj" fmla="val 842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9" name="Graphic 1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952625" y="7486650"/>
            <a:ext cx="704850" cy="6477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7CC0BBA9-C2F6-4A03-8CCB-F8C1FADFEF16}"/>
              </a:ext>
            </a:extLst>
          </p:cNvPr>
          <p:cNvSpPr>
            <a:spLocks noGrp="1"/>
          </p:cNvSpPr>
          <p:nvPr/>
        </p:nvSpPr>
        <p:spPr>
          <a:xfrm>
            <a:off x="3067050" y="75247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13" b="1">
                <a:solidFill>
                  <a:srgbClr val="62B2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62B2FF"/>
                </a:solidFill>
                <a:latin typeface="Segoe UI"/>
                <a:ea typeface="Segoe UI"/>
                <a:cs typeface="Segoe UI"/>
              </a:rPr>
              <a:t>Key takeaway: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D339454-11F2-4FD4-A037-EFB1DF48239B}"/>
              </a:ext>
            </a:extLst>
          </p:cNvPr>
          <p:cNvSpPr>
            <a:spLocks noGrp="1"/>
          </p:cNvSpPr>
          <p:nvPr/>
        </p:nvSpPr>
        <p:spPr>
          <a:xfrm>
            <a:off x="4533900" y="7524750"/>
            <a:ext cx="9725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13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vendor validation is based on actual request evidence plus audit-specific expectation,</a:t>
            </a:r>
          </a:p>
          <a:p>
            <a:pPr algn="l">
              <a:lnSpc>
                <a:spcPct val="112000"/>
              </a:lnSpc>
              <a:buNone/>
              <a:defRPr sz="1613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allowing both present and absent scenarios to be reported accurately.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E14429F-F0FB-4D3F-B29D-F71C4B80BD47}"/>
              </a:ext>
            </a:extLst>
          </p:cNvPr>
          <p:cNvSpPr>
            <a:spLocks noGrp="1"/>
          </p:cNvSpPr>
          <p:nvPr/>
        </p:nvSpPr>
        <p:spPr>
          <a:xfrm>
            <a:off x="14335125" y="825817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94"/>
          </a:bodyPr>
          <a:lstStyle/>
          <a:p>
            <a:pPr algn="r">
              <a:lnSpc>
                <a:spcPct val="103000"/>
              </a:lnSpc>
              <a:buNone/>
              <a:defRPr sz="1650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94771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4 number badge">
            <a:extLst>
              <a:ext uri="{FF2B5EF4-FFF2-40B4-BE49-F238E27FC236}">
                <a16:creationId xmlns:a16="http://schemas.microsoft.com/office/drawing/2014/main" id="{0DA52FB6-1458-47CA-89E6-B381BCFC5562}"/>
              </a:ext>
            </a:extLst>
          </p:cNvPr>
          <p:cNvSpPr>
            <a:spLocks noGrp="1"/>
          </p:cNvSpPr>
          <p:nvPr/>
        </p:nvSpPr>
        <p:spPr>
          <a:xfrm>
            <a:off x="209550" y="161925"/>
            <a:ext cx="628650" cy="657225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B2EB28-8D47-4DE4-BDDD-4DEA7712848A}"/>
              </a:ext>
            </a:extLst>
          </p:cNvPr>
          <p:cNvSpPr>
            <a:spLocks noGrp="1"/>
          </p:cNvSpPr>
          <p:nvPr/>
        </p:nvSpPr>
        <p:spPr>
          <a:xfrm>
            <a:off x="209550" y="133350"/>
            <a:ext cx="628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3DDB2-9B3A-4E1F-8719-F298B75685F4}"/>
              </a:ext>
            </a:extLst>
          </p:cNvPr>
          <p:cNvSpPr>
            <a:spLocks noGrp="1"/>
          </p:cNvSpPr>
          <p:nvPr/>
        </p:nvSpPr>
        <p:spPr>
          <a:xfrm>
            <a:off x="1095375" y="38100"/>
            <a:ext cx="1338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4050" b="1">
                <a:solidFill>
                  <a:srgbClr val="000629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00629"/>
                </a:solidFill>
                <a:latin typeface="Segoe UI"/>
                <a:ea typeface="Segoe UI"/>
                <a:cs typeface="Segoe UI"/>
              </a:rPr>
              <a:t>4. Proposed Reporting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5E40C-306F-4466-947D-2BB0AF92C200}"/>
              </a:ext>
            </a:extLst>
          </p:cNvPr>
          <p:cNvSpPr>
            <a:spLocks noGrp="1"/>
          </p:cNvSpPr>
          <p:nvPr/>
        </p:nvSpPr>
        <p:spPr>
          <a:xfrm>
            <a:off x="1104900" y="695325"/>
            <a:ext cx="1200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2025" b="0">
                <a:solidFill>
                  <a:srgbClr val="0054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0054C8"/>
                </a:solidFill>
                <a:latin typeface="Segoe UI"/>
                <a:ea typeface="Segoe UI"/>
                <a:cs typeface="Segoe UI"/>
              </a:rPr>
              <a:t>Rules-like summary with deeper 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96DE-CB3C-4964-BB28-73D9FF18A752}"/>
              </a:ext>
            </a:extLst>
          </p:cNvPr>
          <p:cNvSpPr>
            <a:spLocks noGrp="1"/>
          </p:cNvSpPr>
          <p:nvPr/>
        </p:nvSpPr>
        <p:spPr>
          <a:xfrm>
            <a:off x="209550" y="1066800"/>
            <a:ext cx="14573250" cy="23813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9D89B2-1983-4111-B614-724B40A13140}"/>
              </a:ext>
            </a:extLst>
          </p:cNvPr>
          <p:cNvSpPr>
            <a:spLocks noGrp="1"/>
          </p:cNvSpPr>
          <p:nvPr/>
        </p:nvSpPr>
        <p:spPr>
          <a:xfrm>
            <a:off x="14697075" y="1023938"/>
            <a:ext cx="104775" cy="104775"/>
          </a:xfrm>
          <a:prstGeom prst="ellipse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0EB7DD-B267-4FB2-A9AF-B77567533EC3}"/>
              </a:ext>
            </a:extLst>
          </p:cNvPr>
          <p:cNvSpPr>
            <a:spLocks noGrp="1"/>
          </p:cNvSpPr>
          <p:nvPr/>
        </p:nvSpPr>
        <p:spPr>
          <a:xfrm>
            <a:off x="542925" y="1266825"/>
            <a:ext cx="13992225" cy="866775"/>
          </a:xfrm>
          <a:prstGeom prst="roundRect">
            <a:avLst>
              <a:gd name="adj" fmla="val 10989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11430">
            <a:solidFill>
              <a:srgbClr val="1E6A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0" name="Graphic 8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04875" y="1381125"/>
            <a:ext cx="666750" cy="64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7A5B72-4D59-439F-BA19-1E6FBBD6495B}"/>
              </a:ext>
            </a:extLst>
          </p:cNvPr>
          <p:cNvSpPr>
            <a:spLocks noGrp="1"/>
          </p:cNvSpPr>
          <p:nvPr/>
        </p:nvSpPr>
        <p:spPr>
          <a:xfrm>
            <a:off x="1971675" y="1390650"/>
            <a:ext cx="12049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The solution can present results in a familiar, operational format while also giving deeper page-level and vendor-level visibility.</a:t>
            </a:r>
          </a:p>
        </p:txBody>
      </p:sp>
      <p:pic>
        <p:nvPicPr>
          <p:cNvPr id="92" name="Graphic 9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304925" y="1685925"/>
            <a:ext cx="276225" cy="27622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21E4A8-6DC7-4AA8-B6B9-7395AC0B8410}"/>
              </a:ext>
            </a:extLst>
          </p:cNvPr>
          <p:cNvSpPr>
            <a:spLocks noGrp="1"/>
          </p:cNvSpPr>
          <p:nvPr/>
        </p:nvSpPr>
        <p:spPr>
          <a:xfrm>
            <a:off x="542925" y="2343150"/>
            <a:ext cx="7124700" cy="48101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ection 1 number badge">
            <a:extLst>
              <a:ext uri="{FF2B5EF4-FFF2-40B4-BE49-F238E27FC236}">
                <a16:creationId xmlns:a16="http://schemas.microsoft.com/office/drawing/2014/main" id="{6DB120DD-4B3C-4DAE-B6A2-2BDC842305CD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4811F-001A-4117-8865-F341AF8C5B3C}"/>
              </a:ext>
            </a:extLst>
          </p:cNvPr>
          <p:cNvSpPr>
            <a:spLocks noGrp="1"/>
          </p:cNvSpPr>
          <p:nvPr/>
        </p:nvSpPr>
        <p:spPr>
          <a:xfrm>
            <a:off x="657225" y="246697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87F69-BEA0-430C-B58A-178F2E3F5F48}"/>
              </a:ext>
            </a:extLst>
          </p:cNvPr>
          <p:cNvSpPr>
            <a:spLocks noGrp="1"/>
          </p:cNvSpPr>
          <p:nvPr/>
        </p:nvSpPr>
        <p:spPr>
          <a:xfrm>
            <a:off x="2638425" y="2428875"/>
            <a:ext cx="9525" cy="132397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7" name="Graphic 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200150" y="2676525"/>
            <a:ext cx="952500" cy="866775"/>
          </a:xfrm>
          <a:prstGeom prst="rect">
            <a:avLst/>
          </a:prstGeom>
        </p:spPr>
      </p:pic>
      <p:pic>
        <p:nvPicPr>
          <p:cNvPr id="98" name="Graphic 9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24050" y="3228975"/>
            <a:ext cx="438150" cy="4381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D796FFA-BF12-4FFE-948B-A16E4D6E8B7A}"/>
              </a:ext>
            </a:extLst>
          </p:cNvPr>
          <p:cNvSpPr>
            <a:spLocks noGrp="1"/>
          </p:cNvSpPr>
          <p:nvPr/>
        </p:nvSpPr>
        <p:spPr>
          <a:xfrm>
            <a:off x="2819400" y="2466975"/>
            <a:ext cx="4629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6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6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1. Summary Views for Quick Monitoring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E7FF09-106A-4A87-8E0E-8338DDBE6D07}"/>
              </a:ext>
            </a:extLst>
          </p:cNvPr>
          <p:cNvSpPr>
            <a:spLocks noGrp="1"/>
          </p:cNvSpPr>
          <p:nvPr/>
        </p:nvSpPr>
        <p:spPr>
          <a:xfrm>
            <a:off x="2819400" y="285750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76451-7C73-4C53-9A21-1ACB2FAD2F3B}"/>
              </a:ext>
            </a:extLst>
          </p:cNvPr>
          <p:cNvSpPr>
            <a:spLocks noGrp="1"/>
          </p:cNvSpPr>
          <p:nvPr/>
        </p:nvSpPr>
        <p:spPr>
          <a:xfrm>
            <a:off x="3038475" y="2867025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Show vendor-level results similar to ObservePoint Rules.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ACB4D4-F85B-4BD3-BA5E-170C810AFADB}"/>
              </a:ext>
            </a:extLst>
          </p:cNvPr>
          <p:cNvSpPr>
            <a:spLocks noGrp="1"/>
          </p:cNvSpPr>
          <p:nvPr/>
        </p:nvSpPr>
        <p:spPr>
          <a:xfrm>
            <a:off x="2819400" y="3133725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9869EC-8822-4AC2-B620-EA548825D515}"/>
              </a:ext>
            </a:extLst>
          </p:cNvPr>
          <p:cNvSpPr>
            <a:spLocks noGrp="1"/>
          </p:cNvSpPr>
          <p:nvPr/>
        </p:nvSpPr>
        <p:spPr>
          <a:xfrm>
            <a:off x="3038475" y="3143250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Display pages Passed, Failed, and Not Applied for each rule.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8DA0A4-E520-4D83-89AE-9FDBAC645B98}"/>
              </a:ext>
            </a:extLst>
          </p:cNvPr>
          <p:cNvSpPr>
            <a:spLocks noGrp="1"/>
          </p:cNvSpPr>
          <p:nvPr/>
        </p:nvSpPr>
        <p:spPr>
          <a:xfrm>
            <a:off x="2819400" y="34099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A035CC-FA92-4FBD-8534-95D8A1468FB4}"/>
              </a:ext>
            </a:extLst>
          </p:cNvPr>
          <p:cNvSpPr>
            <a:spLocks noGrp="1"/>
          </p:cNvSpPr>
          <p:nvPr/>
        </p:nvSpPr>
        <p:spPr>
          <a:xfrm>
            <a:off x="3038475" y="3419475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Highlight pass percentage so teams can quickly spot issues.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4B15C9-81A3-4798-AF83-DC706A9DF94C}"/>
              </a:ext>
            </a:extLst>
          </p:cNvPr>
          <p:cNvSpPr>
            <a:spLocks noGrp="1"/>
          </p:cNvSpPr>
          <p:nvPr/>
        </p:nvSpPr>
        <p:spPr>
          <a:xfrm>
            <a:off x="542925" y="3838575"/>
            <a:ext cx="712470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ection 2 number badge">
            <a:extLst>
              <a:ext uri="{FF2B5EF4-FFF2-40B4-BE49-F238E27FC236}">
                <a16:creationId xmlns:a16="http://schemas.microsoft.com/office/drawing/2014/main" id="{C26CA86A-0E8E-47CE-9E53-E1C8203141E3}"/>
              </a:ext>
            </a:extLst>
          </p:cNvPr>
          <p:cNvSpPr>
            <a:spLocks noGrp="1"/>
          </p:cNvSpPr>
          <p:nvPr/>
        </p:nvSpPr>
        <p:spPr>
          <a:xfrm>
            <a:off x="657225" y="398145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895F2-475B-4B61-9C59-E6F0416FFCC4}"/>
              </a:ext>
            </a:extLst>
          </p:cNvPr>
          <p:cNvSpPr>
            <a:spLocks noGrp="1"/>
          </p:cNvSpPr>
          <p:nvPr/>
        </p:nvSpPr>
        <p:spPr>
          <a:xfrm>
            <a:off x="657225" y="397192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548407-A6A9-4921-8983-FAD0ED9AF840}"/>
              </a:ext>
            </a:extLst>
          </p:cNvPr>
          <p:cNvSpPr>
            <a:spLocks noGrp="1"/>
          </p:cNvSpPr>
          <p:nvPr/>
        </p:nvSpPr>
        <p:spPr>
          <a:xfrm>
            <a:off x="2638425" y="3933825"/>
            <a:ext cx="9525" cy="148590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0" name="Graphic 10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00150" y="4181475"/>
            <a:ext cx="952500" cy="86677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F28E348-8596-410A-975A-BEFFB21AE6C3}"/>
              </a:ext>
            </a:extLst>
          </p:cNvPr>
          <p:cNvSpPr>
            <a:spLocks noGrp="1"/>
          </p:cNvSpPr>
          <p:nvPr/>
        </p:nvSpPr>
        <p:spPr>
          <a:xfrm>
            <a:off x="2819400" y="3971925"/>
            <a:ext cx="4629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6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6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2. Detailed Analysis When Needed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EDF88-E032-48B9-B1FB-B86DBEFD3C34}"/>
              </a:ext>
            </a:extLst>
          </p:cNvPr>
          <p:cNvSpPr>
            <a:spLocks noGrp="1"/>
          </p:cNvSpPr>
          <p:nvPr/>
        </p:nvSpPr>
        <p:spPr>
          <a:xfrm>
            <a:off x="2819400" y="436245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7EC0E3-7F96-4653-B767-6F7B938DA479}"/>
              </a:ext>
            </a:extLst>
          </p:cNvPr>
          <p:cNvSpPr>
            <a:spLocks noGrp="1"/>
          </p:cNvSpPr>
          <p:nvPr/>
        </p:nvSpPr>
        <p:spPr>
          <a:xfrm>
            <a:off x="3038475" y="4371975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Provide a page-by-vendor matrix for deeper investigation.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C0EDC7-9CD1-48A4-AC50-99DA01DDBFC4}"/>
              </a:ext>
            </a:extLst>
          </p:cNvPr>
          <p:cNvSpPr>
            <a:spLocks noGrp="1"/>
          </p:cNvSpPr>
          <p:nvPr/>
        </p:nvSpPr>
        <p:spPr>
          <a:xfrm>
            <a:off x="2819400" y="4638675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60E88D-F2F4-4876-8EF7-735C76B9101B}"/>
              </a:ext>
            </a:extLst>
          </p:cNvPr>
          <p:cNvSpPr>
            <a:spLocks noGrp="1"/>
          </p:cNvSpPr>
          <p:nvPr/>
        </p:nvSpPr>
        <p:spPr>
          <a:xfrm>
            <a:off x="3038475" y="4648200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Show tag-inventory style coverage across audited pages.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CC446D-FFA6-4EBC-946C-797BC470A50F}"/>
              </a:ext>
            </a:extLst>
          </p:cNvPr>
          <p:cNvSpPr>
            <a:spLocks noGrp="1"/>
          </p:cNvSpPr>
          <p:nvPr/>
        </p:nvSpPr>
        <p:spPr>
          <a:xfrm>
            <a:off x="2819400" y="4914900"/>
            <a:ext cx="152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A3440D-32F7-426A-8971-AA87C97457D6}"/>
              </a:ext>
            </a:extLst>
          </p:cNvPr>
          <p:cNvSpPr>
            <a:spLocks noGrp="1"/>
          </p:cNvSpPr>
          <p:nvPr/>
        </p:nvSpPr>
        <p:spPr>
          <a:xfrm>
            <a:off x="3038475" y="4924425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77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7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Include matched request evidence for vendor validation.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9EFCF8-F43B-4807-8B1B-F70A7DA480B2}"/>
              </a:ext>
            </a:extLst>
          </p:cNvPr>
          <p:cNvSpPr>
            <a:spLocks noGrp="1"/>
          </p:cNvSpPr>
          <p:nvPr/>
        </p:nvSpPr>
        <p:spPr>
          <a:xfrm>
            <a:off x="542925" y="5505450"/>
            <a:ext cx="712470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ection 3 number badge">
            <a:extLst>
              <a:ext uri="{FF2B5EF4-FFF2-40B4-BE49-F238E27FC236}">
                <a16:creationId xmlns:a16="http://schemas.microsoft.com/office/drawing/2014/main" id="{029401A5-3F04-427B-9866-387A8D5B869B}"/>
              </a:ext>
            </a:extLst>
          </p:cNvPr>
          <p:cNvSpPr>
            <a:spLocks noGrp="1"/>
          </p:cNvSpPr>
          <p:nvPr/>
        </p:nvSpPr>
        <p:spPr>
          <a:xfrm>
            <a:off x="657225" y="5648325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2B180C-D366-4345-ADF4-659132D9F2EB}"/>
              </a:ext>
            </a:extLst>
          </p:cNvPr>
          <p:cNvSpPr>
            <a:spLocks noGrp="1"/>
          </p:cNvSpPr>
          <p:nvPr/>
        </p:nvSpPr>
        <p:spPr>
          <a:xfrm>
            <a:off x="657225" y="5638800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AFB9D-41E2-4C23-8FC6-A0A8BBF52F7A}"/>
              </a:ext>
            </a:extLst>
          </p:cNvPr>
          <p:cNvSpPr>
            <a:spLocks noGrp="1"/>
          </p:cNvSpPr>
          <p:nvPr/>
        </p:nvSpPr>
        <p:spPr>
          <a:xfrm>
            <a:off x="2638425" y="5600700"/>
            <a:ext cx="9525" cy="146685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2" name="Graphic 1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00150" y="5848350"/>
            <a:ext cx="952500" cy="86677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1EA09982-5E0D-4655-ACE8-626BE73CA391}"/>
              </a:ext>
            </a:extLst>
          </p:cNvPr>
          <p:cNvSpPr>
            <a:spLocks noGrp="1"/>
          </p:cNvSpPr>
          <p:nvPr/>
        </p:nvSpPr>
        <p:spPr>
          <a:xfrm>
            <a:off x="2819400" y="5638800"/>
            <a:ext cx="4629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6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6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3. Flexible Output Options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F92FA9-37B9-4483-B3A9-DBB8F3BC2A7A}"/>
              </a:ext>
            </a:extLst>
          </p:cNvPr>
          <p:cNvSpPr>
            <a:spLocks noGrp="1"/>
          </p:cNvSpPr>
          <p:nvPr/>
        </p:nvSpPr>
        <p:spPr>
          <a:xfrm>
            <a:off x="2819400" y="6029325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5564CC-EE38-4484-BD92-8DF645937A74}"/>
              </a:ext>
            </a:extLst>
          </p:cNvPr>
          <p:cNvSpPr>
            <a:spLocks noGrp="1"/>
          </p:cNvSpPr>
          <p:nvPr/>
        </p:nvSpPr>
        <p:spPr>
          <a:xfrm>
            <a:off x="3038475" y="6038850"/>
            <a:ext cx="4400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2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Excel output remains available for operational reporting and</a:t>
            </a:r>
          </a:p>
          <a:p>
            <a:pPr algn="l">
              <a:lnSpc>
                <a:spcPct val="107000"/>
              </a:lnSpc>
              <a:buNone/>
              <a:defRPr sz="112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sharing.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9B3C7F-F464-45AC-83EF-568148DEC958}"/>
              </a:ext>
            </a:extLst>
          </p:cNvPr>
          <p:cNvSpPr>
            <a:spLocks noGrp="1"/>
          </p:cNvSpPr>
          <p:nvPr/>
        </p:nvSpPr>
        <p:spPr>
          <a:xfrm>
            <a:off x="2819400" y="6438900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E542D4-50EE-4D37-9D9E-8BBE9B8F9D54}"/>
              </a:ext>
            </a:extLst>
          </p:cNvPr>
          <p:cNvSpPr>
            <a:spLocks noGrp="1"/>
          </p:cNvSpPr>
          <p:nvPr/>
        </p:nvSpPr>
        <p:spPr>
          <a:xfrm>
            <a:off x="3038475" y="6448425"/>
            <a:ext cx="440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2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The same processed data can feed Power BI or a web application.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08E3F1-38F6-4263-A8E8-B5025974EC33}"/>
              </a:ext>
            </a:extLst>
          </p:cNvPr>
          <p:cNvSpPr>
            <a:spLocks noGrp="1"/>
          </p:cNvSpPr>
          <p:nvPr/>
        </p:nvSpPr>
        <p:spPr>
          <a:xfrm>
            <a:off x="2819400" y="6667500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926FB7-5418-44FF-86E4-B6F4FD61753B}"/>
              </a:ext>
            </a:extLst>
          </p:cNvPr>
          <p:cNvSpPr>
            <a:spLocks noGrp="1"/>
          </p:cNvSpPr>
          <p:nvPr/>
        </p:nvSpPr>
        <p:spPr>
          <a:xfrm>
            <a:off x="3038475" y="6677025"/>
            <a:ext cx="440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2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Filters can support audit, date, property, vendor, and result views.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C16FFCB-7B0B-46BF-8088-E1E84AFA37A9}"/>
              </a:ext>
            </a:extLst>
          </p:cNvPr>
          <p:cNvSpPr>
            <a:spLocks noGrp="1"/>
          </p:cNvSpPr>
          <p:nvPr/>
        </p:nvSpPr>
        <p:spPr>
          <a:xfrm>
            <a:off x="7820025" y="2343150"/>
            <a:ext cx="6791325" cy="3190875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2FA813D-F714-4F62-9911-A9D74E1D0102}"/>
              </a:ext>
            </a:extLst>
          </p:cNvPr>
          <p:cNvSpPr>
            <a:spLocks noGrp="1"/>
          </p:cNvSpPr>
          <p:nvPr/>
        </p:nvSpPr>
        <p:spPr>
          <a:xfrm>
            <a:off x="7820025" y="2343150"/>
            <a:ext cx="6791325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726F4E-C4F1-4C71-B164-053A536171EB}"/>
              </a:ext>
            </a:extLst>
          </p:cNvPr>
          <p:cNvSpPr>
            <a:spLocks noGrp="1"/>
          </p:cNvSpPr>
          <p:nvPr/>
        </p:nvSpPr>
        <p:spPr>
          <a:xfrm>
            <a:off x="7820025" y="2762250"/>
            <a:ext cx="6791325" cy="104775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26D638-3AEE-4CA3-A8F0-5AD8B53390D6}"/>
              </a:ext>
            </a:extLst>
          </p:cNvPr>
          <p:cNvSpPr>
            <a:spLocks noGrp="1"/>
          </p:cNvSpPr>
          <p:nvPr/>
        </p:nvSpPr>
        <p:spPr>
          <a:xfrm>
            <a:off x="7915275" y="2352675"/>
            <a:ext cx="66008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the Reporting Can Include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38DCECE-8679-418C-A602-286CA1855EBE}"/>
              </a:ext>
            </a:extLst>
          </p:cNvPr>
          <p:cNvSpPr>
            <a:spLocks noGrp="1"/>
          </p:cNvSpPr>
          <p:nvPr/>
        </p:nvSpPr>
        <p:spPr>
          <a:xfrm>
            <a:off x="7991475" y="2857500"/>
            <a:ext cx="3105150" cy="1238250"/>
          </a:xfrm>
          <a:prstGeom prst="roundRect">
            <a:avLst>
              <a:gd name="adj" fmla="val 769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5" name="Graphic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162925" y="3086100"/>
            <a:ext cx="723900" cy="71437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DB087AB-CFBF-4841-9515-67262CC2CA8D}"/>
              </a:ext>
            </a:extLst>
          </p:cNvPr>
          <p:cNvSpPr>
            <a:spLocks noGrp="1"/>
          </p:cNvSpPr>
          <p:nvPr/>
        </p:nvSpPr>
        <p:spPr>
          <a:xfrm>
            <a:off x="9058275" y="2971800"/>
            <a:ext cx="1866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Rule Summary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7297A12-6BE3-408B-9EB6-EC40DB1FB5B0}"/>
              </a:ext>
            </a:extLst>
          </p:cNvPr>
          <p:cNvSpPr>
            <a:spLocks noGrp="1"/>
          </p:cNvSpPr>
          <p:nvPr/>
        </p:nvSpPr>
        <p:spPr>
          <a:xfrm>
            <a:off x="9058275" y="3324225"/>
            <a:ext cx="1905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Vendor / rule view with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Pass, Fail, Not Applied,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and pass %.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1A039E6-27FD-4364-9DAC-E3E518F86D21}"/>
              </a:ext>
            </a:extLst>
          </p:cNvPr>
          <p:cNvSpPr>
            <a:spLocks noGrp="1"/>
          </p:cNvSpPr>
          <p:nvPr/>
        </p:nvSpPr>
        <p:spPr>
          <a:xfrm>
            <a:off x="11258550" y="2857500"/>
            <a:ext cx="3105150" cy="1238250"/>
          </a:xfrm>
          <a:prstGeom prst="roundRect">
            <a:avLst>
              <a:gd name="adj" fmla="val 769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9" name="Graphic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430000" y="3086100"/>
            <a:ext cx="723900" cy="71437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2F15D4D-1F53-4C08-B2EC-46881A8B29A3}"/>
              </a:ext>
            </a:extLst>
          </p:cNvPr>
          <p:cNvSpPr>
            <a:spLocks noGrp="1"/>
          </p:cNvSpPr>
          <p:nvPr/>
        </p:nvSpPr>
        <p:spPr>
          <a:xfrm>
            <a:off x="12325350" y="2971800"/>
            <a:ext cx="1866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Page Matrix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39432A6-E090-407E-B5F3-D17B28F6BC40}"/>
              </a:ext>
            </a:extLst>
          </p:cNvPr>
          <p:cNvSpPr>
            <a:spLocks noGrp="1"/>
          </p:cNvSpPr>
          <p:nvPr/>
        </p:nvSpPr>
        <p:spPr>
          <a:xfrm>
            <a:off x="12325350" y="3324225"/>
            <a:ext cx="1905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60"/>
          </a:bodyPr>
          <a:lstStyle/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Page URLs on rows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with vendor Present /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Absent outcomes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across columns.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FD53C09-F4A1-4E9C-8061-00F973BA9ACB}"/>
              </a:ext>
            </a:extLst>
          </p:cNvPr>
          <p:cNvSpPr>
            <a:spLocks noGrp="1"/>
          </p:cNvSpPr>
          <p:nvPr/>
        </p:nvSpPr>
        <p:spPr>
          <a:xfrm>
            <a:off x="7991475" y="4191000"/>
            <a:ext cx="3105150" cy="1238250"/>
          </a:xfrm>
          <a:prstGeom prst="roundRect">
            <a:avLst>
              <a:gd name="adj" fmla="val 769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3" name="Graphic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162925" y="4419600"/>
            <a:ext cx="723900" cy="714375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BFBE1365-419D-4187-88D0-B91BA60367FA}"/>
              </a:ext>
            </a:extLst>
          </p:cNvPr>
          <p:cNvSpPr>
            <a:spLocks noGrp="1"/>
          </p:cNvSpPr>
          <p:nvPr/>
        </p:nvSpPr>
        <p:spPr>
          <a:xfrm>
            <a:off x="9058275" y="4305300"/>
            <a:ext cx="1866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Tag Inventory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4C60BC1-DBBC-4574-8182-38551B3648FA}"/>
              </a:ext>
            </a:extLst>
          </p:cNvPr>
          <p:cNvSpPr>
            <a:spLocks noGrp="1"/>
          </p:cNvSpPr>
          <p:nvPr/>
        </p:nvSpPr>
        <p:spPr>
          <a:xfrm>
            <a:off x="9058275" y="4657725"/>
            <a:ext cx="1905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Coverage view showing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how often each vendor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appears across pages.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40E5188-A6D2-47D7-9BE4-40A1DEB24627}"/>
              </a:ext>
            </a:extLst>
          </p:cNvPr>
          <p:cNvSpPr>
            <a:spLocks noGrp="1"/>
          </p:cNvSpPr>
          <p:nvPr/>
        </p:nvSpPr>
        <p:spPr>
          <a:xfrm>
            <a:off x="11258550" y="4191000"/>
            <a:ext cx="3105150" cy="1238250"/>
          </a:xfrm>
          <a:prstGeom prst="roundRect">
            <a:avLst>
              <a:gd name="adj" fmla="val 769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7" name="Graphic 1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1430000" y="4419600"/>
            <a:ext cx="723900" cy="71437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6BCA15E0-0422-4B6E-9739-76667EB2921A}"/>
              </a:ext>
            </a:extLst>
          </p:cNvPr>
          <p:cNvSpPr>
            <a:spLocks noGrp="1"/>
          </p:cNvSpPr>
          <p:nvPr/>
        </p:nvSpPr>
        <p:spPr>
          <a:xfrm>
            <a:off x="12325350" y="4305300"/>
            <a:ext cx="1866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Evidence &amp; Filters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82EA8F9-CD09-43A1-BC6D-C6ABD12A5335}"/>
              </a:ext>
            </a:extLst>
          </p:cNvPr>
          <p:cNvSpPr>
            <a:spLocks noGrp="1"/>
          </p:cNvSpPr>
          <p:nvPr/>
        </p:nvSpPr>
        <p:spPr>
          <a:xfrm>
            <a:off x="12325350" y="4657725"/>
            <a:ext cx="1905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Matched request samples,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audit filters, and run-level</a:t>
            </a:r>
          </a:p>
          <a:p>
            <a:pPr algn="l">
              <a:lnSpc>
                <a:spcPct val="110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drilldown.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62F3452-848F-4C4E-8701-C0E5BFB75DF2}"/>
              </a:ext>
            </a:extLst>
          </p:cNvPr>
          <p:cNvSpPr>
            <a:spLocks noGrp="1"/>
          </p:cNvSpPr>
          <p:nvPr/>
        </p:nvSpPr>
        <p:spPr>
          <a:xfrm>
            <a:off x="7820025" y="5619750"/>
            <a:ext cx="6791325" cy="1533525"/>
          </a:xfrm>
          <a:prstGeom prst="roundRect">
            <a:avLst>
              <a:gd name="adj" fmla="val 6211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81B2E4-029D-4505-89E8-20F3925DF28A}"/>
              </a:ext>
            </a:extLst>
          </p:cNvPr>
          <p:cNvSpPr>
            <a:spLocks noGrp="1"/>
          </p:cNvSpPr>
          <p:nvPr/>
        </p:nvSpPr>
        <p:spPr>
          <a:xfrm>
            <a:off x="7820025" y="5686425"/>
            <a:ext cx="6791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538" b="1">
                <a:solidFill>
                  <a:srgbClr val="0869EF"/>
                </a:solidFill>
                <a:latin typeface="Segoe UI"/>
                <a:ea typeface="Segoe UI"/>
                <a:cs typeface="Segoe UI"/>
              </a:defRPr>
            </a:pPr>
            <a:r>
              <a:rPr sz="1538" b="1">
                <a:solidFill>
                  <a:srgbClr val="0869EF"/>
                </a:solidFill>
                <a:latin typeface="Segoe UI"/>
                <a:ea typeface="Segoe UI"/>
                <a:cs typeface="Segoe UI"/>
              </a:rPr>
              <a:t>Delivery Options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C7BB06F-9CE1-4991-B724-0385EADE073D}"/>
              </a:ext>
            </a:extLst>
          </p:cNvPr>
          <p:cNvSpPr>
            <a:spLocks noGrp="1"/>
          </p:cNvSpPr>
          <p:nvPr/>
        </p:nvSpPr>
        <p:spPr>
          <a:xfrm>
            <a:off x="10077450" y="6076950"/>
            <a:ext cx="9525" cy="62865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638CDD2-FEAB-4179-AB40-ABE64CD2296D}"/>
              </a:ext>
            </a:extLst>
          </p:cNvPr>
          <p:cNvSpPr>
            <a:spLocks noGrp="1"/>
          </p:cNvSpPr>
          <p:nvPr/>
        </p:nvSpPr>
        <p:spPr>
          <a:xfrm>
            <a:off x="12334875" y="6076950"/>
            <a:ext cx="9525" cy="62865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4" name="Graphic 1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696325" y="6000750"/>
            <a:ext cx="495300" cy="523875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CE765A1-E065-425C-A9E2-5F657604ED60}"/>
              </a:ext>
            </a:extLst>
          </p:cNvPr>
          <p:cNvSpPr>
            <a:spLocks noGrp="1"/>
          </p:cNvSpPr>
          <p:nvPr/>
        </p:nvSpPr>
        <p:spPr>
          <a:xfrm>
            <a:off x="8277225" y="656272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313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313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Excel</a:t>
            </a:r>
          </a:p>
        </p:txBody>
      </p:sp>
      <p:pic>
        <p:nvPicPr>
          <p:cNvPr id="156" name="Graphic 1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0953750" y="6000750"/>
            <a:ext cx="495300" cy="523875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858E0BE8-2460-46EE-B72A-A357FB5CB1BC}"/>
              </a:ext>
            </a:extLst>
          </p:cNvPr>
          <p:cNvSpPr>
            <a:spLocks noGrp="1"/>
          </p:cNvSpPr>
          <p:nvPr/>
        </p:nvSpPr>
        <p:spPr>
          <a:xfrm>
            <a:off x="10534650" y="656272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313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313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Power BI</a:t>
            </a:r>
          </a:p>
        </p:txBody>
      </p:sp>
      <p:pic>
        <p:nvPicPr>
          <p:cNvPr id="158" name="Graphic 1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3211175" y="6000750"/>
            <a:ext cx="495300" cy="523875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88E63C56-EF4C-4FE8-9F66-2C510EE40D51}"/>
              </a:ext>
            </a:extLst>
          </p:cNvPr>
          <p:cNvSpPr>
            <a:spLocks noGrp="1"/>
          </p:cNvSpPr>
          <p:nvPr/>
        </p:nvSpPr>
        <p:spPr>
          <a:xfrm>
            <a:off x="12792075" y="656272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313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313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Web App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26A3D98-8E73-46CF-9C1D-4B328D7BE6B5}"/>
              </a:ext>
            </a:extLst>
          </p:cNvPr>
          <p:cNvSpPr>
            <a:spLocks noGrp="1"/>
          </p:cNvSpPr>
          <p:nvPr/>
        </p:nvSpPr>
        <p:spPr>
          <a:xfrm>
            <a:off x="8105775" y="6858000"/>
            <a:ext cx="6219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163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One processing layer, multiple reporting experiences.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048A03CD-BDCD-4134-B725-D259C087A167}"/>
              </a:ext>
            </a:extLst>
          </p:cNvPr>
          <p:cNvSpPr>
            <a:spLocks noGrp="1"/>
          </p:cNvSpPr>
          <p:nvPr/>
        </p:nvSpPr>
        <p:spPr>
          <a:xfrm>
            <a:off x="533400" y="7353300"/>
            <a:ext cx="14001750" cy="904875"/>
          </a:xfrm>
          <a:prstGeom prst="roundRect">
            <a:avLst>
              <a:gd name="adj" fmla="val 842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2" name="Graphic 16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2038350" y="7486650"/>
            <a:ext cx="704850" cy="64770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EEDC9BDA-2156-4258-B919-3C415DF5702B}"/>
              </a:ext>
            </a:extLst>
          </p:cNvPr>
          <p:cNvSpPr>
            <a:spLocks noGrp="1"/>
          </p:cNvSpPr>
          <p:nvPr/>
        </p:nvSpPr>
        <p:spPr>
          <a:xfrm>
            <a:off x="3305175" y="75247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1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Key takeaway: the reporting layer can support operational Excel output while also enabling</a:t>
            </a:r>
          </a:p>
          <a:p>
            <a:pPr algn="l">
              <a:lnSpc>
                <a:spcPct val="112000"/>
              </a:lnSpc>
              <a:buNone/>
              <a:defRPr sz="161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richer Power BI or web-based analysis from the same validated data.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923DA7A-9974-4B64-A598-5CEDF0FE47DD}"/>
              </a:ext>
            </a:extLst>
          </p:cNvPr>
          <p:cNvSpPr>
            <a:spLocks noGrp="1"/>
          </p:cNvSpPr>
          <p:nvPr/>
        </p:nvSpPr>
        <p:spPr>
          <a:xfrm>
            <a:off x="14335125" y="825817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94"/>
          </a:bodyPr>
          <a:lstStyle/>
          <a:p>
            <a:pPr algn="r">
              <a:lnSpc>
                <a:spcPct val="103000"/>
              </a:lnSpc>
              <a:buNone/>
              <a:defRPr sz="1650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136310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5 number badge">
            <a:extLst>
              <a:ext uri="{FF2B5EF4-FFF2-40B4-BE49-F238E27FC236}">
                <a16:creationId xmlns:a16="http://schemas.microsoft.com/office/drawing/2014/main" id="{AE1BDA1E-BAA3-4031-B3B6-F417DE86B80B}"/>
              </a:ext>
            </a:extLst>
          </p:cNvPr>
          <p:cNvSpPr>
            <a:spLocks noGrp="1"/>
          </p:cNvSpPr>
          <p:nvPr/>
        </p:nvSpPr>
        <p:spPr>
          <a:xfrm>
            <a:off x="209550" y="161925"/>
            <a:ext cx="628650" cy="657225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DEC797-01B9-46D1-96A3-9E7E91DE33F2}"/>
              </a:ext>
            </a:extLst>
          </p:cNvPr>
          <p:cNvSpPr>
            <a:spLocks noGrp="1"/>
          </p:cNvSpPr>
          <p:nvPr/>
        </p:nvSpPr>
        <p:spPr>
          <a:xfrm>
            <a:off x="209550" y="133350"/>
            <a:ext cx="628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11C55E-AE47-46BA-B49B-55A10081ABD7}"/>
              </a:ext>
            </a:extLst>
          </p:cNvPr>
          <p:cNvSpPr>
            <a:spLocks noGrp="1"/>
          </p:cNvSpPr>
          <p:nvPr/>
        </p:nvSpPr>
        <p:spPr>
          <a:xfrm>
            <a:off x="1095375" y="38100"/>
            <a:ext cx="1338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4050" b="1">
                <a:solidFill>
                  <a:srgbClr val="000629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00629"/>
                </a:solidFill>
                <a:latin typeface="Segoe UI"/>
                <a:ea typeface="Segoe UI"/>
                <a:cs typeface="Segoe UI"/>
              </a:rPr>
              <a:t>5. Implementation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E8984-CC36-4600-AC94-1EF2AF8F46EC}"/>
              </a:ext>
            </a:extLst>
          </p:cNvPr>
          <p:cNvSpPr>
            <a:spLocks noGrp="1"/>
          </p:cNvSpPr>
          <p:nvPr/>
        </p:nvSpPr>
        <p:spPr>
          <a:xfrm>
            <a:off x="1104900" y="695325"/>
            <a:ext cx="1200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2025" b="0">
                <a:solidFill>
                  <a:srgbClr val="0054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0054C8"/>
                </a:solidFill>
                <a:latin typeface="Segoe UI"/>
                <a:ea typeface="Segoe UI"/>
                <a:cs typeface="Segoe UI"/>
              </a:rPr>
              <a:t>Phased path from proof of concept to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2EBC8-463A-4759-AE27-09A0B527A26C}"/>
              </a:ext>
            </a:extLst>
          </p:cNvPr>
          <p:cNvSpPr>
            <a:spLocks noGrp="1"/>
          </p:cNvSpPr>
          <p:nvPr/>
        </p:nvSpPr>
        <p:spPr>
          <a:xfrm>
            <a:off x="209550" y="1066800"/>
            <a:ext cx="14573250" cy="23813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D8BA69-4B4B-46D9-A02A-9C38D4473B05}"/>
              </a:ext>
            </a:extLst>
          </p:cNvPr>
          <p:cNvSpPr>
            <a:spLocks noGrp="1"/>
          </p:cNvSpPr>
          <p:nvPr/>
        </p:nvSpPr>
        <p:spPr>
          <a:xfrm>
            <a:off x="14697075" y="1023938"/>
            <a:ext cx="104775" cy="104775"/>
          </a:xfrm>
          <a:prstGeom prst="ellipse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0040DF-E6AD-4E4D-85FE-3D6A5431E976}"/>
              </a:ext>
            </a:extLst>
          </p:cNvPr>
          <p:cNvSpPr>
            <a:spLocks noGrp="1"/>
          </p:cNvSpPr>
          <p:nvPr/>
        </p:nvSpPr>
        <p:spPr>
          <a:xfrm>
            <a:off x="542925" y="1266825"/>
            <a:ext cx="13992225" cy="866775"/>
          </a:xfrm>
          <a:prstGeom prst="roundRect">
            <a:avLst>
              <a:gd name="adj" fmla="val 10989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11430">
            <a:solidFill>
              <a:srgbClr val="1E6A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04875" y="1381125"/>
            <a:ext cx="666750" cy="64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3F4B04-4FD9-4F10-96BD-402DBBC6CF21}"/>
              </a:ext>
            </a:extLst>
          </p:cNvPr>
          <p:cNvSpPr>
            <a:spLocks noGrp="1"/>
          </p:cNvSpPr>
          <p:nvPr/>
        </p:nvSpPr>
        <p:spPr>
          <a:xfrm>
            <a:off x="1971675" y="1390650"/>
            <a:ext cx="12049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 can move in clear stages: first prove the reporting logic, then automate the flow, and finally scale it into a reusable reporting solution.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2A1942-5114-430E-92AF-5FE5D4CBE23F}"/>
              </a:ext>
            </a:extLst>
          </p:cNvPr>
          <p:cNvSpPr>
            <a:spLocks noGrp="1"/>
          </p:cNvSpPr>
          <p:nvPr/>
        </p:nvSpPr>
        <p:spPr>
          <a:xfrm>
            <a:off x="542925" y="2343150"/>
            <a:ext cx="7124700" cy="4819650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ection 1 number badge">
            <a:extLst>
              <a:ext uri="{FF2B5EF4-FFF2-40B4-BE49-F238E27FC236}">
                <a16:creationId xmlns:a16="http://schemas.microsoft.com/office/drawing/2014/main" id="{A89BA839-7576-4025-94CA-17A1D7FC1805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A398C0-D482-41B4-B128-A82C93CB3389}"/>
              </a:ext>
            </a:extLst>
          </p:cNvPr>
          <p:cNvSpPr>
            <a:spLocks noGrp="1"/>
          </p:cNvSpPr>
          <p:nvPr/>
        </p:nvSpPr>
        <p:spPr>
          <a:xfrm>
            <a:off x="657225" y="246697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5E51A8-67F6-4683-A4D8-88235E018296}"/>
              </a:ext>
            </a:extLst>
          </p:cNvPr>
          <p:cNvSpPr>
            <a:spLocks noGrp="1"/>
          </p:cNvSpPr>
          <p:nvPr/>
        </p:nvSpPr>
        <p:spPr>
          <a:xfrm>
            <a:off x="2609850" y="2419350"/>
            <a:ext cx="9525" cy="14192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8" name="Graphic 10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19200" y="2705100"/>
            <a:ext cx="914400" cy="866775"/>
          </a:xfrm>
          <a:prstGeom prst="rect">
            <a:avLst/>
          </a:prstGeom>
        </p:spPr>
      </p:pic>
      <p:pic>
        <p:nvPicPr>
          <p:cNvPr id="109" name="Graphic 1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952625" y="3286125"/>
            <a:ext cx="428625" cy="4286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AFAE3DF-D73A-4DEA-8745-11CF0C99A4C4}"/>
              </a:ext>
            </a:extLst>
          </p:cNvPr>
          <p:cNvSpPr>
            <a:spLocks noGrp="1"/>
          </p:cNvSpPr>
          <p:nvPr/>
        </p:nvSpPr>
        <p:spPr>
          <a:xfrm>
            <a:off x="2800350" y="246697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13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1. Phase 1 – Reporting Proof of Concept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A2D46C-5A79-4CD4-81D4-2C28B2647865}"/>
              </a:ext>
            </a:extLst>
          </p:cNvPr>
          <p:cNvSpPr>
            <a:spLocks noGrp="1"/>
          </p:cNvSpPr>
          <p:nvPr/>
        </p:nvSpPr>
        <p:spPr>
          <a:xfrm>
            <a:off x="2800350" y="2857500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BD761A-5826-49AA-9B86-A532E1C16BCB}"/>
              </a:ext>
            </a:extLst>
          </p:cNvPr>
          <p:cNvSpPr>
            <a:spLocks noGrp="1"/>
          </p:cNvSpPr>
          <p:nvPr/>
        </p:nvSpPr>
        <p:spPr>
          <a:xfrm>
            <a:off x="3019425" y="2867025"/>
            <a:ext cx="4410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Use completed audit runs to generate validated Excel and CSV outputs.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81A401-49F1-4826-AECF-DB3263C13D78}"/>
              </a:ext>
            </a:extLst>
          </p:cNvPr>
          <p:cNvSpPr>
            <a:spLocks noGrp="1"/>
          </p:cNvSpPr>
          <p:nvPr/>
        </p:nvSpPr>
        <p:spPr>
          <a:xfrm>
            <a:off x="2800350" y="3086100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FE19B-1D18-480D-93AD-E2BE5A389397}"/>
              </a:ext>
            </a:extLst>
          </p:cNvPr>
          <p:cNvSpPr>
            <a:spLocks noGrp="1"/>
          </p:cNvSpPr>
          <p:nvPr/>
        </p:nvSpPr>
        <p:spPr>
          <a:xfrm>
            <a:off x="3019425" y="3095625"/>
            <a:ext cx="44100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Build page-level vendor results, rule summaries, and tag-inventory style</a:t>
            </a:r>
          </a:p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views.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61F4AC-5A0D-48BE-8503-76DDEC7B4533}"/>
              </a:ext>
            </a:extLst>
          </p:cNvPr>
          <p:cNvSpPr>
            <a:spLocks noGrp="1"/>
          </p:cNvSpPr>
          <p:nvPr/>
        </p:nvSpPr>
        <p:spPr>
          <a:xfrm>
            <a:off x="2800350" y="3495675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70C311-2713-4007-8E7E-3DF7540FFB46}"/>
              </a:ext>
            </a:extLst>
          </p:cNvPr>
          <p:cNvSpPr>
            <a:spLocks noGrp="1"/>
          </p:cNvSpPr>
          <p:nvPr/>
        </p:nvSpPr>
        <p:spPr>
          <a:xfrm>
            <a:off x="3019425" y="3505200"/>
            <a:ext cx="4410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Confirm the output against ObservePoint data before wider rollout.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9A0A0B-9746-4E88-831D-6F0EE1E16F24}"/>
              </a:ext>
            </a:extLst>
          </p:cNvPr>
          <p:cNvSpPr>
            <a:spLocks noGrp="1"/>
          </p:cNvSpPr>
          <p:nvPr/>
        </p:nvSpPr>
        <p:spPr>
          <a:xfrm>
            <a:off x="542925" y="3914775"/>
            <a:ext cx="712470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ection 2 number badge">
            <a:extLst>
              <a:ext uri="{FF2B5EF4-FFF2-40B4-BE49-F238E27FC236}">
                <a16:creationId xmlns:a16="http://schemas.microsoft.com/office/drawing/2014/main" id="{9BEB36E6-5875-48E7-BA3F-8093C1958C3A}"/>
              </a:ext>
            </a:extLst>
          </p:cNvPr>
          <p:cNvSpPr>
            <a:spLocks noGrp="1"/>
          </p:cNvSpPr>
          <p:nvPr/>
        </p:nvSpPr>
        <p:spPr>
          <a:xfrm>
            <a:off x="657225" y="405765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EECDC4-CF83-436F-BB3C-0600563A3829}"/>
              </a:ext>
            </a:extLst>
          </p:cNvPr>
          <p:cNvSpPr>
            <a:spLocks noGrp="1"/>
          </p:cNvSpPr>
          <p:nvPr/>
        </p:nvSpPr>
        <p:spPr>
          <a:xfrm>
            <a:off x="657225" y="404812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5A8008-98DF-4EF3-AD27-2C0C41EDC242}"/>
              </a:ext>
            </a:extLst>
          </p:cNvPr>
          <p:cNvSpPr>
            <a:spLocks noGrp="1"/>
          </p:cNvSpPr>
          <p:nvPr/>
        </p:nvSpPr>
        <p:spPr>
          <a:xfrm>
            <a:off x="2609850" y="4000500"/>
            <a:ext cx="9525" cy="155257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1" name="Graphic 1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19200" y="4286250"/>
            <a:ext cx="914400" cy="86677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A7A7B99-F3E4-4B03-A50A-DAD4BC948C5E}"/>
              </a:ext>
            </a:extLst>
          </p:cNvPr>
          <p:cNvSpPr>
            <a:spLocks noGrp="1"/>
          </p:cNvSpPr>
          <p:nvPr/>
        </p:nvSpPr>
        <p:spPr>
          <a:xfrm>
            <a:off x="2800350" y="404812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13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2. Phase 2 – Pilot Automation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3C7A81-6BE8-4E80-8682-A7574E37BBE3}"/>
              </a:ext>
            </a:extLst>
          </p:cNvPr>
          <p:cNvSpPr>
            <a:spLocks noGrp="1"/>
          </p:cNvSpPr>
          <p:nvPr/>
        </p:nvSpPr>
        <p:spPr>
          <a:xfrm>
            <a:off x="2800350" y="4438650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B7579D-4FC9-4153-9522-B1AC8EEC4716}"/>
              </a:ext>
            </a:extLst>
          </p:cNvPr>
          <p:cNvSpPr>
            <a:spLocks noGrp="1"/>
          </p:cNvSpPr>
          <p:nvPr/>
        </p:nvSpPr>
        <p:spPr>
          <a:xfrm>
            <a:off x="3019425" y="4448175"/>
            <a:ext cx="4410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Add webhook-based triggering after each audit completes.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53878A-02B0-45C8-8596-D3316215DA8A}"/>
              </a:ext>
            </a:extLst>
          </p:cNvPr>
          <p:cNvSpPr>
            <a:spLocks noGrp="1"/>
          </p:cNvSpPr>
          <p:nvPr/>
        </p:nvSpPr>
        <p:spPr>
          <a:xfrm>
            <a:off x="2800350" y="4667250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1C9BD1A-0873-4B27-B700-091AE192C542}"/>
              </a:ext>
            </a:extLst>
          </p:cNvPr>
          <p:cNvSpPr>
            <a:spLocks noGrp="1"/>
          </p:cNvSpPr>
          <p:nvPr/>
        </p:nvSpPr>
        <p:spPr>
          <a:xfrm>
            <a:off x="3019425" y="4676775"/>
            <a:ext cx="44100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Process the latest run automatically and generate reports</a:t>
            </a:r>
          </a:p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with minimal manual effort.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E9C6BB-7A56-4743-B3F0-4AC4A0F0FD47}"/>
              </a:ext>
            </a:extLst>
          </p:cNvPr>
          <p:cNvSpPr>
            <a:spLocks noGrp="1"/>
          </p:cNvSpPr>
          <p:nvPr/>
        </p:nvSpPr>
        <p:spPr>
          <a:xfrm>
            <a:off x="2800350" y="5076825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CF9025-858E-476E-B8F5-55144A240FCC}"/>
              </a:ext>
            </a:extLst>
          </p:cNvPr>
          <p:cNvSpPr>
            <a:spLocks noGrp="1"/>
          </p:cNvSpPr>
          <p:nvPr/>
        </p:nvSpPr>
        <p:spPr>
          <a:xfrm>
            <a:off x="3019425" y="5086350"/>
            <a:ext cx="4410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02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02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Pilot the solution with selected audits such as Sky and Sky Sports.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872CD4-DC36-4613-B2F9-8FA3C4C02BEF}"/>
              </a:ext>
            </a:extLst>
          </p:cNvPr>
          <p:cNvSpPr>
            <a:spLocks noGrp="1"/>
          </p:cNvSpPr>
          <p:nvPr/>
        </p:nvSpPr>
        <p:spPr>
          <a:xfrm>
            <a:off x="542925" y="5629275"/>
            <a:ext cx="7124700" cy="9525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ection 3 number badge">
            <a:extLst>
              <a:ext uri="{FF2B5EF4-FFF2-40B4-BE49-F238E27FC236}">
                <a16:creationId xmlns:a16="http://schemas.microsoft.com/office/drawing/2014/main" id="{1DE9F128-3081-4022-A8A9-C8F7C35DB3C3}"/>
              </a:ext>
            </a:extLst>
          </p:cNvPr>
          <p:cNvSpPr>
            <a:spLocks noGrp="1"/>
          </p:cNvSpPr>
          <p:nvPr/>
        </p:nvSpPr>
        <p:spPr>
          <a:xfrm>
            <a:off x="657225" y="5772150"/>
            <a:ext cx="381000" cy="381000"/>
          </a:xfrm>
          <a:prstGeom prst="ellipse">
            <a:avLst/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00FC98-42B5-4CAE-9AC4-F02D597D6616}"/>
              </a:ext>
            </a:extLst>
          </p:cNvPr>
          <p:cNvSpPr>
            <a:spLocks noGrp="1"/>
          </p:cNvSpPr>
          <p:nvPr/>
        </p:nvSpPr>
        <p:spPr>
          <a:xfrm>
            <a:off x="657225" y="5762625"/>
            <a:ext cx="381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F0A8B5-282E-43D0-BBD7-B1BEB5E2BAAB}"/>
              </a:ext>
            </a:extLst>
          </p:cNvPr>
          <p:cNvSpPr>
            <a:spLocks noGrp="1"/>
          </p:cNvSpPr>
          <p:nvPr/>
        </p:nvSpPr>
        <p:spPr>
          <a:xfrm>
            <a:off x="2609850" y="5715000"/>
            <a:ext cx="9525" cy="1371600"/>
          </a:xfrm>
          <a:prstGeom prst="rect">
            <a:avLst/>
          </a:prstGeom>
          <a:solidFill>
            <a:srgbClr val="BCD6F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3" name="Graphic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19200" y="6000750"/>
            <a:ext cx="914400" cy="86677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9B368EC-C4D2-420C-AC78-4D3E3EFBBB9D}"/>
              </a:ext>
            </a:extLst>
          </p:cNvPr>
          <p:cNvSpPr>
            <a:spLocks noGrp="1"/>
          </p:cNvSpPr>
          <p:nvPr/>
        </p:nvSpPr>
        <p:spPr>
          <a:xfrm>
            <a:off x="2800350" y="576262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613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3. Phase 3 – Scalable Reporting Layer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C830A2-4322-4663-9871-C676B66AA74C}"/>
              </a:ext>
            </a:extLst>
          </p:cNvPr>
          <p:cNvSpPr>
            <a:spLocks noGrp="1"/>
          </p:cNvSpPr>
          <p:nvPr/>
        </p:nvSpPr>
        <p:spPr>
          <a:xfrm>
            <a:off x="2800350" y="615315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1548FB-4D2E-4C37-A805-1DF32FEF4DB9}"/>
              </a:ext>
            </a:extLst>
          </p:cNvPr>
          <p:cNvSpPr>
            <a:spLocks noGrp="1"/>
          </p:cNvSpPr>
          <p:nvPr/>
        </p:nvSpPr>
        <p:spPr>
          <a:xfrm>
            <a:off x="3019425" y="6162675"/>
            <a:ext cx="44100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08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08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Store processed results for history, filtering, and trend analysis.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7A17D2-32F7-4444-AA7E-7F39BBE5478C}"/>
              </a:ext>
            </a:extLst>
          </p:cNvPr>
          <p:cNvSpPr>
            <a:spLocks noGrp="1"/>
          </p:cNvSpPr>
          <p:nvPr/>
        </p:nvSpPr>
        <p:spPr>
          <a:xfrm>
            <a:off x="2800350" y="636270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F4EC69-BC62-42E9-9624-FDB31216A8E3}"/>
              </a:ext>
            </a:extLst>
          </p:cNvPr>
          <p:cNvSpPr>
            <a:spLocks noGrp="1"/>
          </p:cNvSpPr>
          <p:nvPr/>
        </p:nvSpPr>
        <p:spPr>
          <a:xfrm>
            <a:off x="3019425" y="6372225"/>
            <a:ext cx="44100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08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08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Support Excel as a standard output while also feeding Power BI or a</a:t>
            </a:r>
          </a:p>
          <a:p>
            <a:pPr algn="l">
              <a:lnSpc>
                <a:spcPct val="107000"/>
              </a:lnSpc>
              <a:buNone/>
              <a:defRPr sz="108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08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web application.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2591B6-F455-425A-9E2D-ED5A7E633294}"/>
              </a:ext>
            </a:extLst>
          </p:cNvPr>
          <p:cNvSpPr>
            <a:spLocks noGrp="1"/>
          </p:cNvSpPr>
          <p:nvPr/>
        </p:nvSpPr>
        <p:spPr>
          <a:xfrm>
            <a:off x="2800350" y="674370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EA1D10-F33C-4271-94D7-1513F45530E8}"/>
              </a:ext>
            </a:extLst>
          </p:cNvPr>
          <p:cNvSpPr>
            <a:spLocks noGrp="1"/>
          </p:cNvSpPr>
          <p:nvPr/>
        </p:nvSpPr>
        <p:spPr>
          <a:xfrm>
            <a:off x="3019425" y="6753225"/>
            <a:ext cx="44100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08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08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Make vendor patterns and reporting logic easier to</a:t>
            </a:r>
          </a:p>
          <a:p>
            <a:pPr algn="l">
              <a:lnSpc>
                <a:spcPct val="107000"/>
              </a:lnSpc>
              <a:buNone/>
              <a:defRPr sz="108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08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maintain over time.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7CE4614-3C20-496E-9BDA-D9C2C5A25C80}"/>
              </a:ext>
            </a:extLst>
          </p:cNvPr>
          <p:cNvSpPr>
            <a:spLocks noGrp="1"/>
          </p:cNvSpPr>
          <p:nvPr/>
        </p:nvSpPr>
        <p:spPr>
          <a:xfrm>
            <a:off x="7820025" y="2343150"/>
            <a:ext cx="6791325" cy="3019425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F058A9F-DD82-4BEC-A0BE-D2A8232FB3D2}"/>
              </a:ext>
            </a:extLst>
          </p:cNvPr>
          <p:cNvSpPr>
            <a:spLocks noGrp="1"/>
          </p:cNvSpPr>
          <p:nvPr/>
        </p:nvSpPr>
        <p:spPr>
          <a:xfrm>
            <a:off x="7820025" y="2343150"/>
            <a:ext cx="6791325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81770B-1DD4-4994-A477-D8A6069E88F3}"/>
              </a:ext>
            </a:extLst>
          </p:cNvPr>
          <p:cNvSpPr>
            <a:spLocks noGrp="1"/>
          </p:cNvSpPr>
          <p:nvPr/>
        </p:nvSpPr>
        <p:spPr>
          <a:xfrm>
            <a:off x="7820025" y="2762250"/>
            <a:ext cx="6791325" cy="104775"/>
          </a:xfrm>
          <a:prstGeom prst="rect">
            <a:avLst/>
          </a:prstGeom>
          <a:solidFill>
            <a:srgbClr val="001B5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CD63BB-41D1-42F2-8CED-7170E35FE3EC}"/>
              </a:ext>
            </a:extLst>
          </p:cNvPr>
          <p:cNvSpPr>
            <a:spLocks noGrp="1"/>
          </p:cNvSpPr>
          <p:nvPr/>
        </p:nvSpPr>
        <p:spPr>
          <a:xfrm>
            <a:off x="7915275" y="2352675"/>
            <a:ext cx="66008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Suggested Delivery Stages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AAD56DA-AAAF-439D-84D9-3B35A604BE90}"/>
              </a:ext>
            </a:extLst>
          </p:cNvPr>
          <p:cNvSpPr>
            <a:spLocks noGrp="1"/>
          </p:cNvSpPr>
          <p:nvPr/>
        </p:nvSpPr>
        <p:spPr>
          <a:xfrm>
            <a:off x="7981950" y="3095625"/>
            <a:ext cx="1352550" cy="2152650"/>
          </a:xfrm>
          <a:prstGeom prst="roundRect">
            <a:avLst>
              <a:gd name="adj" fmla="val 704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E263770-2FBB-40ED-BEF4-D2684BC491B7}"/>
              </a:ext>
            </a:extLst>
          </p:cNvPr>
          <p:cNvSpPr>
            <a:spLocks noGrp="1"/>
          </p:cNvSpPr>
          <p:nvPr/>
        </p:nvSpPr>
        <p:spPr>
          <a:xfrm>
            <a:off x="8477250" y="2924175"/>
            <a:ext cx="371475" cy="371475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A68667-CAA0-4066-8AED-EB1D24EFE75F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371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pic>
        <p:nvPicPr>
          <p:cNvPr id="148" name="Graphic 1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343900" y="3419475"/>
            <a:ext cx="628650" cy="6286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3B2EE57A-F7F9-441C-8AA2-9E099032A8AE}"/>
              </a:ext>
            </a:extLst>
          </p:cNvPr>
          <p:cNvSpPr>
            <a:spLocks noGrp="1"/>
          </p:cNvSpPr>
          <p:nvPr/>
        </p:nvSpPr>
        <p:spPr>
          <a:xfrm>
            <a:off x="8029575" y="416242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Validate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AC330E2-73EB-48A7-AA5C-82B77181A5DB}"/>
              </a:ext>
            </a:extLst>
          </p:cNvPr>
          <p:cNvSpPr>
            <a:spLocks noGrp="1"/>
          </p:cNvSpPr>
          <p:nvPr/>
        </p:nvSpPr>
        <p:spPr>
          <a:xfrm>
            <a:off x="8058150" y="4505325"/>
            <a:ext cx="1200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API export +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Excel report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7D4953-89D2-4722-AC40-C9973366406D}"/>
              </a:ext>
            </a:extLst>
          </p:cNvPr>
          <p:cNvSpPr>
            <a:spLocks noGrp="1"/>
          </p:cNvSpPr>
          <p:nvPr/>
        </p:nvSpPr>
        <p:spPr>
          <a:xfrm>
            <a:off x="9334500" y="3752850"/>
            <a:ext cx="247650" cy="28575"/>
          </a:xfrm>
          <a:prstGeom prst="rect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44DFF50-B693-4ED3-9B46-861B899C5710}"/>
              </a:ext>
            </a:extLst>
          </p:cNvPr>
          <p:cNvSpPr>
            <a:spLocks noGrp="1"/>
          </p:cNvSpPr>
          <p:nvPr/>
        </p:nvSpPr>
        <p:spPr>
          <a:xfrm>
            <a:off x="9401175" y="3709988"/>
            <a:ext cx="114300" cy="114300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04ED5E6-4329-4247-8492-003BACD67F82}"/>
              </a:ext>
            </a:extLst>
          </p:cNvPr>
          <p:cNvSpPr>
            <a:spLocks noGrp="1"/>
          </p:cNvSpPr>
          <p:nvPr/>
        </p:nvSpPr>
        <p:spPr>
          <a:xfrm>
            <a:off x="9582150" y="3095625"/>
            <a:ext cx="1352550" cy="2152650"/>
          </a:xfrm>
          <a:prstGeom prst="roundRect">
            <a:avLst>
              <a:gd name="adj" fmla="val 704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81F40F8-0E61-4C7E-9F85-C7CC112186D3}"/>
              </a:ext>
            </a:extLst>
          </p:cNvPr>
          <p:cNvSpPr>
            <a:spLocks noGrp="1"/>
          </p:cNvSpPr>
          <p:nvPr/>
        </p:nvSpPr>
        <p:spPr>
          <a:xfrm>
            <a:off x="10077450" y="2924175"/>
            <a:ext cx="371475" cy="371475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DF7A75-5116-4D68-AB7B-E055BC2E26CF}"/>
              </a:ext>
            </a:extLst>
          </p:cNvPr>
          <p:cNvSpPr>
            <a:spLocks noGrp="1"/>
          </p:cNvSpPr>
          <p:nvPr/>
        </p:nvSpPr>
        <p:spPr>
          <a:xfrm>
            <a:off x="10077450" y="2914650"/>
            <a:ext cx="371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pic>
        <p:nvPicPr>
          <p:cNvPr id="156" name="Graphic 1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944100" y="3419475"/>
            <a:ext cx="628650" cy="62865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8E690287-83B5-46CC-9FFC-FFD3EE046044}"/>
              </a:ext>
            </a:extLst>
          </p:cNvPr>
          <p:cNvSpPr>
            <a:spLocks noGrp="1"/>
          </p:cNvSpPr>
          <p:nvPr/>
        </p:nvSpPr>
        <p:spPr>
          <a:xfrm>
            <a:off x="9629775" y="416242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Automate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4A89393-3C95-436C-B912-86709F0C1DB1}"/>
              </a:ext>
            </a:extLst>
          </p:cNvPr>
          <p:cNvSpPr>
            <a:spLocks noGrp="1"/>
          </p:cNvSpPr>
          <p:nvPr/>
        </p:nvSpPr>
        <p:spPr>
          <a:xfrm>
            <a:off x="9658350" y="4505325"/>
            <a:ext cx="1200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Webhook +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scheduled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processing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9AA1DAC-A37E-4AC4-8C92-83F44CAAA5CA}"/>
              </a:ext>
            </a:extLst>
          </p:cNvPr>
          <p:cNvSpPr>
            <a:spLocks noGrp="1"/>
          </p:cNvSpPr>
          <p:nvPr/>
        </p:nvSpPr>
        <p:spPr>
          <a:xfrm>
            <a:off x="10934700" y="3752850"/>
            <a:ext cx="247650" cy="28575"/>
          </a:xfrm>
          <a:prstGeom prst="rect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05B1096-2D43-4771-BE64-F442423B7F53}"/>
              </a:ext>
            </a:extLst>
          </p:cNvPr>
          <p:cNvSpPr>
            <a:spLocks noGrp="1"/>
          </p:cNvSpPr>
          <p:nvPr/>
        </p:nvSpPr>
        <p:spPr>
          <a:xfrm>
            <a:off x="11001375" y="3709988"/>
            <a:ext cx="114300" cy="114300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B29579D-DEFE-4BB2-B707-7970085D898E}"/>
              </a:ext>
            </a:extLst>
          </p:cNvPr>
          <p:cNvSpPr>
            <a:spLocks noGrp="1"/>
          </p:cNvSpPr>
          <p:nvPr/>
        </p:nvSpPr>
        <p:spPr>
          <a:xfrm>
            <a:off x="11182350" y="3095625"/>
            <a:ext cx="1352550" cy="2152650"/>
          </a:xfrm>
          <a:prstGeom prst="roundRect">
            <a:avLst>
              <a:gd name="adj" fmla="val 704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E5FEF42-F417-44BD-AC37-ACCA6BABD662}"/>
              </a:ext>
            </a:extLst>
          </p:cNvPr>
          <p:cNvSpPr>
            <a:spLocks noGrp="1"/>
          </p:cNvSpPr>
          <p:nvPr/>
        </p:nvSpPr>
        <p:spPr>
          <a:xfrm>
            <a:off x="11677650" y="2924175"/>
            <a:ext cx="371475" cy="371475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FACB243-1B69-491D-8BE9-E5869073E6FA}"/>
              </a:ext>
            </a:extLst>
          </p:cNvPr>
          <p:cNvSpPr>
            <a:spLocks noGrp="1"/>
          </p:cNvSpPr>
          <p:nvPr/>
        </p:nvSpPr>
        <p:spPr>
          <a:xfrm>
            <a:off x="11677650" y="2914650"/>
            <a:ext cx="371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pic>
        <p:nvPicPr>
          <p:cNvPr id="164" name="Graphic 1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1544300" y="3419475"/>
            <a:ext cx="628650" cy="628650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DCC2E7C8-2F63-4E89-9BE4-4392B5E09173}"/>
              </a:ext>
            </a:extLst>
          </p:cNvPr>
          <p:cNvSpPr>
            <a:spLocks noGrp="1"/>
          </p:cNvSpPr>
          <p:nvPr/>
        </p:nvSpPr>
        <p:spPr>
          <a:xfrm>
            <a:off x="11229975" y="416242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57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Scale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22E8848-2D34-4811-8A0B-636A686039C1}"/>
              </a:ext>
            </a:extLst>
          </p:cNvPr>
          <p:cNvSpPr>
            <a:spLocks noGrp="1"/>
          </p:cNvSpPr>
          <p:nvPr/>
        </p:nvSpPr>
        <p:spPr>
          <a:xfrm>
            <a:off x="11258550" y="4505325"/>
            <a:ext cx="1200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Database +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reusable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reporting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65960AE-9BD1-479E-8420-7D8173EE7194}"/>
              </a:ext>
            </a:extLst>
          </p:cNvPr>
          <p:cNvSpPr>
            <a:spLocks noGrp="1"/>
          </p:cNvSpPr>
          <p:nvPr/>
        </p:nvSpPr>
        <p:spPr>
          <a:xfrm>
            <a:off x="12534900" y="3752850"/>
            <a:ext cx="247650" cy="28575"/>
          </a:xfrm>
          <a:prstGeom prst="rect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E568440-6000-4EB7-9F86-A44EB2291D3C}"/>
              </a:ext>
            </a:extLst>
          </p:cNvPr>
          <p:cNvSpPr>
            <a:spLocks noGrp="1"/>
          </p:cNvSpPr>
          <p:nvPr/>
        </p:nvSpPr>
        <p:spPr>
          <a:xfrm>
            <a:off x="12601575" y="3709988"/>
            <a:ext cx="114300" cy="114300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6E9B59A-7960-4121-8ABE-7241C746F12A}"/>
              </a:ext>
            </a:extLst>
          </p:cNvPr>
          <p:cNvSpPr>
            <a:spLocks noGrp="1"/>
          </p:cNvSpPr>
          <p:nvPr/>
        </p:nvSpPr>
        <p:spPr>
          <a:xfrm>
            <a:off x="12782550" y="3095625"/>
            <a:ext cx="1352550" cy="2152650"/>
          </a:xfrm>
          <a:prstGeom prst="roundRect">
            <a:avLst>
              <a:gd name="adj" fmla="val 7042"/>
            </a:avLst>
          </a:prstGeom>
          <a:solidFill>
            <a:srgbClr val="F6FAFF"/>
          </a:soli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71BA39E-01DD-47B5-BEF2-EEAE904581FE}"/>
              </a:ext>
            </a:extLst>
          </p:cNvPr>
          <p:cNvSpPr>
            <a:spLocks noGrp="1"/>
          </p:cNvSpPr>
          <p:nvPr/>
        </p:nvSpPr>
        <p:spPr>
          <a:xfrm>
            <a:off x="13277850" y="2924175"/>
            <a:ext cx="371475" cy="371475"/>
          </a:xfrm>
          <a:prstGeom prst="ellipse">
            <a:avLst/>
          </a:prstGeom>
          <a:solidFill>
            <a:srgbClr val="0869E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138F023-38A7-445B-9502-6E4D6506A7F4}"/>
              </a:ext>
            </a:extLst>
          </p:cNvPr>
          <p:cNvSpPr>
            <a:spLocks noGrp="1"/>
          </p:cNvSpPr>
          <p:nvPr/>
        </p:nvSpPr>
        <p:spPr>
          <a:xfrm>
            <a:off x="13277850" y="2914650"/>
            <a:ext cx="371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pic>
        <p:nvPicPr>
          <p:cNvPr id="172" name="Graphic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144500" y="3419475"/>
            <a:ext cx="628650" cy="62865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EB31663E-EF5C-4A4E-B2EF-D31E1BC5EB72}"/>
              </a:ext>
            </a:extLst>
          </p:cNvPr>
          <p:cNvSpPr>
            <a:spLocks noGrp="1"/>
          </p:cNvSpPr>
          <p:nvPr/>
        </p:nvSpPr>
        <p:spPr>
          <a:xfrm>
            <a:off x="12830175" y="416242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3000"/>
              </a:lnSpc>
              <a:buNone/>
              <a:defRPr sz="1425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Operationalize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82480F8-E089-4096-94A5-9A5760AB02FC}"/>
              </a:ext>
            </a:extLst>
          </p:cNvPr>
          <p:cNvSpPr>
            <a:spLocks noGrp="1"/>
          </p:cNvSpPr>
          <p:nvPr/>
        </p:nvSpPr>
        <p:spPr>
          <a:xfrm>
            <a:off x="12858750" y="4505325"/>
            <a:ext cx="1200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Power BI /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Web App /</a:t>
            </a:r>
          </a:p>
          <a:p>
            <a:pPr algn="ctr">
              <a:lnSpc>
                <a:spcPct val="110000"/>
              </a:lnSpc>
              <a:buNone/>
              <a:defRPr sz="114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4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Excel delivery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3247C60-0DF0-4FE6-85DF-F898A91E330B}"/>
              </a:ext>
            </a:extLst>
          </p:cNvPr>
          <p:cNvSpPr>
            <a:spLocks noGrp="1"/>
          </p:cNvSpPr>
          <p:nvPr/>
        </p:nvSpPr>
        <p:spPr>
          <a:xfrm>
            <a:off x="7820025" y="5448300"/>
            <a:ext cx="6791325" cy="1714500"/>
          </a:xfrm>
          <a:prstGeom prst="roundRect">
            <a:avLst>
              <a:gd name="adj" fmla="val 5556"/>
            </a:avLst>
          </a:prstGeom>
          <a:gradFill>
            <a:gsLst>
              <a:gs pos="0">
                <a:srgbClr val="FFFFFF"/>
              </a:gs>
              <a:gs pos="100000">
                <a:srgbClr val="EDF5FF"/>
              </a:gs>
            </a:gsLst>
            <a:lin ang="0"/>
          </a:gradFill>
          <a:ln w="9525">
            <a:solidFill>
              <a:srgbClr val="BCD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5A74920-4E40-43D6-9A42-658FCC0B415C}"/>
              </a:ext>
            </a:extLst>
          </p:cNvPr>
          <p:cNvSpPr>
            <a:spLocks noGrp="1"/>
          </p:cNvSpPr>
          <p:nvPr/>
        </p:nvSpPr>
        <p:spPr>
          <a:xfrm>
            <a:off x="8505825" y="55626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0869E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869EF"/>
                </a:solidFill>
                <a:latin typeface="Segoe UI"/>
                <a:ea typeface="Segoe UI"/>
                <a:cs typeface="Segoe UI"/>
              </a:rPr>
              <a:t>Why this roadmap works</a:t>
            </a:r>
          </a:p>
        </p:txBody>
      </p:sp>
      <p:pic>
        <p:nvPicPr>
          <p:cNvPr id="177" name="Graphic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91500" y="5962650"/>
            <a:ext cx="209550" cy="20955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1984C703-6B2F-4978-85EA-E130D7AC10B7}"/>
              </a:ext>
            </a:extLst>
          </p:cNvPr>
          <p:cNvSpPr>
            <a:spLocks noGrp="1"/>
          </p:cNvSpPr>
          <p:nvPr/>
        </p:nvSpPr>
        <p:spPr>
          <a:xfrm>
            <a:off x="8572500" y="5924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7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Low-risk start using already validated API data</a:t>
            </a:r>
          </a:p>
        </p:txBody>
      </p:sp>
      <p:pic>
        <p:nvPicPr>
          <p:cNvPr id="179" name="Graphic 1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91500" y="6257925"/>
            <a:ext cx="209550" cy="20955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8BC77EFE-E591-4E97-A2F1-6D170869A1CE}"/>
              </a:ext>
            </a:extLst>
          </p:cNvPr>
          <p:cNvSpPr>
            <a:spLocks noGrp="1"/>
          </p:cNvSpPr>
          <p:nvPr/>
        </p:nvSpPr>
        <p:spPr>
          <a:xfrm>
            <a:off x="8572500" y="62198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7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Quick operational value through Excel reporting</a:t>
            </a:r>
          </a:p>
        </p:txBody>
      </p:sp>
      <p:pic>
        <p:nvPicPr>
          <p:cNvPr id="181" name="Graphic 1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91500" y="6553200"/>
            <a:ext cx="209550" cy="209550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D542E9FC-1003-42D9-A701-6D6C42821FEB}"/>
              </a:ext>
            </a:extLst>
          </p:cNvPr>
          <p:cNvSpPr>
            <a:spLocks noGrp="1"/>
          </p:cNvSpPr>
          <p:nvPr/>
        </p:nvSpPr>
        <p:spPr>
          <a:xfrm>
            <a:off x="8572500" y="65151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7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Clear path to automation and reuse</a:t>
            </a:r>
          </a:p>
        </p:txBody>
      </p:sp>
      <p:pic>
        <p:nvPicPr>
          <p:cNvPr id="183" name="Graphic 18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91500" y="6848475"/>
            <a:ext cx="209550" cy="20955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1D2BA872-C21E-42AC-A4FF-3AC3C6A629C3}"/>
              </a:ext>
            </a:extLst>
          </p:cNvPr>
          <p:cNvSpPr>
            <a:spLocks noGrp="1"/>
          </p:cNvSpPr>
          <p:nvPr/>
        </p:nvSpPr>
        <p:spPr>
          <a:xfrm>
            <a:off x="8572500" y="68103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3000"/>
              </a:lnSpc>
              <a:buNone/>
              <a:defRPr sz="1170" b="0">
                <a:solidFill>
                  <a:srgbClr val="06112F"/>
                </a:solidFill>
                <a:latin typeface="Segoe UI"/>
                <a:ea typeface="Segoe UI"/>
                <a:cs typeface="Segoe UI"/>
              </a:defRPr>
            </a:pPr>
            <a:r>
              <a:rPr sz="1170" b="0">
                <a:solidFill>
                  <a:srgbClr val="06112F"/>
                </a:solidFill>
                <a:latin typeface="Segoe UI"/>
                <a:ea typeface="Segoe UI"/>
                <a:cs typeface="Segoe UI"/>
              </a:rPr>
              <a:t>Flexible enough for future dashboarding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D10D985-9D8A-4016-A1F8-B5F738FA3480}"/>
              </a:ext>
            </a:extLst>
          </p:cNvPr>
          <p:cNvSpPr>
            <a:spLocks noGrp="1"/>
          </p:cNvSpPr>
          <p:nvPr/>
        </p:nvSpPr>
        <p:spPr>
          <a:xfrm>
            <a:off x="533400" y="7353300"/>
            <a:ext cx="14001750" cy="904875"/>
          </a:xfrm>
          <a:prstGeom prst="roundRect">
            <a:avLst>
              <a:gd name="adj" fmla="val 8421"/>
            </a:avLst>
          </a:prstGeom>
          <a:gradFill>
            <a:gsLst>
              <a:gs pos="0">
                <a:srgbClr val="001B52"/>
              </a:gs>
              <a:gs pos="100000">
                <a:srgbClr val="003A78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6" name="Graphic 18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038350" y="7486650"/>
            <a:ext cx="704850" cy="647700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4A27EF0B-139B-49F8-975E-E973F826390E}"/>
              </a:ext>
            </a:extLst>
          </p:cNvPr>
          <p:cNvSpPr>
            <a:spLocks noGrp="1"/>
          </p:cNvSpPr>
          <p:nvPr/>
        </p:nvSpPr>
        <p:spPr>
          <a:xfrm>
            <a:off x="3324225" y="752475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1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Key takeaway: start with a practical reporting proof of concept, then automate and scale it into</a:t>
            </a:r>
          </a:p>
          <a:p>
            <a:pPr algn="l">
              <a:lnSpc>
                <a:spcPct val="112000"/>
              </a:lnSpc>
              <a:buNone/>
              <a:defRPr sz="161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1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long-term vendor validation reporting solution.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C9346D0-6FC3-4E1C-9DB3-CF9AE71424BF}"/>
              </a:ext>
            </a:extLst>
          </p:cNvPr>
          <p:cNvSpPr>
            <a:spLocks noGrp="1"/>
          </p:cNvSpPr>
          <p:nvPr/>
        </p:nvSpPr>
        <p:spPr>
          <a:xfrm>
            <a:off x="14335125" y="825817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94"/>
          </a:bodyPr>
          <a:lstStyle/>
          <a:p>
            <a:pPr algn="r">
              <a:lnSpc>
                <a:spcPct val="103000"/>
              </a:lnSpc>
              <a:buNone/>
              <a:defRPr sz="1650" b="1">
                <a:solidFill>
                  <a:srgbClr val="001B5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01B52"/>
                </a:solidFill>
                <a:latin typeface="Segoe UI"/>
                <a:ea typeface="Segoe UI"/>
                <a:cs typeface="Segoe UI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5783905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</Words>
  <Application>Microsoft Office PowerPoint</Application>
  <DocSecurity>0</DocSecurity>
  <PresentationFormat>Custom</PresentationFormat>
  <Paragraphs>272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Rajavel T</cp:lastModifiedBy>
  <cp:revision>1</cp:revision>
  <dcterms:created xsi:type="dcterms:W3CDTF">2026-07-29T23:44:43Z</dcterms:created>
  <dcterms:modified xsi:type="dcterms:W3CDTF">2026-07-30T07:54:59Z</dcterms:modified>
</cp:coreProperties>
</file>