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8.xml" ContentType="application/vnd.openxmlformats-officedocument.theme+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_rels/presentation.xml.rels" ContentType="application/vnd.openxmlformats-package.relationships+xml"/>
  <Override PartName="/ppt/media/image1.wmf" ContentType="image/x-wmf"/>
  <Override PartName="/ppt/media/image3.jpeg" ContentType="image/jpeg"/>
  <Override PartName="/ppt/media/image2.jpeg" ContentType="image/jpeg"/>
  <Override PartName="/ppt/media/image4.png" ContentType="image/png"/>
  <Override PartName="/ppt/media/image5.png" ContentType="image/png"/>
  <Override PartName="/ppt/media/image6.png" ContentType="image/png"/>
  <Override PartName="/ppt/media/image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5" r:id="rId3"/>
  </p:sldMasterIdLst>
  <p:notesMasterIdLst>
    <p:notesMasterId r:id="rId4"/>
  </p:notesMasterIdLst>
  <p:sldIdLst>
    <p:sldId id="256" r:id="rId5"/>
    <p:sldId id="257" r:id="rId6"/>
    <p:sldId id="258" r:id="rId7"/>
    <p:sldId id="259" r:id="rId8"/>
    <p:sldId id="260" r:id="rId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7.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IN" sz="2400" strike="noStrike" u="none">
                <a:solidFill>
                  <a:schemeClr val="dk1"/>
                </a:solidFill>
                <a:effectLst/>
                <a:uFillTx/>
                <a:latin typeface="Arial"/>
              </a:rPr>
              <a:t>Click to move the slide</a:t>
            </a:r>
            <a:endParaRPr b="0" lang="en-IN" sz="2400" strike="noStrike" u="none">
              <a:solidFill>
                <a:schemeClr val="dk1"/>
              </a:solidFill>
              <a:effectLst/>
              <a:uFillTx/>
              <a:latin typeface="Arial"/>
            </a:endParaRPr>
          </a:p>
        </p:txBody>
      </p:sp>
      <p:sp>
        <p:nvSpPr>
          <p:cNvPr id="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IN" sz="2000" strike="noStrike" u="none">
                <a:solidFill>
                  <a:srgbClr val="000000"/>
                </a:solidFill>
                <a:effectLst/>
                <a:uFillTx/>
                <a:latin typeface="Arial"/>
              </a:rPr>
              <a:t>Click to edit the notes </a:t>
            </a:r>
            <a:r>
              <a:rPr b="0" lang="en-IN" sz="2000" strike="noStrike" u="none">
                <a:solidFill>
                  <a:srgbClr val="000000"/>
                </a:solidFill>
                <a:effectLst/>
                <a:uFillTx/>
                <a:latin typeface="Arial"/>
              </a:rPr>
              <a:t>format</a:t>
            </a:r>
            <a:endParaRPr b="0" lang="en-IN" sz="2000" strike="noStrike" u="none">
              <a:solidFill>
                <a:srgbClr val="000000"/>
              </a:solidFill>
              <a:effectLst/>
              <a:uFillTx/>
              <a:latin typeface="Arial"/>
            </a:endParaRPr>
          </a:p>
        </p:txBody>
      </p:sp>
      <p:sp>
        <p:nvSpPr>
          <p:cNvPr id="3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38"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IN" sz="1400" strike="noStrike" u="none">
                <a:solidFill>
                  <a:srgbClr val="000000"/>
                </a:solidFill>
                <a:effectLst/>
                <a:uFillTx/>
                <a:latin typeface="Times New Roman"/>
              </a:defRPr>
            </a:lvl1pPr>
          </a:lstStyle>
          <a:p>
            <a:pPr indent="0" algn="r">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39"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 </a:t>
            </a:r>
            <a:endParaRPr b="0" lang="en-IN" sz="1400" strike="noStrike" u="none">
              <a:solidFill>
                <a:srgbClr val="000000"/>
              </a:solidFill>
              <a:effectLst/>
              <a:uFillTx/>
              <a:latin typeface="Times New Roman"/>
            </a:endParaRPr>
          </a:p>
        </p:txBody>
      </p:sp>
      <p:sp>
        <p:nvSpPr>
          <p:cNvPr id="40"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trike="noStrike" u="none">
                <a:solidFill>
                  <a:srgbClr val="000000"/>
                </a:solidFill>
                <a:effectLst/>
                <a:uFillTx/>
                <a:latin typeface="Times New Roman"/>
              </a:defRPr>
            </a:lvl1pPr>
          </a:lstStyle>
          <a:p>
            <a:pPr indent="0" algn="r">
              <a:buNone/>
            </a:pPr>
            <a:fld id="{DB859612-43C9-4E22-974D-830A0408D224}" type="slidenum">
              <a:rPr b="0" lang="en-IN" sz="1400" strike="noStrike" u="none">
                <a:solidFill>
                  <a:srgbClr val="000000"/>
                </a:solidFill>
                <a:effectLst/>
                <a:uFillTx/>
                <a:latin typeface="Times New Roman"/>
              </a:rPr>
              <a:t>1</a:t>
            </a:fld>
            <a:endParaRPr b="0" lang="en-IN"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0" y="0"/>
            <a:ext cx="0" cy="0"/>
          </a:xfrm>
          <a:prstGeom prst="rect">
            <a:avLst/>
          </a:prstGeom>
          <a:ln w="0">
            <a:noFill/>
          </a:ln>
        </p:spPr>
      </p:sp>
      <p:sp>
        <p:nvSpPr>
          <p:cNvPr id="15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53"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0" y="0"/>
            <a:ext cx="0" cy="0"/>
          </a:xfrm>
          <a:prstGeom prst="rect">
            <a:avLst/>
          </a:prstGeom>
          <a:ln w="0">
            <a:noFill/>
          </a:ln>
        </p:spPr>
      </p:sp>
      <p:sp>
        <p:nvSpPr>
          <p:cNvPr id="15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56"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0" y="0"/>
            <a:ext cx="0" cy="0"/>
          </a:xfrm>
          <a:prstGeom prst="rect">
            <a:avLst/>
          </a:prstGeom>
          <a:ln w="0">
            <a:noFill/>
          </a:ln>
        </p:spPr>
      </p:sp>
      <p:sp>
        <p:nvSpPr>
          <p:cNvPr id="15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59"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0" y="0"/>
            <a:ext cx="0" cy="0"/>
          </a:xfrm>
          <a:prstGeom prst="rect">
            <a:avLst/>
          </a:prstGeom>
          <a:ln w="0">
            <a:noFill/>
          </a:ln>
        </p:spPr>
      </p:sp>
      <p:sp>
        <p:nvSpPr>
          <p:cNvPr id="16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62"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0" y="0"/>
            <a:ext cx="0" cy="0"/>
          </a:xfrm>
          <a:prstGeom prst="rect">
            <a:avLst/>
          </a:prstGeom>
          <a:ln w="0">
            <a:noFill/>
          </a:ln>
        </p:spPr>
      </p:sp>
      <p:sp>
        <p:nvSpPr>
          <p:cNvPr id="16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Arial"/>
            </a:endParaRPr>
          </a:p>
        </p:txBody>
      </p:sp>
      <p:sp>
        <p:nvSpPr>
          <p:cNvPr id="165"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b="0" lang="en-IN" sz="18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wmf"/>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wmf"/>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wmf"/>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Healdine Sub">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63160" y="189000"/>
            <a:ext cx="11688120" cy="549720"/>
          </a:xfrm>
          <a:prstGeom prst="rect">
            <a:avLst/>
          </a:prstGeom>
          <a:noFill/>
          <a:ln w="0">
            <a:noFill/>
          </a:ln>
        </p:spPr>
        <p:txBody>
          <a:bodyPr lIns="72000" rIns="72000" tIns="0" bIns="0" anchor="ctr">
            <a:noAutofit/>
          </a:bodyPr>
          <a:p>
            <a:pPr indent="0" defTabSz="914400">
              <a:lnSpc>
                <a:spcPct val="100000"/>
              </a:lnSpc>
              <a:buNone/>
            </a:pPr>
            <a:r>
              <a:rPr b="0" lang="en-IN" sz="2800" spc="-20" strike="noStrike" u="none">
                <a:solidFill>
                  <a:srgbClr val="000000"/>
                </a:solidFill>
                <a:effectLst/>
                <a:uFillTx/>
                <a:latin typeface="Arial Nova"/>
                <a:ea typeface="Arial Nova"/>
              </a:rPr>
              <a:t>Click to edit </a:t>
            </a:r>
            <a:r>
              <a:rPr b="0" lang="en-IN" sz="2800" spc="-20" strike="noStrike" u="none">
                <a:solidFill>
                  <a:srgbClr val="000000"/>
                </a:solidFill>
                <a:effectLst/>
                <a:uFillTx/>
                <a:latin typeface="Arial Nova"/>
                <a:ea typeface="Arial Nova"/>
              </a:rPr>
              <a:t>Master title </a:t>
            </a:r>
            <a:r>
              <a:rPr b="0" lang="en-IN" sz="2800" spc="-20" strike="noStrike" u="none">
                <a:solidFill>
                  <a:srgbClr val="000000"/>
                </a:solidFill>
                <a:effectLst/>
                <a:uFillTx/>
                <a:latin typeface="Arial Nova"/>
                <a:ea typeface="Arial Nova"/>
              </a:rPr>
              <a:t>style</a:t>
            </a:r>
            <a:endParaRPr b="0" lang="en-IN" sz="2800" strike="noStrike" u="none">
              <a:solidFill>
                <a:schemeClr val="dk1"/>
              </a:solidFill>
              <a:effectLst/>
              <a:uFillTx/>
              <a:latin typeface="Arial"/>
            </a:endParaRPr>
          </a:p>
        </p:txBody>
      </p:sp>
      <p:sp>
        <p:nvSpPr>
          <p:cNvPr id="1" name="PlaceHolder 2"/>
          <p:cNvSpPr>
            <a:spLocks noGrp="1"/>
          </p:cNvSpPr>
          <p:nvPr>
            <p:ph type="body"/>
          </p:nvPr>
        </p:nvSpPr>
        <p:spPr>
          <a:xfrm>
            <a:off x="263520" y="729360"/>
            <a:ext cx="11688480" cy="388080"/>
          </a:xfrm>
          <a:prstGeom prst="rect">
            <a:avLst/>
          </a:prstGeom>
          <a:noFill/>
          <a:ln w="0">
            <a:noFill/>
          </a:ln>
        </p:spPr>
        <p:txBody>
          <a:bodyPr lIns="72000" rIns="72000" tIns="0" bIns="0" anchor="ctr">
            <a:noAutofit/>
          </a:bodyPr>
          <a:p>
            <a:pPr indent="0" defTabSz="914400">
              <a:lnSpc>
                <a:spcPct val="100000"/>
              </a:lnSpc>
              <a:buNone/>
              <a:tabLst>
                <a:tab algn="l" pos="0"/>
              </a:tabLst>
            </a:pPr>
            <a:r>
              <a:rPr b="0" lang="en-IN" sz="2000" strike="noStrike" u="none">
                <a:solidFill>
                  <a:schemeClr val="accent1"/>
                </a:solidFill>
                <a:effectLst/>
                <a:uFillTx/>
                <a:latin typeface="Arial Nova"/>
                <a:ea typeface="Arial Nova"/>
              </a:rPr>
              <a:t>Click to edit Master text styles</a:t>
            </a:r>
            <a:endParaRPr b="0" lang="en-IN" sz="2000" strike="noStrike" u="none">
              <a:solidFill>
                <a:schemeClr val="lt1">
                  <a:lumMod val="25000"/>
                </a:schemeClr>
              </a:solidFill>
              <a:effectLst/>
              <a:uFillTx/>
              <a:latin typeface="Arial"/>
            </a:endParaRPr>
          </a:p>
        </p:txBody>
      </p:sp>
      <p:sp>
        <p:nvSpPr>
          <p:cNvPr id="2" name="TextBox 6"/>
          <p:cNvSpPr/>
          <p:nvPr/>
        </p:nvSpPr>
        <p:spPr>
          <a:xfrm>
            <a:off x="11805120" y="6618600"/>
            <a:ext cx="251640" cy="146880"/>
          </a:xfrm>
          <a:prstGeom prst="rect">
            <a:avLst/>
          </a:prstGeom>
          <a:noFill/>
          <a:ln w="0">
            <a:noFill/>
          </a:ln>
        </p:spPr>
        <p:style>
          <a:lnRef idx="0"/>
          <a:fillRef idx="0"/>
          <a:effectRef idx="0"/>
          <a:fontRef idx="minor"/>
        </p:style>
        <p:txBody>
          <a:bodyPr lIns="0" rIns="0" tIns="0" bIns="0" anchor="ctr">
            <a:noAutofit/>
          </a:bodyPr>
          <a:p>
            <a:pPr>
              <a:lnSpc>
                <a:spcPct val="100000"/>
              </a:lnSpc>
            </a:pPr>
            <a:fld id="{FD4B331E-7098-4A74-9DEB-F7341FDC7FF3}" type="slidenum">
              <a:rPr b="0" lang="en-IN" sz="800" strike="noStrike" u="none">
                <a:solidFill>
                  <a:srgbClr val="000000"/>
                </a:solidFill>
                <a:effectLst/>
                <a:uFillTx/>
                <a:latin typeface="Arial"/>
                <a:ea typeface="Arial"/>
              </a:rPr>
              <a:t>&lt;number&gt;</a:t>
            </a:fld>
            <a:endParaRPr b="0" lang="en-IN" sz="800" strike="noStrike" u="none">
              <a:solidFill>
                <a:srgbClr val="000000"/>
              </a:solidFill>
              <a:effectLst/>
              <a:uFillTx/>
              <a:latin typeface="Arial"/>
            </a:endParaRPr>
          </a:p>
        </p:txBody>
      </p:sp>
      <p:pic>
        <p:nvPicPr>
          <p:cNvPr id="3" name="Picture 7" descr=""/>
          <p:cNvPicPr/>
          <p:nvPr/>
        </p:nvPicPr>
        <p:blipFill>
          <a:blip r:embed="rId2"/>
          <a:stretch/>
        </p:blipFill>
        <p:spPr>
          <a:xfrm>
            <a:off x="131400" y="6607440"/>
            <a:ext cx="628920" cy="16956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0_Title with image">
    <p:bg>
      <p:bgPr>
        <a:blipFill rotWithShape="0">
          <a:blip r:embed="rId2"/>
          <a:stretch/>
        </a:blipFill>
      </p:bgPr>
    </p:bg>
    <p:spTree>
      <p:nvGrpSpPr>
        <p:cNvPr id="1" name=""/>
        <p:cNvGrpSpPr/>
        <p:nvPr/>
      </p:nvGrpSpPr>
      <p:grpSpPr>
        <a:xfrm>
          <a:off x="0" y="0"/>
          <a:ext cx="0" cy="0"/>
          <a:chOff x="0" y="0"/>
          <a:chExt cx="0" cy="0"/>
        </a:xfrm>
      </p:grpSpPr>
      <p:sp>
        <p:nvSpPr>
          <p:cNvPr id="4" name="Rectangle 7"/>
          <p:cNvSpPr/>
          <p:nvPr/>
        </p:nvSpPr>
        <p:spPr>
          <a:xfrm>
            <a:off x="0" y="0"/>
            <a:ext cx="12191760" cy="6857640"/>
          </a:xfrm>
          <a:prstGeom prst="rect">
            <a:avLst/>
          </a:prstGeom>
          <a:solidFill>
            <a:schemeClr val="dk2">
              <a:alpha val="9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IN" sz="1800" strike="noStrike" u="none">
              <a:solidFill>
                <a:schemeClr val="lt1"/>
              </a:solidFill>
              <a:effectLst/>
              <a:uFillTx/>
              <a:latin typeface="Arial Nova"/>
            </a:endParaRPr>
          </a:p>
        </p:txBody>
      </p:sp>
      <p:sp>
        <p:nvSpPr>
          <p:cNvPr id="5" name="Straight Connector 1"/>
          <p:cNvSpPr/>
          <p:nvPr/>
        </p:nvSpPr>
        <p:spPr>
          <a:xfrm>
            <a:off x="695160" y="3078000"/>
            <a:ext cx="6719760" cy="360"/>
          </a:xfrm>
          <a:prstGeom prst="line">
            <a:avLst/>
          </a:prstGeom>
          <a:ln w="1270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ffffff"/>
              </a:solidFill>
              <a:effectLst/>
              <a:uFillTx/>
              <a:latin typeface="Arial"/>
            </a:endParaRPr>
          </a:p>
        </p:txBody>
      </p:sp>
      <p:sp>
        <p:nvSpPr>
          <p:cNvPr id="6" name="PlaceHolder 1"/>
          <p:cNvSpPr>
            <a:spLocks noGrp="1"/>
          </p:cNvSpPr>
          <p:nvPr>
            <p:ph type="body"/>
          </p:nvPr>
        </p:nvSpPr>
        <p:spPr>
          <a:xfrm>
            <a:off x="695160" y="2143080"/>
            <a:ext cx="11029680" cy="2022480"/>
          </a:xfrm>
          <a:prstGeom prst="rect">
            <a:avLst/>
          </a:prstGeom>
          <a:noFill/>
          <a:ln w="0">
            <a:noFill/>
          </a:ln>
        </p:spPr>
        <p:txBody>
          <a:bodyPr lIns="0" rIns="0" tIns="0" bIns="0" anchor="t">
            <a:noAutofit/>
          </a:bodyPr>
          <a:p>
            <a:pPr indent="0" defTabSz="914400">
              <a:lnSpc>
                <a:spcPct val="110000"/>
              </a:lnSpc>
              <a:buNone/>
              <a:tabLst>
                <a:tab algn="l" pos="0"/>
              </a:tabLst>
            </a:pPr>
            <a:r>
              <a:rPr b="0" lang="en-IN" sz="4000" strike="noStrike" u="none">
                <a:solidFill>
                  <a:schemeClr val="lt1"/>
                </a:solidFill>
                <a:effectLst/>
                <a:uFillTx/>
                <a:latin typeface="Arial Nova"/>
                <a:ea typeface="Arial Nova"/>
              </a:rPr>
              <a:t>Click to edit Master text styles</a:t>
            </a:r>
            <a:endParaRPr b="0" lang="en-IN" sz="4000" strike="noStrike" u="none">
              <a:solidFill>
                <a:schemeClr val="lt1">
                  <a:lumMod val="25000"/>
                </a:schemeClr>
              </a:solidFill>
              <a:effectLst/>
              <a:uFillTx/>
              <a:latin typeface="Arial"/>
            </a:endParaRPr>
          </a:p>
        </p:txBody>
      </p:sp>
      <p:sp>
        <p:nvSpPr>
          <p:cNvPr id="7" name="TextBox 4"/>
          <p:cNvSpPr/>
          <p:nvPr/>
        </p:nvSpPr>
        <p:spPr>
          <a:xfrm>
            <a:off x="11805120" y="6618600"/>
            <a:ext cx="251640" cy="146880"/>
          </a:xfrm>
          <a:prstGeom prst="rect">
            <a:avLst/>
          </a:prstGeom>
          <a:noFill/>
          <a:ln w="0">
            <a:noFill/>
          </a:ln>
        </p:spPr>
        <p:style>
          <a:lnRef idx="0"/>
          <a:fillRef idx="0"/>
          <a:effectRef idx="0"/>
          <a:fontRef idx="minor"/>
        </p:style>
        <p:txBody>
          <a:bodyPr lIns="0" rIns="0" tIns="0" bIns="0" anchor="ctr">
            <a:noAutofit/>
          </a:bodyPr>
          <a:p>
            <a:pPr>
              <a:lnSpc>
                <a:spcPct val="100000"/>
              </a:lnSpc>
            </a:pPr>
            <a:fld id="{CECC17EB-EB26-4C84-9380-072DB7190194}" type="slidenum">
              <a:rPr b="0" lang="en-IN" sz="800" strike="noStrike" u="none">
                <a:solidFill>
                  <a:schemeClr val="lt1"/>
                </a:solidFill>
                <a:effectLst/>
                <a:uFillTx/>
                <a:latin typeface="Arial"/>
                <a:ea typeface="Arial"/>
              </a:rPr>
              <a:t>&lt;number&gt;</a:t>
            </a:fld>
            <a:endParaRPr b="0" lang="en-IN" sz="800" strike="noStrike" u="none">
              <a:solidFill>
                <a:srgbClr val="ffffff"/>
              </a:solidFill>
              <a:effectLst/>
              <a:uFillTx/>
              <a:latin typeface="Arial"/>
            </a:endParaRPr>
          </a:p>
        </p:txBody>
      </p:sp>
      <p:sp>
        <p:nvSpPr>
          <p:cNvPr id="8"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IN" sz="2400" strike="noStrike" u="none">
                <a:solidFill>
                  <a:schemeClr val="dk1"/>
                </a:solidFill>
                <a:effectLst/>
                <a:uFillTx/>
                <a:latin typeface="Arial"/>
              </a:rPr>
              <a:t>Click to edit the </a:t>
            </a:r>
            <a:r>
              <a:rPr b="0" lang="en-IN" sz="2400" strike="noStrike" u="none">
                <a:solidFill>
                  <a:schemeClr val="dk1"/>
                </a:solidFill>
                <a:effectLst/>
                <a:uFillTx/>
                <a:latin typeface="Arial"/>
              </a:rPr>
              <a:t>title text format</a:t>
            </a:r>
            <a:endParaRPr b="0" lang="en-IN" sz="24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ouble Headline">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263160" y="189000"/>
            <a:ext cx="11688120" cy="817200"/>
          </a:xfrm>
          <a:prstGeom prst="rect">
            <a:avLst/>
          </a:prstGeom>
          <a:noFill/>
          <a:ln w="0">
            <a:noFill/>
          </a:ln>
        </p:spPr>
        <p:txBody>
          <a:bodyPr lIns="72000" rIns="72000" tIns="0" bIns="0" anchor="ctr">
            <a:noAutofit/>
          </a:bodyPr>
          <a:p>
            <a:pPr indent="0" defTabSz="914400">
              <a:lnSpc>
                <a:spcPct val="100000"/>
              </a:lnSpc>
              <a:buNone/>
            </a:pPr>
            <a:r>
              <a:rPr b="0" lang="en-IN" sz="2800" spc="-20" strike="noStrike" u="none">
                <a:solidFill>
                  <a:srgbClr val="000000"/>
                </a:solidFill>
                <a:effectLst/>
                <a:uFillTx/>
                <a:latin typeface="Arial Nova"/>
                <a:ea typeface="Arial Nova"/>
              </a:rPr>
              <a:t>Click to edit </a:t>
            </a:r>
            <a:r>
              <a:rPr b="0" lang="en-IN" sz="2800" spc="-20" strike="noStrike" u="none">
                <a:solidFill>
                  <a:srgbClr val="000000"/>
                </a:solidFill>
                <a:effectLst/>
                <a:uFillTx/>
                <a:latin typeface="Arial Nova"/>
                <a:ea typeface="Arial Nova"/>
              </a:rPr>
              <a:t>Master title style</a:t>
            </a:r>
            <a:endParaRPr b="0" lang="en-IN" sz="2800" strike="noStrike" u="none">
              <a:solidFill>
                <a:schemeClr val="dk1"/>
              </a:solidFill>
              <a:effectLst/>
              <a:uFillTx/>
              <a:latin typeface="Arial"/>
            </a:endParaRPr>
          </a:p>
        </p:txBody>
      </p:sp>
      <p:sp>
        <p:nvSpPr>
          <p:cNvPr id="10" name="PlaceHolder 2"/>
          <p:cNvSpPr>
            <a:spLocks noGrp="1"/>
          </p:cNvSpPr>
          <p:nvPr>
            <p:ph type="body"/>
          </p:nvPr>
        </p:nvSpPr>
        <p:spPr>
          <a:xfrm>
            <a:off x="263520" y="1030680"/>
            <a:ext cx="11688480" cy="388080"/>
          </a:xfrm>
          <a:prstGeom prst="rect">
            <a:avLst/>
          </a:prstGeom>
          <a:noFill/>
          <a:ln w="0">
            <a:noFill/>
          </a:ln>
        </p:spPr>
        <p:txBody>
          <a:bodyPr lIns="72000" rIns="72000" tIns="0" bIns="0" anchor="t">
            <a:noAutofit/>
          </a:bodyPr>
          <a:p>
            <a:pPr indent="0" defTabSz="914400">
              <a:lnSpc>
                <a:spcPct val="100000"/>
              </a:lnSpc>
              <a:buNone/>
              <a:tabLst>
                <a:tab algn="l" pos="0"/>
              </a:tabLst>
            </a:pPr>
            <a:r>
              <a:rPr b="0" lang="en-IN" sz="2000" strike="noStrike" u="none">
                <a:solidFill>
                  <a:schemeClr val="accent1"/>
                </a:solidFill>
                <a:effectLst/>
                <a:uFillTx/>
                <a:latin typeface="Arial Nova"/>
                <a:ea typeface="Arial Nova"/>
              </a:rPr>
              <a:t>Click to edit Master text styles</a:t>
            </a:r>
            <a:endParaRPr b="0" lang="en-IN" sz="2000" strike="noStrike" u="none">
              <a:solidFill>
                <a:schemeClr val="lt1">
                  <a:lumMod val="25000"/>
                </a:schemeClr>
              </a:solidFill>
              <a:effectLst/>
              <a:uFillTx/>
              <a:latin typeface="Arial"/>
            </a:endParaRPr>
          </a:p>
        </p:txBody>
      </p:sp>
      <p:sp>
        <p:nvSpPr>
          <p:cNvPr id="11" name="TextBox 5"/>
          <p:cNvSpPr/>
          <p:nvPr/>
        </p:nvSpPr>
        <p:spPr>
          <a:xfrm>
            <a:off x="11805120" y="6618600"/>
            <a:ext cx="251640" cy="146880"/>
          </a:xfrm>
          <a:prstGeom prst="rect">
            <a:avLst/>
          </a:prstGeom>
          <a:noFill/>
          <a:ln w="0">
            <a:noFill/>
          </a:ln>
        </p:spPr>
        <p:style>
          <a:lnRef idx="0"/>
          <a:fillRef idx="0"/>
          <a:effectRef idx="0"/>
          <a:fontRef idx="minor"/>
        </p:style>
        <p:txBody>
          <a:bodyPr lIns="0" rIns="0" tIns="0" bIns="0" anchor="ctr">
            <a:noAutofit/>
          </a:bodyPr>
          <a:p>
            <a:pPr>
              <a:lnSpc>
                <a:spcPct val="100000"/>
              </a:lnSpc>
            </a:pPr>
            <a:fld id="{28B895DA-C537-4247-BBAB-6C31C303198A}" type="slidenum">
              <a:rPr b="0" lang="en-IN" sz="800" strike="noStrike" u="none">
                <a:solidFill>
                  <a:srgbClr val="000000"/>
                </a:solidFill>
                <a:effectLst/>
                <a:uFillTx/>
                <a:latin typeface="Arial"/>
                <a:ea typeface="Arial"/>
              </a:rPr>
              <a:t>&lt;number&gt;</a:t>
            </a:fld>
            <a:endParaRPr b="0" lang="en-IN" sz="800" strike="noStrike" u="none">
              <a:solidFill>
                <a:srgbClr val="000000"/>
              </a:solidFill>
              <a:effectLst/>
              <a:uFillTx/>
              <a:latin typeface="Arial"/>
            </a:endParaRPr>
          </a:p>
        </p:txBody>
      </p:sp>
      <p:pic>
        <p:nvPicPr>
          <p:cNvPr id="12" name="Picture 6" descr=""/>
          <p:cNvPicPr/>
          <p:nvPr/>
        </p:nvPicPr>
        <p:blipFill>
          <a:blip r:embed="rId2"/>
          <a:stretch/>
        </p:blipFill>
        <p:spPr>
          <a:xfrm>
            <a:off x="131400" y="6607440"/>
            <a:ext cx="628920" cy="169560"/>
          </a:xfrm>
          <a:prstGeom prst="rect">
            <a:avLst/>
          </a:prstGeom>
          <a:noFill/>
          <a:ln w="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13" name="TextBox 2"/>
          <p:cNvSpPr/>
          <p:nvPr/>
        </p:nvSpPr>
        <p:spPr>
          <a:xfrm>
            <a:off x="11846880" y="5374440"/>
            <a:ext cx="34488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IN" sz="1800" strike="noStrike" u="none">
              <a:solidFill>
                <a:srgbClr val="000000"/>
              </a:solidFill>
              <a:effectLst/>
              <a:uFillTx/>
              <a:latin typeface="Arial"/>
            </a:endParaRPr>
          </a:p>
        </p:txBody>
      </p:sp>
      <p:sp>
        <p:nvSpPr>
          <p:cNvPr id="14" name="TextBox 4"/>
          <p:cNvSpPr/>
          <p:nvPr/>
        </p:nvSpPr>
        <p:spPr>
          <a:xfrm>
            <a:off x="11805120" y="6618600"/>
            <a:ext cx="251640" cy="146880"/>
          </a:xfrm>
          <a:prstGeom prst="rect">
            <a:avLst/>
          </a:prstGeom>
          <a:noFill/>
          <a:ln w="0">
            <a:noFill/>
          </a:ln>
        </p:spPr>
        <p:style>
          <a:lnRef idx="0"/>
          <a:fillRef idx="0"/>
          <a:effectRef idx="0"/>
          <a:fontRef idx="minor"/>
        </p:style>
        <p:txBody>
          <a:bodyPr lIns="0" rIns="0" tIns="0" bIns="0" anchor="ctr">
            <a:noAutofit/>
          </a:bodyPr>
          <a:p>
            <a:pPr>
              <a:lnSpc>
                <a:spcPct val="100000"/>
              </a:lnSpc>
            </a:pPr>
            <a:fld id="{D8F4BBC8-019A-4489-8D81-5EC79E4D89B3}" type="slidenum">
              <a:rPr b="0" lang="en-IN" sz="800" strike="noStrike" u="none">
                <a:solidFill>
                  <a:srgbClr val="000000"/>
                </a:solidFill>
                <a:effectLst/>
                <a:uFillTx/>
                <a:latin typeface="Arial"/>
                <a:ea typeface="Arial"/>
              </a:rPr>
              <a:t>&lt;number&gt;</a:t>
            </a:fld>
            <a:endParaRPr b="0" lang="en-IN" sz="800" strike="noStrike" u="none">
              <a:solidFill>
                <a:srgbClr val="000000"/>
              </a:solidFill>
              <a:effectLst/>
              <a:uFillTx/>
              <a:latin typeface="Arial"/>
            </a:endParaRPr>
          </a:p>
        </p:txBody>
      </p:sp>
      <p:pic>
        <p:nvPicPr>
          <p:cNvPr id="15" name="Picture 3" descr=""/>
          <p:cNvPicPr/>
          <p:nvPr/>
        </p:nvPicPr>
        <p:blipFill>
          <a:blip r:embed="rId2"/>
          <a:stretch/>
        </p:blipFill>
        <p:spPr>
          <a:xfrm>
            <a:off x="131400" y="6607440"/>
            <a:ext cx="628920" cy="169560"/>
          </a:xfrm>
          <a:prstGeom prst="rect">
            <a:avLst/>
          </a:prstGeom>
          <a:noFill/>
          <a:ln w="0">
            <a:noFill/>
          </a:ln>
        </p:spPr>
      </p:pic>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8_Title with image">
    <p:bg>
      <p:bgPr>
        <a:blipFill rotWithShape="0">
          <a:blip r:embed="rId2"/>
          <a:stretch>
            <a:fillRect t="-8999" b="-8999"/>
          </a:stretch>
        </a:blipFill>
      </p:bgPr>
    </p:bg>
    <p:spTree>
      <p:nvGrpSpPr>
        <p:cNvPr id="1" name=""/>
        <p:cNvGrpSpPr/>
        <p:nvPr/>
      </p:nvGrpSpPr>
      <p:grpSpPr>
        <a:xfrm>
          <a:off x="0" y="0"/>
          <a:ext cx="0" cy="0"/>
          <a:chOff x="0" y="0"/>
          <a:chExt cx="0" cy="0"/>
        </a:xfrm>
      </p:grpSpPr>
      <p:sp>
        <p:nvSpPr>
          <p:cNvPr id="16" name="Rectangle 7"/>
          <p:cNvSpPr/>
          <p:nvPr/>
        </p:nvSpPr>
        <p:spPr>
          <a:xfrm>
            <a:off x="0" y="0"/>
            <a:ext cx="12191760" cy="6857640"/>
          </a:xfrm>
          <a:prstGeom prst="rect">
            <a:avLst/>
          </a:prstGeom>
          <a:solidFill>
            <a:schemeClr val="dk2">
              <a:alpha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IN" sz="1800" strike="noStrike" u="none">
              <a:solidFill>
                <a:schemeClr val="lt1"/>
              </a:solidFill>
              <a:effectLst/>
              <a:uFillTx/>
              <a:latin typeface="Arial Nova"/>
            </a:endParaRPr>
          </a:p>
        </p:txBody>
      </p:sp>
      <p:sp>
        <p:nvSpPr>
          <p:cNvPr id="17" name="PlaceHolder 1"/>
          <p:cNvSpPr>
            <a:spLocks noGrp="1"/>
          </p:cNvSpPr>
          <p:nvPr>
            <p:ph type="title"/>
          </p:nvPr>
        </p:nvSpPr>
        <p:spPr>
          <a:xfrm>
            <a:off x="695160" y="4557960"/>
            <a:ext cx="5361120" cy="475200"/>
          </a:xfrm>
          <a:prstGeom prst="rect">
            <a:avLst/>
          </a:prstGeom>
          <a:noFill/>
          <a:ln w="0">
            <a:noFill/>
          </a:ln>
        </p:spPr>
        <p:txBody>
          <a:bodyPr lIns="0" rIns="0" tIns="0" bIns="0" anchor="t">
            <a:noAutofit/>
          </a:bodyPr>
          <a:p>
            <a:pPr indent="0" defTabSz="914400">
              <a:lnSpc>
                <a:spcPct val="100000"/>
              </a:lnSpc>
              <a:buNone/>
            </a:pPr>
            <a:r>
              <a:rPr b="0" lang="en-IN" sz="3000" strike="noStrike" u="none">
                <a:solidFill>
                  <a:schemeClr val="lt1"/>
                </a:solidFill>
                <a:effectLst/>
                <a:uFillTx/>
                <a:latin typeface="Arial Nova"/>
                <a:ea typeface="Arial Nova"/>
              </a:rPr>
              <a:t>Click to edit Master </a:t>
            </a:r>
            <a:r>
              <a:rPr b="0" lang="en-IN" sz="3000" strike="noStrike" u="none">
                <a:solidFill>
                  <a:schemeClr val="lt1"/>
                </a:solidFill>
                <a:effectLst/>
                <a:uFillTx/>
                <a:latin typeface="Arial Nova"/>
                <a:ea typeface="Arial Nova"/>
              </a:rPr>
              <a:t>title style</a:t>
            </a:r>
            <a:endParaRPr b="0" lang="en-IN" sz="3000" strike="noStrike" u="none">
              <a:solidFill>
                <a:schemeClr val="dk1"/>
              </a:solidFill>
              <a:effectLst/>
              <a:uFillTx/>
              <a:latin typeface="Arial"/>
            </a:endParaRPr>
          </a:p>
        </p:txBody>
      </p:sp>
      <p:sp>
        <p:nvSpPr>
          <p:cNvPr id="18" name="PlaceHolder 2"/>
          <p:cNvSpPr>
            <a:spLocks noGrp="1"/>
          </p:cNvSpPr>
          <p:nvPr>
            <p:ph type="body"/>
          </p:nvPr>
        </p:nvSpPr>
        <p:spPr>
          <a:xfrm>
            <a:off x="695160" y="5362200"/>
            <a:ext cx="3507840" cy="324000"/>
          </a:xfrm>
          <a:prstGeom prst="rect">
            <a:avLst/>
          </a:prstGeom>
          <a:noFill/>
          <a:ln w="0">
            <a:noFill/>
          </a:ln>
        </p:spPr>
        <p:txBody>
          <a:bodyPr lIns="0" rIns="0" tIns="0" bIns="0" anchor="t">
            <a:noAutofit/>
          </a:bodyPr>
          <a:p>
            <a:pPr indent="0" defTabSz="914400">
              <a:lnSpc>
                <a:spcPct val="130000"/>
              </a:lnSpc>
              <a:buNone/>
              <a:tabLst>
                <a:tab algn="l" pos="0"/>
              </a:tabLst>
            </a:pPr>
            <a:r>
              <a:rPr b="0" lang="en-IN" sz="2000" strike="noStrike" u="none">
                <a:solidFill>
                  <a:schemeClr val="lt1"/>
                </a:solidFill>
                <a:effectLst/>
                <a:uFillTx/>
                <a:latin typeface="Arial Nova"/>
                <a:ea typeface="Arial Nova"/>
              </a:rPr>
              <a:t>Name Surname</a:t>
            </a:r>
            <a:endParaRPr b="0" lang="en-IN" sz="2000" strike="noStrike" u="none">
              <a:solidFill>
                <a:schemeClr val="lt1">
                  <a:lumMod val="25000"/>
                </a:schemeClr>
              </a:solidFill>
              <a:effectLst/>
              <a:uFillTx/>
              <a:latin typeface="Arial"/>
            </a:endParaRPr>
          </a:p>
        </p:txBody>
      </p:sp>
      <p:sp>
        <p:nvSpPr>
          <p:cNvPr id="19" name="PlaceHolder 3"/>
          <p:cNvSpPr>
            <a:spLocks noGrp="1"/>
          </p:cNvSpPr>
          <p:nvPr>
            <p:ph type="body"/>
          </p:nvPr>
        </p:nvSpPr>
        <p:spPr>
          <a:xfrm>
            <a:off x="695160" y="5695560"/>
            <a:ext cx="3507840" cy="324000"/>
          </a:xfrm>
          <a:prstGeom prst="rect">
            <a:avLst/>
          </a:prstGeom>
          <a:noFill/>
          <a:ln w="0">
            <a:noFill/>
          </a:ln>
        </p:spPr>
        <p:txBody>
          <a:bodyPr lIns="0" rIns="0" tIns="0" bIns="0" anchor="t">
            <a:noAutofit/>
          </a:bodyPr>
          <a:p>
            <a:pPr indent="0" defTabSz="914400">
              <a:lnSpc>
                <a:spcPct val="130000"/>
              </a:lnSpc>
              <a:buNone/>
              <a:tabLst>
                <a:tab algn="l" pos="0"/>
              </a:tabLst>
            </a:pPr>
            <a:r>
              <a:rPr b="0" lang="en-IN" sz="2000" strike="noStrike" u="none">
                <a:solidFill>
                  <a:srgbClr val="007bff"/>
                </a:solidFill>
                <a:effectLst/>
                <a:uFillTx/>
                <a:latin typeface="Arial Nova"/>
                <a:ea typeface="Arial Nova"/>
              </a:rPr>
              <a:t>Title</a:t>
            </a:r>
            <a:endParaRPr b="0" lang="en-IN" sz="2000" strike="noStrike" u="none">
              <a:solidFill>
                <a:schemeClr val="lt1">
                  <a:lumMod val="25000"/>
                </a:schemeClr>
              </a:solidFill>
              <a:effectLst/>
              <a:uFillTx/>
              <a:latin typeface="Arial"/>
            </a:endParaRPr>
          </a:p>
        </p:txBody>
      </p:sp>
      <p:pic>
        <p:nvPicPr>
          <p:cNvPr id="20" name="Picture 13" descr=""/>
          <p:cNvPicPr/>
          <p:nvPr/>
        </p:nvPicPr>
        <p:blipFill>
          <a:blip r:embed="rId3"/>
          <a:stretch/>
        </p:blipFill>
        <p:spPr>
          <a:xfrm>
            <a:off x="695160" y="794520"/>
            <a:ext cx="2792520" cy="762120"/>
          </a:xfrm>
          <a:prstGeom prst="rect">
            <a:avLst/>
          </a:prstGeom>
          <a:noFill/>
          <a:ln w="0">
            <a:noFill/>
          </a:ln>
        </p:spPr>
      </p:pic>
      <p:sp>
        <p:nvSpPr>
          <p:cNvPr id="21" name="PlaceHolder 4"/>
          <p:cNvSpPr>
            <a:spLocks noGrp="1"/>
          </p:cNvSpPr>
          <p:nvPr>
            <p:ph type="body"/>
          </p:nvPr>
        </p:nvSpPr>
        <p:spPr>
          <a:xfrm>
            <a:off x="695160" y="2143080"/>
            <a:ext cx="7862400" cy="2022480"/>
          </a:xfrm>
          <a:prstGeom prst="rect">
            <a:avLst/>
          </a:prstGeom>
          <a:noFill/>
          <a:ln w="0">
            <a:noFill/>
          </a:ln>
        </p:spPr>
        <p:txBody>
          <a:bodyPr lIns="0" rIns="0" tIns="0" bIns="0" anchor="t">
            <a:noAutofit/>
          </a:bodyPr>
          <a:p>
            <a:pPr indent="0" defTabSz="914400">
              <a:lnSpc>
                <a:spcPct val="110000"/>
              </a:lnSpc>
              <a:buNone/>
              <a:tabLst>
                <a:tab algn="l" pos="0"/>
              </a:tabLst>
            </a:pPr>
            <a:r>
              <a:rPr b="0" lang="en-IN" sz="3000" strike="noStrike" u="none">
                <a:solidFill>
                  <a:schemeClr val="lt1"/>
                </a:solidFill>
                <a:effectLst/>
                <a:uFillTx/>
                <a:latin typeface="Arial Nova"/>
                <a:ea typeface="Arial Nova"/>
              </a:rPr>
              <a:t>Click to edit Master text styles</a:t>
            </a:r>
            <a:endParaRPr b="0" lang="en-IN" sz="3000" strike="noStrike" u="none">
              <a:solidFill>
                <a:schemeClr val="lt1">
                  <a:lumMod val="25000"/>
                </a:schemeClr>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hanks and contact">
    <p:bg>
      <p:bgPr>
        <a:solidFill>
          <a:schemeClr val="dk2"/>
        </a:solidFill>
      </p:bgPr>
    </p:bg>
    <p:spTree>
      <p:nvGrpSpPr>
        <p:cNvPr id="1" name=""/>
        <p:cNvGrpSpPr/>
        <p:nvPr/>
      </p:nvGrpSpPr>
      <p:grpSpPr>
        <a:xfrm>
          <a:off x="0" y="0"/>
          <a:ext cx="0" cy="0"/>
          <a:chOff x="0" y="0"/>
          <a:chExt cx="0" cy="0"/>
        </a:xfrm>
      </p:grpSpPr>
      <p:sp>
        <p:nvSpPr>
          <p:cNvPr id="22" name="TextBox 1"/>
          <p:cNvSpPr/>
          <p:nvPr/>
        </p:nvSpPr>
        <p:spPr>
          <a:xfrm>
            <a:off x="613080" y="5990400"/>
            <a:ext cx="11004840" cy="507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900" strike="noStrike" u="none">
                <a:solidFill>
                  <a:schemeClr val="lt1"/>
                </a:solidFill>
                <a:effectLst/>
                <a:uFillTx/>
                <a:latin typeface="Arial Nova"/>
                <a:ea typeface="Arial Nova"/>
              </a:rPr>
              <a:t>© 2026 eClerx. All rights reserved. This presentation and its contents are protected by copyright laws and international treaties. Unauthorized use, reproduction, duplication, or distribution of this material, in whole or in part, is strictly prohibited. No portion of this presentation may be copied, transmitted, or otherwise used, in any form or by any means—whether electronic, mechanical, or otherwise—without the express prior written consent of eClerx. Any unauthorized use or distribution of this material may result in legal action.</a:t>
            </a:r>
            <a:endParaRPr b="0" lang="en-IN" sz="900" strike="noStrike" u="none">
              <a:solidFill>
                <a:srgbClr val="ffffff"/>
              </a:solidFill>
              <a:effectLst/>
              <a:uFillTx/>
              <a:latin typeface="Arial"/>
            </a:endParaRPr>
          </a:p>
        </p:txBody>
      </p:sp>
      <p:sp>
        <p:nvSpPr>
          <p:cNvPr id="23" name="Straight Connector 11"/>
          <p:cNvSpPr/>
          <p:nvPr/>
        </p:nvSpPr>
        <p:spPr>
          <a:xfrm>
            <a:off x="-18360" y="5823720"/>
            <a:ext cx="12210120" cy="360"/>
          </a:xfrm>
          <a:prstGeom prst="line">
            <a:avLst/>
          </a:prstGeom>
          <a:ln w="1905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ffffff"/>
              </a:solidFill>
              <a:effectLst/>
              <a:uFillTx/>
              <a:latin typeface="Arial"/>
            </a:endParaRPr>
          </a:p>
        </p:txBody>
      </p:sp>
      <p:sp>
        <p:nvSpPr>
          <p:cNvPr id="24" name="Title 5"/>
          <p:cNvSpPr/>
          <p:nvPr/>
        </p:nvSpPr>
        <p:spPr>
          <a:xfrm>
            <a:off x="695160" y="5427720"/>
            <a:ext cx="5361120" cy="364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IN" sz="1800" strike="noStrike" u="none">
                <a:solidFill>
                  <a:schemeClr val="lt1"/>
                </a:solidFill>
                <a:effectLst/>
                <a:uFillTx/>
                <a:latin typeface="Arial Nova"/>
                <a:ea typeface="Arial Nova"/>
              </a:rPr>
              <a:t>Exceptional client execution. Results amplified.</a:t>
            </a:r>
            <a:endParaRPr b="0" lang="en-IN" sz="1800" strike="noStrike" u="none">
              <a:solidFill>
                <a:srgbClr val="ffffff"/>
              </a:solidFill>
              <a:effectLst/>
              <a:uFillTx/>
              <a:latin typeface="Arial"/>
            </a:endParaRPr>
          </a:p>
        </p:txBody>
      </p:sp>
      <p:pic>
        <p:nvPicPr>
          <p:cNvPr id="25" name="Picture 5" descr=""/>
          <p:cNvPicPr/>
          <p:nvPr/>
        </p:nvPicPr>
        <p:blipFill>
          <a:blip r:embed="rId2"/>
          <a:stretch/>
        </p:blipFill>
        <p:spPr>
          <a:xfrm>
            <a:off x="695160" y="4646520"/>
            <a:ext cx="2237760" cy="610560"/>
          </a:xfrm>
          <a:prstGeom prst="rect">
            <a:avLst/>
          </a:prstGeom>
          <a:noFill/>
          <a:ln w="0">
            <a:noFill/>
          </a:ln>
        </p:spPr>
      </p:pic>
      <p:sp>
        <p:nvSpPr>
          <p:cNvPr id="26" name="Title 5"/>
          <p:cNvSpPr/>
          <p:nvPr/>
        </p:nvSpPr>
        <p:spPr>
          <a:xfrm>
            <a:off x="6135120" y="5420880"/>
            <a:ext cx="5361120" cy="27648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IN" sz="1800" strike="noStrike" u="none">
                <a:solidFill>
                  <a:schemeClr val="lt1"/>
                </a:solidFill>
                <a:effectLst/>
                <a:uFillTx/>
                <a:latin typeface="Arial Nova"/>
                <a:ea typeface="Arial Nova"/>
              </a:rPr>
              <a:t>Learn more at eClerx.com</a:t>
            </a:r>
            <a:endParaRPr b="0" lang="en-IN" sz="1800" strike="noStrike" u="none">
              <a:solidFill>
                <a:srgbClr val="ffffff"/>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siness Challenges 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Slide Number Placeholder 1"/>
          <p:cNvSpPr/>
          <p:nvPr/>
        </p:nvSpPr>
        <p:spPr>
          <a:xfrm>
            <a:off x="11136240" y="6499080"/>
            <a:ext cx="304920" cy="169560"/>
          </a:xfrm>
          <a:prstGeom prst="rect">
            <a:avLst/>
          </a:prstGeom>
          <a:noFill/>
          <a:ln w="0">
            <a:noFill/>
          </a:ln>
        </p:spPr>
        <p:style>
          <a:lnRef idx="0"/>
          <a:fillRef idx="0"/>
          <a:effectRef idx="0"/>
          <a:fontRef idx="minor"/>
        </p:style>
        <p:txBody>
          <a:bodyPr lIns="0" rIns="0" tIns="0" bIns="0" anchor="b">
            <a:noAutofit/>
          </a:bodyPr>
          <a:p>
            <a:pPr defTabSz="914400">
              <a:lnSpc>
                <a:spcPct val="100000"/>
              </a:lnSpc>
            </a:pPr>
            <a:fld id="{876A3A97-D68F-408E-804F-DC6BEBC50829}" type="slidenum">
              <a:rPr b="0" lang="en-IN" sz="1000" strike="noStrike" u="none">
                <a:solidFill>
                  <a:srgbClr val="0e1259"/>
                </a:solidFill>
                <a:effectLst/>
                <a:uFillTx/>
                <a:latin typeface="Arial"/>
                <a:ea typeface="Arial"/>
              </a:rPr>
              <a:t>&lt;number&gt;</a:t>
            </a:fld>
            <a:endParaRPr b="0" lang="en-IN" sz="1000" strike="noStrike" u="none">
              <a:solidFill>
                <a:srgbClr val="000000"/>
              </a:solidFill>
              <a:effectLst/>
              <a:uFillTx/>
              <a:latin typeface="Arial"/>
            </a:endParaRPr>
          </a:p>
        </p:txBody>
      </p:sp>
      <p:sp>
        <p:nvSpPr>
          <p:cNvPr id="28" name="TextBox 25"/>
          <p:cNvSpPr/>
          <p:nvPr/>
        </p:nvSpPr>
        <p:spPr>
          <a:xfrm>
            <a:off x="298440" y="1348920"/>
            <a:ext cx="3660480" cy="369000"/>
          </a:xfrm>
          <a:prstGeom prst="rect">
            <a:avLst/>
          </a:prstGeom>
          <a:noFill/>
          <a:ln w="0">
            <a:noFill/>
          </a:ln>
        </p:spPr>
        <p:style>
          <a:lnRef idx="0"/>
          <a:fillRef idx="0"/>
          <a:effectRef idx="0"/>
          <a:fontRef idx="minor"/>
        </p:style>
        <p:txBody>
          <a:bodyPr lIns="90000" rIns="90000" tIns="45000" bIns="45000" anchor="t">
            <a:spAutoFit/>
          </a:bodyPr>
          <a:p>
            <a:pPr defTabSz="914040">
              <a:lnSpc>
                <a:spcPct val="100000"/>
              </a:lnSpc>
              <a:tabLst>
                <a:tab algn="l" pos="0"/>
              </a:tabLst>
            </a:pPr>
            <a:r>
              <a:rPr b="1" lang="en-IN" sz="1800" spc="-20" strike="noStrike" u="none">
                <a:solidFill>
                  <a:srgbClr val="002991"/>
                </a:solidFill>
                <a:effectLst/>
                <a:uFillTx/>
                <a:latin typeface="Arial"/>
                <a:ea typeface="Arial"/>
              </a:rPr>
              <a:t>Business Challenge</a:t>
            </a:r>
            <a:endParaRPr b="0" lang="en-IN" sz="1800" strike="noStrike" u="none">
              <a:solidFill>
                <a:srgbClr val="000000"/>
              </a:solidFill>
              <a:effectLst/>
              <a:uFillTx/>
              <a:latin typeface="Arial"/>
            </a:endParaRPr>
          </a:p>
        </p:txBody>
      </p:sp>
      <p:sp>
        <p:nvSpPr>
          <p:cNvPr id="29" name="Straight Connector 4"/>
          <p:cNvSpPr/>
          <p:nvPr/>
        </p:nvSpPr>
        <p:spPr>
          <a:xfrm>
            <a:off x="325800" y="1739520"/>
            <a:ext cx="2976120" cy="360"/>
          </a:xfrm>
          <a:prstGeom prst="line">
            <a:avLst/>
          </a:prstGeom>
          <a:ln w="1270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30" name="TextBox 25"/>
          <p:cNvSpPr/>
          <p:nvPr/>
        </p:nvSpPr>
        <p:spPr>
          <a:xfrm>
            <a:off x="3826800" y="1361520"/>
            <a:ext cx="3755160" cy="369000"/>
          </a:xfrm>
          <a:prstGeom prst="rect">
            <a:avLst/>
          </a:prstGeom>
          <a:noFill/>
          <a:ln w="0">
            <a:noFill/>
          </a:ln>
        </p:spPr>
        <p:style>
          <a:lnRef idx="0"/>
          <a:fillRef idx="0"/>
          <a:effectRef idx="0"/>
          <a:fontRef idx="minor"/>
        </p:style>
        <p:txBody>
          <a:bodyPr lIns="90000" rIns="90000" tIns="45000" bIns="45000" anchor="t">
            <a:spAutoFit/>
          </a:bodyPr>
          <a:p>
            <a:pPr defTabSz="914040">
              <a:lnSpc>
                <a:spcPct val="100000"/>
              </a:lnSpc>
              <a:tabLst>
                <a:tab algn="l" pos="0"/>
              </a:tabLst>
            </a:pPr>
            <a:r>
              <a:rPr b="1" lang="en-IN" sz="1800" spc="-20" strike="noStrike" u="none">
                <a:solidFill>
                  <a:srgbClr val="002991"/>
                </a:solidFill>
                <a:effectLst/>
                <a:uFillTx/>
                <a:latin typeface="Arial"/>
                <a:ea typeface="Arial"/>
              </a:rPr>
              <a:t>Solution</a:t>
            </a:r>
            <a:endParaRPr b="0" lang="en-IN" sz="1800" strike="noStrike" u="none">
              <a:solidFill>
                <a:srgbClr val="000000"/>
              </a:solidFill>
              <a:effectLst/>
              <a:uFillTx/>
              <a:latin typeface="Arial"/>
            </a:endParaRPr>
          </a:p>
        </p:txBody>
      </p:sp>
      <p:sp>
        <p:nvSpPr>
          <p:cNvPr id="31" name="Straight Connector 6"/>
          <p:cNvSpPr/>
          <p:nvPr/>
        </p:nvSpPr>
        <p:spPr>
          <a:xfrm>
            <a:off x="3824640" y="1739520"/>
            <a:ext cx="8001360" cy="360"/>
          </a:xfrm>
          <a:prstGeom prst="line">
            <a:avLst/>
          </a:prstGeom>
          <a:ln w="1270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32" name="TextBox 25"/>
          <p:cNvSpPr/>
          <p:nvPr/>
        </p:nvSpPr>
        <p:spPr>
          <a:xfrm>
            <a:off x="3826800" y="5129640"/>
            <a:ext cx="3755160" cy="369000"/>
          </a:xfrm>
          <a:prstGeom prst="rect">
            <a:avLst/>
          </a:prstGeom>
          <a:noFill/>
          <a:ln w="0">
            <a:noFill/>
          </a:ln>
        </p:spPr>
        <p:style>
          <a:lnRef idx="0"/>
          <a:fillRef idx="0"/>
          <a:effectRef idx="0"/>
          <a:fontRef idx="minor"/>
        </p:style>
        <p:txBody>
          <a:bodyPr lIns="90000" rIns="90000" tIns="45000" bIns="45000" anchor="t">
            <a:spAutoFit/>
          </a:bodyPr>
          <a:p>
            <a:pPr defTabSz="914040">
              <a:lnSpc>
                <a:spcPct val="100000"/>
              </a:lnSpc>
              <a:tabLst>
                <a:tab algn="l" pos="0"/>
              </a:tabLst>
            </a:pPr>
            <a:r>
              <a:rPr b="1" lang="en-IN" sz="1800" spc="-20" strike="noStrike" u="none">
                <a:solidFill>
                  <a:srgbClr val="002991"/>
                </a:solidFill>
                <a:effectLst/>
                <a:uFillTx/>
                <a:latin typeface="Arial"/>
                <a:ea typeface="Arial"/>
              </a:rPr>
              <a:t>Business Outcomes</a:t>
            </a:r>
            <a:endParaRPr b="0" lang="en-IN" sz="1800" strike="noStrike" u="none">
              <a:solidFill>
                <a:srgbClr val="000000"/>
              </a:solidFill>
              <a:effectLst/>
              <a:uFillTx/>
              <a:latin typeface="Arial"/>
            </a:endParaRPr>
          </a:p>
        </p:txBody>
      </p:sp>
      <p:sp>
        <p:nvSpPr>
          <p:cNvPr id="33" name="PlaceHolder 1"/>
          <p:cNvSpPr>
            <a:spLocks noGrp="1"/>
          </p:cNvSpPr>
          <p:nvPr>
            <p:ph type="title"/>
          </p:nvPr>
        </p:nvSpPr>
        <p:spPr>
          <a:xfrm>
            <a:off x="355680" y="368280"/>
            <a:ext cx="11464560" cy="1260000"/>
          </a:xfrm>
          <a:prstGeom prst="rect">
            <a:avLst/>
          </a:prstGeom>
          <a:noFill/>
          <a:ln w="0">
            <a:noFill/>
          </a:ln>
        </p:spPr>
        <p:txBody>
          <a:bodyPr lIns="0" rIns="0" tIns="0" bIns="0" anchor="t">
            <a:noAutofit/>
          </a:bodyPr>
          <a:p>
            <a:pPr indent="0" defTabSz="914400">
              <a:lnSpc>
                <a:spcPct val="100000"/>
              </a:lnSpc>
              <a:buNone/>
            </a:pPr>
            <a:r>
              <a:rPr b="0" lang="en-IN" sz="3000" spc="-20" strike="noStrike" u="none">
                <a:solidFill>
                  <a:srgbClr val="000000"/>
                </a:solidFill>
                <a:effectLst/>
                <a:uFillTx/>
                <a:latin typeface="Arial"/>
                <a:ea typeface="Arial"/>
              </a:rPr>
              <a:t>Click to edit Master </a:t>
            </a:r>
            <a:r>
              <a:rPr b="0" lang="en-IN" sz="3000" spc="-20" strike="noStrike" u="none">
                <a:solidFill>
                  <a:srgbClr val="000000"/>
                </a:solidFill>
                <a:effectLst/>
                <a:uFillTx/>
                <a:latin typeface="Arial"/>
                <a:ea typeface="Arial"/>
              </a:rPr>
              <a:t>title style</a:t>
            </a:r>
            <a:endParaRPr b="0" lang="en-IN" sz="3000" strike="noStrike" u="none">
              <a:solidFill>
                <a:schemeClr val="dk1"/>
              </a:solidFill>
              <a:effectLst/>
              <a:uFillTx/>
              <a:latin typeface="Arial"/>
            </a:endParaRPr>
          </a:p>
        </p:txBody>
      </p:sp>
      <p:sp>
        <p:nvSpPr>
          <p:cNvPr id="34" name="Straight Connector 12"/>
          <p:cNvSpPr/>
          <p:nvPr/>
        </p:nvSpPr>
        <p:spPr>
          <a:xfrm>
            <a:off x="3824640" y="5511600"/>
            <a:ext cx="8001360" cy="360"/>
          </a:xfrm>
          <a:prstGeom prst="line">
            <a:avLst/>
          </a:prstGeom>
          <a:ln w="12700">
            <a:solidFill>
              <a:srgbClr val="007bff"/>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6"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
          <p:cNvSpPr/>
          <p:nvPr/>
        </p:nvSpPr>
        <p:spPr>
          <a:xfrm>
            <a:off x="685800" y="2266920"/>
            <a:ext cx="8096040" cy="780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4200" strike="noStrike" u="none">
                <a:solidFill>
                  <a:srgbClr val="ffffff"/>
                </a:solidFill>
                <a:effectLst/>
                <a:uFillTx/>
                <a:latin typeface="Arial Nova"/>
                <a:ea typeface="Arial Nova"/>
              </a:rPr>
              <a:t>CJA Segment Cleanup</a:t>
            </a:r>
            <a:endParaRPr b="0" lang="en-IN" sz="4200" strike="noStrike" u="none">
              <a:solidFill>
                <a:srgbClr val="ffffff"/>
              </a:solidFill>
              <a:effectLst/>
              <a:uFillTx/>
              <a:latin typeface="Arial"/>
            </a:endParaRPr>
          </a:p>
        </p:txBody>
      </p:sp>
      <p:sp>
        <p:nvSpPr>
          <p:cNvPr id="42" name=""/>
          <p:cNvSpPr/>
          <p:nvPr/>
        </p:nvSpPr>
        <p:spPr>
          <a:xfrm>
            <a:off x="704880" y="3219480"/>
            <a:ext cx="8572320" cy="399600"/>
          </a:xfrm>
          <a:prstGeom prst="rect">
            <a:avLst/>
          </a:prstGeom>
          <a:noFill/>
          <a:ln w="0">
            <a:noFill/>
          </a:ln>
        </p:spPr>
        <p:style>
          <a:lnRef idx="0"/>
          <a:fillRef idx="0"/>
          <a:effectRef idx="0"/>
          <a:fontRef idx="minor"/>
        </p:style>
        <p:txBody>
          <a:bodyPr lIns="0" rIns="0" tIns="0" bIns="0" anchor="t">
            <a:normAutofit/>
          </a:bodyPr>
          <a:p>
            <a:pPr>
              <a:lnSpc>
                <a:spcPct val="100000"/>
              </a:lnSpc>
            </a:pPr>
            <a:r>
              <a:rPr b="0" lang="en-IN" sz="1800" strike="noStrike" u="none">
                <a:solidFill>
                  <a:srgbClr val="dce9ff"/>
                </a:solidFill>
                <a:effectLst/>
                <a:uFillTx/>
                <a:latin typeface="Arial"/>
                <a:ea typeface="Arial"/>
              </a:rPr>
              <a:t>Automated duplicate and near-duplicate analysis for Adobe CJA segments</a:t>
            </a:r>
            <a:endParaRPr b="0" lang="en-IN" sz="1800" strike="noStrike" u="none">
              <a:solidFill>
                <a:srgbClr val="ffffff"/>
              </a:solidFill>
              <a:effectLst/>
              <a:uFillTx/>
              <a:latin typeface="Arial"/>
            </a:endParaRPr>
          </a:p>
        </p:txBody>
      </p:sp>
      <p:sp>
        <p:nvSpPr>
          <p:cNvPr id="43" name=""/>
          <p:cNvSpPr/>
          <p:nvPr/>
        </p:nvSpPr>
        <p:spPr>
          <a:xfrm>
            <a:off x="704880" y="6153120"/>
            <a:ext cx="2095200" cy="2664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350" strike="noStrike" u="none">
                <a:solidFill>
                  <a:srgbClr val="ffffff"/>
                </a:solidFill>
                <a:effectLst/>
                <a:uFillTx/>
                <a:latin typeface="Arial"/>
                <a:ea typeface="Arial"/>
              </a:rPr>
              <a:t>eClerx Digital</a:t>
            </a:r>
            <a:endParaRPr b="0" lang="en-IN" sz="13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263160" y="189000"/>
            <a:ext cx="11771640" cy="817200"/>
          </a:xfrm>
          <a:prstGeom prst="rect">
            <a:avLst/>
          </a:prstGeom>
          <a:noFill/>
          <a:ln w="0">
            <a:noFill/>
          </a:ln>
        </p:spPr>
        <p:txBody>
          <a:bodyPr lIns="0" rIns="0" tIns="0" bIns="0" anchor="t">
            <a:normAutofit/>
          </a:bodyPr>
          <a:p>
            <a:pPr indent="0" defTabSz="914400">
              <a:lnSpc>
                <a:spcPct val="100000"/>
              </a:lnSpc>
              <a:buNone/>
            </a:pPr>
            <a:r>
              <a:rPr b="1" lang="en-IN" sz="2400" spc="-20" strike="noStrike" u="none">
                <a:solidFill>
                  <a:srgbClr val="0078f0"/>
                </a:solidFill>
                <a:effectLst/>
                <a:uFillTx/>
                <a:latin typeface="Arial"/>
                <a:ea typeface="Arial"/>
              </a:rPr>
              <a:t>Accelerator name: CJA </a:t>
            </a:r>
            <a:r>
              <a:rPr b="1" lang="en-IN" sz="2400" spc="-20" strike="noStrike" u="none">
                <a:solidFill>
                  <a:srgbClr val="0078f0"/>
                </a:solidFill>
                <a:effectLst/>
                <a:uFillTx/>
                <a:latin typeface="Arial"/>
                <a:ea typeface="Arial"/>
              </a:rPr>
              <a:t>Segment Cleanup</a:t>
            </a:r>
            <a:endParaRPr b="0" lang="en-IN" sz="2400" strike="noStrike" u="none">
              <a:solidFill>
                <a:schemeClr val="dk1"/>
              </a:solidFill>
              <a:effectLst/>
              <a:uFillTx/>
              <a:latin typeface="Arial"/>
            </a:endParaRPr>
          </a:p>
          <a:p>
            <a:pPr indent="0" defTabSz="914400">
              <a:lnSpc>
                <a:spcPct val="100000"/>
              </a:lnSpc>
              <a:buNone/>
            </a:pPr>
            <a:r>
              <a:rPr b="0" lang="en-IN" sz="2400" spc="-20" strike="noStrike" u="none">
                <a:solidFill>
                  <a:srgbClr val="111111"/>
                </a:solidFill>
                <a:effectLst/>
                <a:uFillTx/>
                <a:latin typeface="Arial"/>
                <a:ea typeface="Arial"/>
              </a:rPr>
              <a:t>Automated duplicate and near-</a:t>
            </a:r>
            <a:r>
              <a:rPr b="0" lang="en-IN" sz="2400" spc="-20" strike="noStrike" u="none">
                <a:solidFill>
                  <a:srgbClr val="111111"/>
                </a:solidFill>
                <a:effectLst/>
                <a:uFillTx/>
                <a:latin typeface="Arial"/>
                <a:ea typeface="Arial"/>
              </a:rPr>
              <a:t>duplicate analysis for Adobe CJA</a:t>
            </a:r>
            <a:endParaRPr b="0" lang="en-IN" sz="2400" strike="noStrike" u="none">
              <a:solidFill>
                <a:schemeClr val="dk1"/>
              </a:solidFill>
              <a:effectLst/>
              <a:uFillTx/>
              <a:latin typeface="Arial"/>
            </a:endParaRPr>
          </a:p>
        </p:txBody>
      </p:sp>
      <p:sp>
        <p:nvSpPr>
          <p:cNvPr id="45" name="TextBox 25"/>
          <p:cNvSpPr/>
          <p:nvPr/>
        </p:nvSpPr>
        <p:spPr>
          <a:xfrm>
            <a:off x="243000" y="955080"/>
            <a:ext cx="36597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Business Overview/Challenge</a:t>
            </a:r>
            <a:endParaRPr b="0" lang="en-IN" sz="1400" strike="noStrike" u="none">
              <a:solidFill>
                <a:srgbClr val="000000"/>
              </a:solidFill>
              <a:effectLst/>
              <a:uFillTx/>
              <a:latin typeface="Arial"/>
            </a:endParaRPr>
          </a:p>
        </p:txBody>
      </p:sp>
      <p:sp>
        <p:nvSpPr>
          <p:cNvPr id="46" name="Rectangle 5"/>
          <p:cNvSpPr/>
          <p:nvPr/>
        </p:nvSpPr>
        <p:spPr>
          <a:xfrm>
            <a:off x="243000" y="1337040"/>
            <a:ext cx="2879640" cy="2712240"/>
          </a:xfrm>
          <a:prstGeom prst="rect">
            <a:avLst/>
          </a:prstGeom>
          <a:noFill/>
          <a:ln w="0">
            <a:noFill/>
          </a:ln>
        </p:spPr>
        <p:style>
          <a:lnRef idx="0"/>
          <a:fillRef idx="0"/>
          <a:effectRef idx="0"/>
          <a:fontRef idx="minor"/>
        </p:style>
        <p:txBody>
          <a:bodyPr lIns="19080" rIns="19080" tIns="19080" bIns="19080" anchor="t">
            <a:normAutofit/>
          </a:bodyPr>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Segments grow across teams and Data Views</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Manual comparison takes time and varies by reviewer</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Names alone do not show matching logic</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Usage evidence is needed before cleanup</a:t>
            </a:r>
            <a:endParaRPr b="0" lang="en-IN" sz="1090" strike="noStrike" u="none">
              <a:solidFill>
                <a:srgbClr val="000000"/>
              </a:solidFill>
              <a:effectLst/>
              <a:uFillTx/>
              <a:latin typeface="Arial"/>
            </a:endParaRPr>
          </a:p>
        </p:txBody>
      </p:sp>
      <p:sp>
        <p:nvSpPr>
          <p:cNvPr id="47" name="Straight Connector 6"/>
          <p:cNvSpPr/>
          <p:nvPr/>
        </p:nvSpPr>
        <p:spPr>
          <a:xfrm>
            <a:off x="287280" y="1272600"/>
            <a:ext cx="288000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48" name="TextBox 25"/>
          <p:cNvSpPr/>
          <p:nvPr/>
        </p:nvSpPr>
        <p:spPr>
          <a:xfrm>
            <a:off x="243000" y="2535840"/>
            <a:ext cx="36597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Technology Stack</a:t>
            </a:r>
            <a:endParaRPr b="0" lang="en-IN" sz="1400" strike="noStrike" u="none">
              <a:solidFill>
                <a:srgbClr val="000000"/>
              </a:solidFill>
              <a:effectLst/>
              <a:uFillTx/>
              <a:latin typeface="Arial"/>
            </a:endParaRPr>
          </a:p>
        </p:txBody>
      </p:sp>
      <p:sp>
        <p:nvSpPr>
          <p:cNvPr id="49" name="Straight Connector 9"/>
          <p:cNvSpPr/>
          <p:nvPr/>
        </p:nvSpPr>
        <p:spPr>
          <a:xfrm>
            <a:off x="331920" y="2864160"/>
            <a:ext cx="288000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50" name="Rectangle 12"/>
          <p:cNvSpPr/>
          <p:nvPr/>
        </p:nvSpPr>
        <p:spPr>
          <a:xfrm>
            <a:off x="243000" y="2921040"/>
            <a:ext cx="2879640" cy="2437920"/>
          </a:xfrm>
          <a:prstGeom prst="rect">
            <a:avLst/>
          </a:prstGeom>
          <a:noFill/>
          <a:ln w="0">
            <a:noFill/>
          </a:ln>
        </p:spPr>
        <p:style>
          <a:lnRef idx="0"/>
          <a:fillRef idx="0"/>
          <a:effectRef idx="0"/>
          <a:fontRef idx="minor"/>
        </p:style>
        <p:txBody>
          <a:bodyPr lIns="19080" rIns="19080" tIns="19080" bIns="19080" anchor="t">
            <a:normAutofit/>
          </a:bodyPr>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Python and Flask</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Adobe CJA Data Views, Segments and Projects APIs</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OAuth Server-to-Server authentication</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Local browser dashboard</a:t>
            </a:r>
            <a:endParaRPr b="0" lang="en-IN" sz="1090" strike="noStrike" u="none">
              <a:solidFill>
                <a:srgbClr val="000000"/>
              </a:solidFill>
              <a:effectLst/>
              <a:uFillTx/>
              <a:latin typeface="Arial"/>
            </a:endParaRPr>
          </a:p>
        </p:txBody>
      </p:sp>
      <p:sp>
        <p:nvSpPr>
          <p:cNvPr id="51" name="TextBox 25"/>
          <p:cNvSpPr/>
          <p:nvPr/>
        </p:nvSpPr>
        <p:spPr>
          <a:xfrm>
            <a:off x="4122000" y="913320"/>
            <a:ext cx="49539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The eClerx Solution</a:t>
            </a:r>
            <a:endParaRPr b="0" lang="en-IN" sz="1400" strike="noStrike" u="none">
              <a:solidFill>
                <a:srgbClr val="000000"/>
              </a:solidFill>
              <a:effectLst/>
              <a:uFillTx/>
              <a:latin typeface="Arial"/>
            </a:endParaRPr>
          </a:p>
        </p:txBody>
      </p:sp>
      <p:sp>
        <p:nvSpPr>
          <p:cNvPr id="52" name="Straight Connector 67"/>
          <p:cNvSpPr/>
          <p:nvPr/>
        </p:nvSpPr>
        <p:spPr>
          <a:xfrm>
            <a:off x="4196520" y="1272600"/>
            <a:ext cx="707688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53" name="Rectangle 24"/>
          <p:cNvSpPr/>
          <p:nvPr/>
        </p:nvSpPr>
        <p:spPr>
          <a:xfrm>
            <a:off x="4196520" y="5868000"/>
            <a:ext cx="2067480" cy="832680"/>
          </a:xfrm>
          <a:prstGeom prst="rect">
            <a:avLst/>
          </a:prstGeom>
          <a:noFill/>
          <a:ln w="0">
            <a:noFill/>
          </a:ln>
        </p:spPr>
        <p:style>
          <a:lnRef idx="0"/>
          <a:fillRef idx="0"/>
          <a:effectRef idx="0"/>
          <a:fontRef idx="minor"/>
        </p:style>
        <p:txBody>
          <a:bodyPr lIns="76320" rIns="76320" tIns="76320" bIns="38160" anchor="t">
            <a:normAutofit/>
          </a:bodyPr>
          <a:p>
            <a:pPr>
              <a:lnSpc>
                <a:spcPct val="100000"/>
              </a:lnSpc>
            </a:pPr>
            <a:r>
              <a:rPr b="1" lang="en-IN" sz="1130" strike="noStrike" u="none">
                <a:solidFill>
                  <a:srgbClr val="101828"/>
                </a:solidFill>
                <a:effectLst/>
                <a:uFillTx/>
                <a:latin typeface="Arial"/>
                <a:ea typeface="Arial"/>
              </a:rPr>
              <a:t>Faster review</a:t>
            </a:r>
            <a:endParaRPr b="0" lang="en-IN" sz="1130" strike="noStrike" u="none">
              <a:solidFill>
                <a:srgbClr val="000000"/>
              </a:solidFill>
              <a:effectLst/>
              <a:uFillTx/>
              <a:latin typeface="Arial"/>
            </a:endParaRPr>
          </a:p>
          <a:p>
            <a:pPr>
              <a:lnSpc>
                <a:spcPct val="100000"/>
              </a:lnSpc>
            </a:pPr>
            <a:r>
              <a:rPr b="0" lang="en-IN" sz="1130" strike="noStrike" u="none">
                <a:solidFill>
                  <a:srgbClr val="101828"/>
                </a:solidFill>
                <a:effectLst/>
                <a:uFillTx/>
                <a:latin typeface="Arial"/>
                <a:ea typeface="Arial"/>
              </a:rPr>
              <a:t>Automatic comparison replaces manual definition checks</a:t>
            </a:r>
            <a:endParaRPr b="0" lang="en-IN" sz="1130" strike="noStrike" u="none">
              <a:solidFill>
                <a:srgbClr val="000000"/>
              </a:solidFill>
              <a:effectLst/>
              <a:uFillTx/>
              <a:latin typeface="Arial"/>
            </a:endParaRPr>
          </a:p>
        </p:txBody>
      </p:sp>
      <p:sp>
        <p:nvSpPr>
          <p:cNvPr id="54" name="Rectangle 25"/>
          <p:cNvSpPr/>
          <p:nvPr/>
        </p:nvSpPr>
        <p:spPr>
          <a:xfrm>
            <a:off x="6721560" y="5868000"/>
            <a:ext cx="2439360" cy="832680"/>
          </a:xfrm>
          <a:prstGeom prst="rect">
            <a:avLst/>
          </a:prstGeom>
          <a:noFill/>
          <a:ln w="0">
            <a:noFill/>
          </a:ln>
        </p:spPr>
        <p:style>
          <a:lnRef idx="0"/>
          <a:fillRef idx="0"/>
          <a:effectRef idx="0"/>
          <a:fontRef idx="minor"/>
        </p:style>
        <p:txBody>
          <a:bodyPr lIns="76320" rIns="76320" tIns="76320" bIns="38160" anchor="t">
            <a:normAutofit/>
          </a:bodyPr>
          <a:p>
            <a:pPr>
              <a:lnSpc>
                <a:spcPct val="100000"/>
              </a:lnSpc>
            </a:pPr>
            <a:r>
              <a:rPr b="1" lang="en-IN" sz="1130" strike="noStrike" u="none">
                <a:solidFill>
                  <a:srgbClr val="101828"/>
                </a:solidFill>
                <a:effectLst/>
                <a:uFillTx/>
                <a:latin typeface="Arial"/>
                <a:ea typeface="Arial"/>
              </a:rPr>
              <a:t>Safer decisions</a:t>
            </a:r>
            <a:endParaRPr b="0" lang="en-IN" sz="1130" strike="noStrike" u="none">
              <a:solidFill>
                <a:srgbClr val="000000"/>
              </a:solidFill>
              <a:effectLst/>
              <a:uFillTx/>
              <a:latin typeface="Arial"/>
            </a:endParaRPr>
          </a:p>
          <a:p>
            <a:pPr>
              <a:lnSpc>
                <a:spcPct val="100000"/>
              </a:lnSpc>
            </a:pPr>
            <a:r>
              <a:rPr b="0" lang="en-IN" sz="1130" strike="noStrike" u="none">
                <a:solidFill>
                  <a:srgbClr val="101828"/>
                </a:solidFill>
                <a:effectLst/>
                <a:uFillTx/>
                <a:latin typeface="Arial"/>
                <a:ea typeface="Arial"/>
              </a:rPr>
              <a:t>Usage counts support retain or retire review</a:t>
            </a:r>
            <a:endParaRPr b="0" lang="en-IN" sz="1130" strike="noStrike" u="none">
              <a:solidFill>
                <a:srgbClr val="000000"/>
              </a:solidFill>
              <a:effectLst/>
              <a:uFillTx/>
              <a:latin typeface="Arial"/>
            </a:endParaRPr>
          </a:p>
        </p:txBody>
      </p:sp>
      <p:sp>
        <p:nvSpPr>
          <p:cNvPr id="55" name="Rectangle 26"/>
          <p:cNvSpPr/>
          <p:nvPr/>
        </p:nvSpPr>
        <p:spPr>
          <a:xfrm>
            <a:off x="9618120" y="5868000"/>
            <a:ext cx="2100240" cy="724680"/>
          </a:xfrm>
          <a:prstGeom prst="rect">
            <a:avLst/>
          </a:prstGeom>
          <a:noFill/>
          <a:ln w="0">
            <a:noFill/>
          </a:ln>
        </p:spPr>
        <p:style>
          <a:lnRef idx="0"/>
          <a:fillRef idx="0"/>
          <a:effectRef idx="0"/>
          <a:fontRef idx="minor"/>
        </p:style>
        <p:txBody>
          <a:bodyPr lIns="76320" rIns="76320" tIns="76320" bIns="38160" anchor="t">
            <a:normAutofit/>
          </a:bodyPr>
          <a:p>
            <a:pPr>
              <a:lnSpc>
                <a:spcPct val="100000"/>
              </a:lnSpc>
            </a:pPr>
            <a:r>
              <a:rPr b="1" lang="en-IN" sz="1130" strike="noStrike" u="none">
                <a:solidFill>
                  <a:srgbClr val="101828"/>
                </a:solidFill>
                <a:effectLst/>
                <a:uFillTx/>
                <a:latin typeface="Arial"/>
                <a:ea typeface="Arial"/>
              </a:rPr>
              <a:t>Clear governance</a:t>
            </a:r>
            <a:endParaRPr b="0" lang="en-IN" sz="1130" strike="noStrike" u="none">
              <a:solidFill>
                <a:srgbClr val="000000"/>
              </a:solidFill>
              <a:effectLst/>
              <a:uFillTx/>
              <a:latin typeface="Arial"/>
            </a:endParaRPr>
          </a:p>
          <a:p>
            <a:pPr>
              <a:lnSpc>
                <a:spcPct val="100000"/>
              </a:lnSpc>
            </a:pPr>
            <a:r>
              <a:rPr b="0" lang="en-IN" sz="1130" strike="noStrike" u="none">
                <a:solidFill>
                  <a:srgbClr val="101828"/>
                </a:solidFill>
                <a:effectLst/>
                <a:uFillTx/>
                <a:latin typeface="Arial"/>
                <a:ea typeface="Arial"/>
              </a:rPr>
              <a:t>Grouped findings and exports provide an audit trail</a:t>
            </a:r>
            <a:endParaRPr b="0" lang="en-IN" sz="1130" strike="noStrike" u="none">
              <a:solidFill>
                <a:srgbClr val="000000"/>
              </a:solidFill>
              <a:effectLst/>
              <a:uFillTx/>
              <a:latin typeface="Arial"/>
            </a:endParaRPr>
          </a:p>
        </p:txBody>
      </p:sp>
      <p:sp>
        <p:nvSpPr>
          <p:cNvPr id="56" name="Straight Connector 29"/>
          <p:cNvSpPr/>
          <p:nvPr/>
        </p:nvSpPr>
        <p:spPr>
          <a:xfrm>
            <a:off x="6618240" y="5867280"/>
            <a:ext cx="360" cy="725400"/>
          </a:xfrm>
          <a:prstGeom prst="line">
            <a:avLst/>
          </a:prstGeom>
          <a:ln>
            <a:solidFill>
              <a:srgbClr val="8cc6ff"/>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57" name="Straight Connector 30"/>
          <p:cNvSpPr/>
          <p:nvPr/>
        </p:nvSpPr>
        <p:spPr>
          <a:xfrm>
            <a:off x="9560880" y="5867280"/>
            <a:ext cx="360" cy="725400"/>
          </a:xfrm>
          <a:prstGeom prst="line">
            <a:avLst/>
          </a:prstGeom>
          <a:ln>
            <a:solidFill>
              <a:srgbClr val="8cc6ff"/>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58" name="Straight Connector 31"/>
          <p:cNvSpPr/>
          <p:nvPr/>
        </p:nvSpPr>
        <p:spPr>
          <a:xfrm>
            <a:off x="11947320" y="5867280"/>
            <a:ext cx="360" cy="725400"/>
          </a:xfrm>
          <a:prstGeom prst="line">
            <a:avLst/>
          </a:prstGeom>
          <a:ln>
            <a:solidFill>
              <a:srgbClr val="8cc6ff"/>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59" name="TextBox 25"/>
          <p:cNvSpPr/>
          <p:nvPr/>
        </p:nvSpPr>
        <p:spPr>
          <a:xfrm>
            <a:off x="4144680" y="5318280"/>
            <a:ext cx="36597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Business Outcomes</a:t>
            </a:r>
            <a:endParaRPr b="0" lang="en-IN" sz="1400" strike="noStrike" u="none">
              <a:solidFill>
                <a:srgbClr val="000000"/>
              </a:solidFill>
              <a:effectLst/>
              <a:uFillTx/>
              <a:latin typeface="Arial"/>
            </a:endParaRPr>
          </a:p>
        </p:txBody>
      </p:sp>
      <p:sp>
        <p:nvSpPr>
          <p:cNvPr id="60" name="Straight Connector 46"/>
          <p:cNvSpPr/>
          <p:nvPr/>
        </p:nvSpPr>
        <p:spPr>
          <a:xfrm>
            <a:off x="4196520" y="5626080"/>
            <a:ext cx="7685280" cy="504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39960" bIns="-39960" anchor="t" anchorCtr="1">
            <a:noAutofit/>
          </a:bodyPr>
          <a:p>
            <a:endParaRPr b="0" lang="en-IN" sz="1800" strike="noStrike" u="none">
              <a:solidFill>
                <a:srgbClr val="000000"/>
              </a:solidFill>
              <a:effectLst/>
              <a:uFillTx/>
              <a:latin typeface="Arial"/>
            </a:endParaRPr>
          </a:p>
        </p:txBody>
      </p:sp>
      <p:sp>
        <p:nvSpPr>
          <p:cNvPr id="61" name="TextBox 25"/>
          <p:cNvSpPr/>
          <p:nvPr/>
        </p:nvSpPr>
        <p:spPr>
          <a:xfrm>
            <a:off x="243000" y="3957480"/>
            <a:ext cx="21243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Key Capabilities</a:t>
            </a:r>
            <a:endParaRPr b="0" lang="en-IN" sz="1400" strike="noStrike" u="none">
              <a:solidFill>
                <a:srgbClr val="000000"/>
              </a:solidFill>
              <a:effectLst/>
              <a:uFillTx/>
              <a:latin typeface="Arial"/>
            </a:endParaRPr>
          </a:p>
        </p:txBody>
      </p:sp>
      <p:sp>
        <p:nvSpPr>
          <p:cNvPr id="62" name="Straight Connector 48"/>
          <p:cNvSpPr/>
          <p:nvPr/>
        </p:nvSpPr>
        <p:spPr>
          <a:xfrm>
            <a:off x="331920" y="4285440"/>
            <a:ext cx="288000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63" name="Rectangle 49"/>
          <p:cNvSpPr/>
          <p:nvPr/>
        </p:nvSpPr>
        <p:spPr>
          <a:xfrm>
            <a:off x="243000" y="4342680"/>
            <a:ext cx="2879640" cy="2437920"/>
          </a:xfrm>
          <a:prstGeom prst="rect">
            <a:avLst/>
          </a:prstGeom>
          <a:noFill/>
          <a:ln w="0">
            <a:noFill/>
          </a:ln>
        </p:spPr>
        <p:style>
          <a:lnRef idx="0"/>
          <a:fillRef idx="0"/>
          <a:effectRef idx="0"/>
          <a:fontRef idx="minor"/>
        </p:style>
        <p:txBody>
          <a:bodyPr lIns="19080" rIns="19080" tIns="19080" bIns="19080" anchor="t">
            <a:normAutofit/>
          </a:bodyPr>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Exact and near-duplicate detection</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Definition normalisation and similarity score</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Usage-aware groups and recommendations</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Search, pagination and CSV or Excel export</a:t>
            </a:r>
            <a:endParaRPr b="0" lang="en-IN" sz="1090" strike="noStrike" u="none">
              <a:solidFill>
                <a:srgbClr val="000000"/>
              </a:solidFill>
              <a:effectLst/>
              <a:uFillTx/>
              <a:latin typeface="Arial"/>
            </a:endParaRPr>
          </a:p>
        </p:txBody>
      </p:sp>
      <p:sp>
        <p:nvSpPr>
          <p:cNvPr id="64" name="Rectangle 8"/>
          <p:cNvSpPr/>
          <p:nvPr/>
        </p:nvSpPr>
        <p:spPr>
          <a:xfrm>
            <a:off x="4196520" y="1445760"/>
            <a:ext cx="7428960" cy="3448080"/>
          </a:xfrm>
          <a:prstGeom prst="rect">
            <a:avLst/>
          </a:prstGeom>
          <a:solidFill>
            <a:srgbClr val="f7f9fc"/>
          </a:solidFill>
          <a:ln w="9525">
            <a:solidFill>
              <a:srgbClr val="aab7c4"/>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IN" sz="1800" strike="noStrike" u="none">
              <a:solidFill>
                <a:srgbClr val="000000"/>
              </a:solidFill>
              <a:effectLst/>
              <a:uFillTx/>
              <a:latin typeface="Arial"/>
            </a:endParaRPr>
          </a:p>
        </p:txBody>
      </p:sp>
      <p:sp>
        <p:nvSpPr>
          <p:cNvPr id="65" name="TextBox 25"/>
          <p:cNvSpPr/>
          <p:nvPr/>
        </p:nvSpPr>
        <p:spPr>
          <a:xfrm>
            <a:off x="263160" y="5318280"/>
            <a:ext cx="2124360" cy="307440"/>
          </a:xfrm>
          <a:prstGeom prst="rect">
            <a:avLst/>
          </a:prstGeom>
          <a:noFill/>
          <a:ln w="0">
            <a:noFill/>
          </a:ln>
        </p:spPr>
        <p:style>
          <a:lnRef idx="0"/>
          <a:fillRef idx="0"/>
          <a:effectRef idx="0"/>
          <a:fontRef idx="minor"/>
        </p:style>
        <p:txBody>
          <a:bodyPr lIns="90000" rIns="90000" tIns="45000" bIns="45000" anchor="t">
            <a:spAutoFit/>
          </a:bodyPr>
          <a:p>
            <a:pPr defTabSz="913680">
              <a:lnSpc>
                <a:spcPct val="100000"/>
              </a:lnSpc>
              <a:tabLst>
                <a:tab algn="l" pos="0"/>
              </a:tabLst>
            </a:pPr>
            <a:r>
              <a:rPr b="1" lang="en-IN" sz="1400" spc="-20" strike="noStrike" u="none">
                <a:solidFill>
                  <a:srgbClr val="007bff"/>
                </a:solidFill>
                <a:effectLst/>
                <a:uFillTx/>
                <a:latin typeface="Arial Nova"/>
                <a:ea typeface="Arial Nova"/>
              </a:rPr>
              <a:t>Deployment</a:t>
            </a:r>
            <a:endParaRPr b="0" lang="en-IN" sz="1400" strike="noStrike" u="none">
              <a:solidFill>
                <a:srgbClr val="000000"/>
              </a:solidFill>
              <a:effectLst/>
              <a:uFillTx/>
              <a:latin typeface="Arial"/>
            </a:endParaRPr>
          </a:p>
        </p:txBody>
      </p:sp>
      <p:sp>
        <p:nvSpPr>
          <p:cNvPr id="66" name="Straight Connector 51"/>
          <p:cNvSpPr/>
          <p:nvPr/>
        </p:nvSpPr>
        <p:spPr>
          <a:xfrm>
            <a:off x="352080" y="5646600"/>
            <a:ext cx="2880000" cy="360"/>
          </a:xfrm>
          <a:prstGeom prst="line">
            <a:avLst/>
          </a:prstGeom>
          <a:ln w="12700">
            <a:solidFill>
              <a:srgbClr val="0e1259"/>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67" name="Rectangle 52"/>
          <p:cNvSpPr/>
          <p:nvPr/>
        </p:nvSpPr>
        <p:spPr>
          <a:xfrm>
            <a:off x="263160" y="5703480"/>
            <a:ext cx="3191760" cy="1838520"/>
          </a:xfrm>
          <a:prstGeom prst="rect">
            <a:avLst/>
          </a:prstGeom>
          <a:noFill/>
          <a:ln w="0">
            <a:noFill/>
          </a:ln>
        </p:spPr>
        <p:style>
          <a:lnRef idx="0"/>
          <a:fillRef idx="0"/>
          <a:effectRef idx="0"/>
          <a:fontRef idx="minor"/>
        </p:style>
        <p:txBody>
          <a:bodyPr lIns="19080" rIns="19080" tIns="19080" bIns="19080" anchor="t">
            <a:normAutofit/>
          </a:bodyPr>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Runs on a local desktop or server</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Read-only Adobe CJA API access</a:t>
            </a:r>
            <a:endParaRPr b="0" lang="en-IN" sz="1090" strike="noStrike" u="none">
              <a:solidFill>
                <a:srgbClr val="000000"/>
              </a:solidFill>
              <a:effectLst/>
              <a:uFillTx/>
              <a:latin typeface="Arial"/>
            </a:endParaRPr>
          </a:p>
          <a:p>
            <a:pPr marL="152280" indent="-88920" defTabSz="91440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Credentials stay in the environment file</a:t>
            </a:r>
            <a:endParaRPr b="0" lang="en-IN" sz="1090" strike="noStrike" u="none">
              <a:solidFill>
                <a:srgbClr val="000000"/>
              </a:solidFill>
              <a:effectLst/>
              <a:uFillTx/>
              <a:latin typeface="Arial"/>
            </a:endParaRPr>
          </a:p>
        </p:txBody>
      </p:sp>
      <p:pic>
        <p:nvPicPr>
          <p:cNvPr id="68" name="" descr=""/>
          <p:cNvPicPr/>
          <p:nvPr/>
        </p:nvPicPr>
        <p:blipFill>
          <a:blip r:embed="rId1"/>
          <a:srcRect l="0" t="17246" r="0" b="17246"/>
          <a:stretch/>
        </p:blipFill>
        <p:spPr>
          <a:xfrm>
            <a:off x="4267080" y="1504800"/>
            <a:ext cx="7286400" cy="33145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
          <p:cNvSpPr/>
          <p:nvPr/>
        </p:nvSpPr>
        <p:spPr>
          <a:xfrm>
            <a:off x="266760" y="190440"/>
            <a:ext cx="11620080" cy="7808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2400" strike="noStrike" u="none">
                <a:solidFill>
                  <a:srgbClr val="101828"/>
                </a:solidFill>
                <a:effectLst/>
                <a:uFillTx/>
                <a:latin typeface="Arial"/>
                <a:ea typeface="Arial"/>
              </a:rPr>
              <a:t>Accelerator name: CJA Segment Cleanup</a:t>
            </a:r>
            <a:endParaRPr b="0" lang="en-IN" sz="2400" strike="noStrike" u="none">
              <a:solidFill>
                <a:srgbClr val="000000"/>
              </a:solidFill>
              <a:effectLst/>
              <a:uFillTx/>
              <a:latin typeface="Arial"/>
            </a:endParaRPr>
          </a:p>
          <a:p>
            <a:pPr>
              <a:lnSpc>
                <a:spcPct val="100000"/>
              </a:lnSpc>
            </a:pPr>
            <a:r>
              <a:rPr b="0" lang="en-IN" sz="2400" strike="noStrike" u="none">
                <a:solidFill>
                  <a:srgbClr val="101828"/>
                </a:solidFill>
                <a:effectLst/>
                <a:uFillTx/>
                <a:latin typeface="Arial"/>
                <a:ea typeface="Arial"/>
              </a:rPr>
              <a:t>Concept flow and similarity classification</a:t>
            </a:r>
            <a:endParaRPr b="0" lang="en-IN" sz="2400" strike="noStrike" u="none">
              <a:solidFill>
                <a:srgbClr val="000000"/>
              </a:solidFill>
              <a:effectLst/>
              <a:uFillTx/>
              <a:latin typeface="Arial"/>
            </a:endParaRPr>
          </a:p>
        </p:txBody>
      </p:sp>
      <p:sp>
        <p:nvSpPr>
          <p:cNvPr id="70" name=""/>
          <p:cNvSpPr/>
          <p:nvPr/>
        </p:nvSpPr>
        <p:spPr>
          <a:xfrm>
            <a:off x="333360" y="1028880"/>
            <a:ext cx="2904840" cy="256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350" strike="noStrike" u="none">
                <a:solidFill>
                  <a:srgbClr val="0078f0"/>
                </a:solidFill>
                <a:effectLst/>
                <a:uFillTx/>
                <a:latin typeface="Arial"/>
                <a:ea typeface="Arial"/>
              </a:rPr>
              <a:t>Business Overview/Challenge</a:t>
            </a:r>
            <a:endParaRPr b="0" lang="en-IN" sz="1350" strike="noStrike" u="none">
              <a:solidFill>
                <a:srgbClr val="000000"/>
              </a:solidFill>
              <a:effectLst/>
              <a:uFillTx/>
              <a:latin typeface="Arial"/>
            </a:endParaRPr>
          </a:p>
        </p:txBody>
      </p:sp>
      <p:sp>
        <p:nvSpPr>
          <p:cNvPr id="71" name=""/>
          <p:cNvSpPr/>
          <p:nvPr/>
        </p:nvSpPr>
        <p:spPr>
          <a:xfrm>
            <a:off x="333360" y="1295280"/>
            <a:ext cx="2904840" cy="360"/>
          </a:xfrm>
          <a:prstGeom prst="line">
            <a:avLst/>
          </a:prstGeom>
          <a:ln w="11430">
            <a:solidFill>
              <a:srgbClr val="1b2a78"/>
            </a:solidFill>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72" name=""/>
          <p:cNvSpPr/>
          <p:nvPr/>
        </p:nvSpPr>
        <p:spPr>
          <a:xfrm>
            <a:off x="333360" y="1352520"/>
            <a:ext cx="2904840" cy="1161720"/>
          </a:xfrm>
          <a:prstGeom prst="rect">
            <a:avLst/>
          </a:prstGeom>
          <a:noFill/>
          <a:ln w="0">
            <a:noFill/>
          </a:ln>
        </p:spPr>
        <p:style>
          <a:lnRef idx="0"/>
          <a:fillRef idx="0"/>
          <a:effectRef idx="0"/>
          <a:fontRef idx="minor"/>
        </p:style>
        <p:txBody>
          <a:bodyPr lIns="19080" rIns="19080" tIns="19080" bIns="19080" anchor="t">
            <a:normAutofit lnSpcReduction="9999"/>
          </a:bodyPr>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Segments grow across teams and Data Views</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Manual comparison takes time and varies by reviewer</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Names alone do not show matching logic</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Usage evidence is needed before cleanup</a:t>
            </a:r>
            <a:endParaRPr b="0" lang="en-IN" sz="1090" strike="noStrike" u="none">
              <a:solidFill>
                <a:srgbClr val="000000"/>
              </a:solidFill>
              <a:effectLst/>
              <a:uFillTx/>
              <a:latin typeface="Arial"/>
            </a:endParaRPr>
          </a:p>
        </p:txBody>
      </p:sp>
      <p:sp>
        <p:nvSpPr>
          <p:cNvPr id="73" name=""/>
          <p:cNvSpPr/>
          <p:nvPr/>
        </p:nvSpPr>
        <p:spPr>
          <a:xfrm>
            <a:off x="333360" y="2629080"/>
            <a:ext cx="2904840" cy="256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350" strike="noStrike" u="none">
                <a:solidFill>
                  <a:srgbClr val="0078f0"/>
                </a:solidFill>
                <a:effectLst/>
                <a:uFillTx/>
                <a:latin typeface="Arial"/>
                <a:ea typeface="Arial"/>
              </a:rPr>
              <a:t>Technology Stack</a:t>
            </a:r>
            <a:endParaRPr b="0" lang="en-IN" sz="1350" strike="noStrike" u="none">
              <a:solidFill>
                <a:srgbClr val="000000"/>
              </a:solidFill>
              <a:effectLst/>
              <a:uFillTx/>
              <a:latin typeface="Arial"/>
            </a:endParaRPr>
          </a:p>
        </p:txBody>
      </p:sp>
      <p:sp>
        <p:nvSpPr>
          <p:cNvPr id="74" name=""/>
          <p:cNvSpPr/>
          <p:nvPr/>
        </p:nvSpPr>
        <p:spPr>
          <a:xfrm>
            <a:off x="333360" y="2895480"/>
            <a:ext cx="2904840" cy="360"/>
          </a:xfrm>
          <a:prstGeom prst="line">
            <a:avLst/>
          </a:prstGeom>
          <a:ln w="11430">
            <a:solidFill>
              <a:srgbClr val="1b2a78"/>
            </a:solidFill>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75" name=""/>
          <p:cNvSpPr/>
          <p:nvPr/>
        </p:nvSpPr>
        <p:spPr>
          <a:xfrm>
            <a:off x="333360" y="2952720"/>
            <a:ext cx="2904840" cy="1028520"/>
          </a:xfrm>
          <a:prstGeom prst="rect">
            <a:avLst/>
          </a:prstGeom>
          <a:noFill/>
          <a:ln w="0">
            <a:noFill/>
          </a:ln>
        </p:spPr>
        <p:style>
          <a:lnRef idx="0"/>
          <a:fillRef idx="0"/>
          <a:effectRef idx="0"/>
          <a:fontRef idx="minor"/>
        </p:style>
        <p:txBody>
          <a:bodyPr lIns="19080" rIns="19080" tIns="19080" bIns="19080" anchor="t">
            <a:normAutofit/>
          </a:bodyPr>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Python and Flask</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Adobe CJA Data Views, Segments and Projects APIs</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OAuth Server-to-Server authentication</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Local browser dashboard</a:t>
            </a:r>
            <a:endParaRPr b="0" lang="en-IN" sz="1090" strike="noStrike" u="none">
              <a:solidFill>
                <a:srgbClr val="000000"/>
              </a:solidFill>
              <a:effectLst/>
              <a:uFillTx/>
              <a:latin typeface="Arial"/>
            </a:endParaRPr>
          </a:p>
        </p:txBody>
      </p:sp>
      <p:sp>
        <p:nvSpPr>
          <p:cNvPr id="76" name=""/>
          <p:cNvSpPr/>
          <p:nvPr/>
        </p:nvSpPr>
        <p:spPr>
          <a:xfrm>
            <a:off x="333360" y="4095720"/>
            <a:ext cx="2904840" cy="256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350" strike="noStrike" u="none">
                <a:solidFill>
                  <a:srgbClr val="0078f0"/>
                </a:solidFill>
                <a:effectLst/>
                <a:uFillTx/>
                <a:latin typeface="Arial"/>
                <a:ea typeface="Arial"/>
              </a:rPr>
              <a:t>Key Capabilities</a:t>
            </a:r>
            <a:endParaRPr b="0" lang="en-IN" sz="1350" strike="noStrike" u="none">
              <a:solidFill>
                <a:srgbClr val="000000"/>
              </a:solidFill>
              <a:effectLst/>
              <a:uFillTx/>
              <a:latin typeface="Arial"/>
            </a:endParaRPr>
          </a:p>
        </p:txBody>
      </p:sp>
      <p:sp>
        <p:nvSpPr>
          <p:cNvPr id="77" name=""/>
          <p:cNvSpPr/>
          <p:nvPr/>
        </p:nvSpPr>
        <p:spPr>
          <a:xfrm>
            <a:off x="333360" y="4362120"/>
            <a:ext cx="2904840" cy="360"/>
          </a:xfrm>
          <a:prstGeom prst="line">
            <a:avLst/>
          </a:prstGeom>
          <a:ln w="11430">
            <a:solidFill>
              <a:srgbClr val="1b2a78"/>
            </a:solidFill>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78" name=""/>
          <p:cNvSpPr/>
          <p:nvPr/>
        </p:nvSpPr>
        <p:spPr>
          <a:xfrm>
            <a:off x="333360" y="4419720"/>
            <a:ext cx="2904840" cy="999720"/>
          </a:xfrm>
          <a:prstGeom prst="rect">
            <a:avLst/>
          </a:prstGeom>
          <a:noFill/>
          <a:ln w="0">
            <a:noFill/>
          </a:ln>
        </p:spPr>
        <p:style>
          <a:lnRef idx="0"/>
          <a:fillRef idx="0"/>
          <a:effectRef idx="0"/>
          <a:fontRef idx="minor"/>
        </p:style>
        <p:txBody>
          <a:bodyPr lIns="19080" rIns="19080" tIns="19080" bIns="19080" anchor="t">
            <a:normAutofit lnSpcReduction="9999"/>
          </a:bodyPr>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Exact and near-duplicate detection</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Jaccard similarity with field-level differences</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Business-rule checks for numeric thresholds</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Search, pagination and CSV or Excel export</a:t>
            </a:r>
            <a:endParaRPr b="0" lang="en-IN" sz="1090" strike="noStrike" u="none">
              <a:solidFill>
                <a:srgbClr val="000000"/>
              </a:solidFill>
              <a:effectLst/>
              <a:uFillTx/>
              <a:latin typeface="Arial"/>
            </a:endParaRPr>
          </a:p>
        </p:txBody>
      </p:sp>
      <p:sp>
        <p:nvSpPr>
          <p:cNvPr id="79" name=""/>
          <p:cNvSpPr/>
          <p:nvPr/>
        </p:nvSpPr>
        <p:spPr>
          <a:xfrm>
            <a:off x="333360" y="5477040"/>
            <a:ext cx="2904840" cy="256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350" strike="noStrike" u="none">
                <a:solidFill>
                  <a:srgbClr val="0078f0"/>
                </a:solidFill>
                <a:effectLst/>
                <a:uFillTx/>
                <a:latin typeface="Arial"/>
                <a:ea typeface="Arial"/>
              </a:rPr>
              <a:t>Deployment</a:t>
            </a:r>
            <a:endParaRPr b="0" lang="en-IN" sz="1350" strike="noStrike" u="none">
              <a:solidFill>
                <a:srgbClr val="000000"/>
              </a:solidFill>
              <a:effectLst/>
              <a:uFillTx/>
              <a:latin typeface="Arial"/>
            </a:endParaRPr>
          </a:p>
        </p:txBody>
      </p:sp>
      <p:sp>
        <p:nvSpPr>
          <p:cNvPr id="80" name=""/>
          <p:cNvSpPr/>
          <p:nvPr/>
        </p:nvSpPr>
        <p:spPr>
          <a:xfrm>
            <a:off x="333360" y="5743440"/>
            <a:ext cx="2904840" cy="360"/>
          </a:xfrm>
          <a:prstGeom prst="line">
            <a:avLst/>
          </a:prstGeom>
          <a:ln w="11430">
            <a:solidFill>
              <a:srgbClr val="1b2a78"/>
            </a:solidFill>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81" name=""/>
          <p:cNvSpPr/>
          <p:nvPr/>
        </p:nvSpPr>
        <p:spPr>
          <a:xfrm>
            <a:off x="333360" y="5800680"/>
            <a:ext cx="2904840" cy="647280"/>
          </a:xfrm>
          <a:prstGeom prst="rect">
            <a:avLst/>
          </a:prstGeom>
          <a:noFill/>
          <a:ln w="0">
            <a:noFill/>
          </a:ln>
        </p:spPr>
        <p:style>
          <a:lnRef idx="0"/>
          <a:fillRef idx="0"/>
          <a:effectRef idx="0"/>
          <a:fontRef idx="minor"/>
        </p:style>
        <p:txBody>
          <a:bodyPr lIns="19080" rIns="19080" tIns="19080" bIns="19080" anchor="t">
            <a:normAutofit/>
          </a:bodyPr>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Runs on a local desktop or server</a:t>
            </a:r>
            <a:endParaRPr b="0" lang="en-IN" sz="1090" strike="noStrike" u="none">
              <a:solidFill>
                <a:srgbClr val="000000"/>
              </a:solidFill>
              <a:effectLst/>
              <a:uFillTx/>
              <a:latin typeface="Arial"/>
            </a:endParaRPr>
          </a:p>
          <a:p>
            <a:pPr marL="152280" indent="-88920">
              <a:lnSpc>
                <a:spcPct val="100000"/>
              </a:lnSpc>
              <a:spcAft>
                <a:spcPts val="400"/>
              </a:spcAft>
              <a:buClr>
                <a:srgbClr val="202020"/>
              </a:buClr>
              <a:buFont typeface="Symbol" charset="2"/>
              <a:buChar char=""/>
            </a:pPr>
            <a:r>
              <a:rPr b="0" lang="en-IN" sz="1090" strike="noStrike" u="none">
                <a:solidFill>
                  <a:srgbClr val="202020"/>
                </a:solidFill>
                <a:effectLst/>
                <a:uFillTx/>
                <a:latin typeface="Arial"/>
                <a:ea typeface="Arial"/>
              </a:rPr>
              <a:t>Credentials stay in the environment file</a:t>
            </a:r>
            <a:endParaRPr b="0" lang="en-IN" sz="1090" strike="noStrike" u="none">
              <a:solidFill>
                <a:srgbClr val="000000"/>
              </a:solidFill>
              <a:effectLst/>
              <a:uFillTx/>
              <a:latin typeface="Arial"/>
            </a:endParaRPr>
          </a:p>
        </p:txBody>
      </p:sp>
      <p:sp>
        <p:nvSpPr>
          <p:cNvPr id="82" name=""/>
          <p:cNvSpPr/>
          <p:nvPr/>
        </p:nvSpPr>
        <p:spPr>
          <a:xfrm>
            <a:off x="4219560" y="1028880"/>
            <a:ext cx="7238520" cy="256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350" strike="noStrike" u="none">
                <a:solidFill>
                  <a:srgbClr val="0078f0"/>
                </a:solidFill>
                <a:effectLst/>
                <a:uFillTx/>
                <a:latin typeface="Arial"/>
                <a:ea typeface="Arial"/>
              </a:rPr>
              <a:t>The eClerx Solution</a:t>
            </a:r>
            <a:endParaRPr b="0" lang="en-IN" sz="1350" strike="noStrike" u="none">
              <a:solidFill>
                <a:srgbClr val="000000"/>
              </a:solidFill>
              <a:effectLst/>
              <a:uFillTx/>
              <a:latin typeface="Arial"/>
            </a:endParaRPr>
          </a:p>
        </p:txBody>
      </p:sp>
      <p:sp>
        <p:nvSpPr>
          <p:cNvPr id="83" name=""/>
          <p:cNvSpPr/>
          <p:nvPr/>
        </p:nvSpPr>
        <p:spPr>
          <a:xfrm>
            <a:off x="4219560" y="1295280"/>
            <a:ext cx="7238880" cy="360"/>
          </a:xfrm>
          <a:prstGeom prst="line">
            <a:avLst/>
          </a:prstGeom>
          <a:ln w="11430">
            <a:solidFill>
              <a:srgbClr val="1b2a78"/>
            </a:solidFill>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84" name=""/>
          <p:cNvSpPr/>
          <p:nvPr/>
        </p:nvSpPr>
        <p:spPr>
          <a:xfrm>
            <a:off x="4286160" y="1457280"/>
            <a:ext cx="2095200" cy="628200"/>
          </a:xfrm>
          <a:prstGeom prst="roundRect">
            <a:avLst>
              <a:gd name="adj" fmla="val 12121"/>
            </a:avLst>
          </a:prstGeom>
          <a:solidFill>
            <a:srgbClr val="eaf3fc"/>
          </a:solidFill>
          <a:ln w="11430">
            <a:solidFill>
              <a:srgbClr val="4a90e2"/>
            </a:solidFill>
            <a:round/>
          </a:ln>
        </p:spPr>
        <p:style>
          <a:lnRef idx="0"/>
          <a:fillRef idx="0"/>
          <a:effectRef idx="0"/>
          <a:fontRef idx="minor"/>
        </p:style>
        <p:txBody>
          <a:bodyPr lIns="95400" rIns="95400" tIns="57240" bIns="57240" anchor="ctr">
            <a:normAutofit lnSpcReduction="9999"/>
          </a:bodyPr>
          <a:p>
            <a:pPr algn="ctr">
              <a:lnSpc>
                <a:spcPct val="100000"/>
              </a:lnSpc>
            </a:pPr>
            <a:r>
              <a:rPr b="1" lang="en-IN" sz="1200" strike="noStrike" u="none">
                <a:solidFill>
                  <a:srgbClr val="102a43"/>
                </a:solidFill>
                <a:effectLst/>
                <a:uFillTx/>
                <a:latin typeface="Arial"/>
                <a:ea typeface="Arial"/>
              </a:rPr>
              <a:t>Segment Fetcher</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Reads CJA segment definitions</a:t>
            </a:r>
            <a:endParaRPr b="0" lang="en-IN" sz="1200" strike="noStrike" u="none">
              <a:solidFill>
                <a:srgbClr val="000000"/>
              </a:solidFill>
              <a:effectLst/>
              <a:uFillTx/>
              <a:latin typeface="Arial"/>
            </a:endParaRPr>
          </a:p>
        </p:txBody>
      </p:sp>
      <p:sp>
        <p:nvSpPr>
          <p:cNvPr id="85" name=""/>
          <p:cNvSpPr/>
          <p:nvPr/>
        </p:nvSpPr>
        <p:spPr>
          <a:xfrm>
            <a:off x="6715080" y="1457280"/>
            <a:ext cx="2095200" cy="628200"/>
          </a:xfrm>
          <a:prstGeom prst="roundRect">
            <a:avLst>
              <a:gd name="adj" fmla="val 12121"/>
            </a:avLst>
          </a:prstGeom>
          <a:solidFill>
            <a:srgbClr val="eaf3fc"/>
          </a:solidFill>
          <a:ln w="11430">
            <a:solidFill>
              <a:srgbClr val="4a90e2"/>
            </a:solidFill>
            <a:round/>
          </a:ln>
        </p:spPr>
        <p:style>
          <a:lnRef idx="0"/>
          <a:fillRef idx="0"/>
          <a:effectRef idx="0"/>
          <a:fontRef idx="minor"/>
        </p:style>
        <p:txBody>
          <a:bodyPr lIns="95400" rIns="95400" tIns="57240" bIns="57240" anchor="ctr">
            <a:normAutofit lnSpcReduction="9999"/>
          </a:bodyPr>
          <a:p>
            <a:pPr algn="ctr">
              <a:lnSpc>
                <a:spcPct val="100000"/>
              </a:lnSpc>
            </a:pPr>
            <a:r>
              <a:rPr b="1" lang="en-IN" sz="1200" strike="noStrike" u="none">
                <a:solidFill>
                  <a:srgbClr val="102a43"/>
                </a:solidFill>
                <a:effectLst/>
                <a:uFillTx/>
                <a:latin typeface="Arial"/>
                <a:ea typeface="Arial"/>
              </a:rPr>
              <a:t>Definition Normalizer</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Canonicalises definition JSON</a:t>
            </a:r>
            <a:endParaRPr b="0" lang="en-IN" sz="1200" strike="noStrike" u="none">
              <a:solidFill>
                <a:srgbClr val="000000"/>
              </a:solidFill>
              <a:effectLst/>
              <a:uFillTx/>
              <a:latin typeface="Arial"/>
            </a:endParaRPr>
          </a:p>
        </p:txBody>
      </p:sp>
      <p:sp>
        <p:nvSpPr>
          <p:cNvPr id="86" name=""/>
          <p:cNvSpPr/>
          <p:nvPr/>
        </p:nvSpPr>
        <p:spPr>
          <a:xfrm>
            <a:off x="9144000" y="1457280"/>
            <a:ext cx="2095200" cy="628200"/>
          </a:xfrm>
          <a:prstGeom prst="roundRect">
            <a:avLst>
              <a:gd name="adj" fmla="val 12121"/>
            </a:avLst>
          </a:prstGeom>
          <a:solidFill>
            <a:srgbClr val="eaf3fc"/>
          </a:solidFill>
          <a:ln w="11430">
            <a:solidFill>
              <a:srgbClr val="4a90e2"/>
            </a:solidFill>
            <a:round/>
          </a:ln>
        </p:spPr>
        <p:style>
          <a:lnRef idx="0"/>
          <a:fillRef idx="0"/>
          <a:effectRef idx="0"/>
          <a:fontRef idx="minor"/>
        </p:style>
        <p:txBody>
          <a:bodyPr lIns="95400" rIns="95400" tIns="57240" bIns="57240" anchor="ctr">
            <a:normAutofit lnSpcReduction="9999"/>
          </a:bodyPr>
          <a:p>
            <a:pPr algn="ctr">
              <a:lnSpc>
                <a:spcPct val="100000"/>
              </a:lnSpc>
            </a:pPr>
            <a:r>
              <a:rPr b="1" lang="en-IN" sz="1200" strike="noStrike" u="none">
                <a:solidFill>
                  <a:srgbClr val="102a43"/>
                </a:solidFill>
                <a:effectLst/>
                <a:uFillTx/>
                <a:latin typeface="Arial"/>
                <a:ea typeface="Arial"/>
              </a:rPr>
              <a:t>Similarity Engine</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Calculates Jaccard score and differences</a:t>
            </a:r>
            <a:endParaRPr b="0" lang="en-IN" sz="1200" strike="noStrike" u="none">
              <a:solidFill>
                <a:srgbClr val="000000"/>
              </a:solidFill>
              <a:effectLst/>
              <a:uFillTx/>
              <a:latin typeface="Arial"/>
            </a:endParaRPr>
          </a:p>
        </p:txBody>
      </p:sp>
      <p:sp>
        <p:nvSpPr>
          <p:cNvPr id="87" name=""/>
          <p:cNvSpPr/>
          <p:nvPr/>
        </p:nvSpPr>
        <p:spPr>
          <a:xfrm>
            <a:off x="4286160" y="2305080"/>
            <a:ext cx="6953040" cy="514080"/>
          </a:xfrm>
          <a:prstGeom prst="roundRect">
            <a:avLst>
              <a:gd name="adj" fmla="val 14815"/>
            </a:avLst>
          </a:prstGeom>
          <a:solidFill>
            <a:srgbClr val="f4f8ff"/>
          </a:solidFill>
          <a:ln w="11430">
            <a:solidFill>
              <a:srgbClr val="0078f0"/>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Classification Engine</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Exact Duplicate / Near Duplicate / Review Required</a:t>
            </a:r>
            <a:endParaRPr b="0" lang="en-IN" sz="1200" strike="noStrike" u="none">
              <a:solidFill>
                <a:srgbClr val="000000"/>
              </a:solidFill>
              <a:effectLst/>
              <a:uFillTx/>
              <a:latin typeface="Arial"/>
            </a:endParaRPr>
          </a:p>
        </p:txBody>
      </p:sp>
      <p:cxnSp>
        <p:nvCxnSpPr>
          <p:cNvPr id="88" name=""/>
          <p:cNvCxnSpPr>
            <a:stCxn id="84" idx="3"/>
            <a:endCxn id="85" idx="1"/>
          </p:cNvCxnSpPr>
          <p:nvPr/>
        </p:nvCxnSpPr>
        <p:spPr>
          <a:xfrm>
            <a:off x="6381360" y="1771200"/>
            <a:ext cx="334080" cy="360"/>
          </a:xfrm>
          <a:prstGeom prst="straightConnector1">
            <a:avLst/>
          </a:prstGeom>
          <a:ln w="17145">
            <a:solidFill>
              <a:srgbClr val="0078f0"/>
            </a:solidFill>
            <a:round/>
            <a:tailEnd len="sm" type="triangle" w="sm"/>
          </a:ln>
        </p:spPr>
      </p:cxnSp>
      <p:cxnSp>
        <p:nvCxnSpPr>
          <p:cNvPr id="89" name=""/>
          <p:cNvCxnSpPr>
            <a:stCxn id="85" idx="3"/>
            <a:endCxn id="86" idx="1"/>
          </p:cNvCxnSpPr>
          <p:nvPr/>
        </p:nvCxnSpPr>
        <p:spPr>
          <a:xfrm>
            <a:off x="8810280" y="1771200"/>
            <a:ext cx="334080" cy="360"/>
          </a:xfrm>
          <a:prstGeom prst="straightConnector1">
            <a:avLst/>
          </a:prstGeom>
          <a:ln w="17145">
            <a:solidFill>
              <a:srgbClr val="0078f0"/>
            </a:solidFill>
            <a:round/>
            <a:tailEnd len="sm" type="triangle" w="sm"/>
          </a:ln>
        </p:spPr>
      </p:cxnSp>
      <p:cxnSp>
        <p:nvCxnSpPr>
          <p:cNvPr id="90" name=""/>
          <p:cNvCxnSpPr>
            <a:stCxn id="85" idx="2"/>
            <a:endCxn id="87" idx="0"/>
          </p:cNvCxnSpPr>
          <p:nvPr/>
        </p:nvCxnSpPr>
        <p:spPr>
          <a:xfrm>
            <a:off x="7762680" y="2085480"/>
            <a:ext cx="360" cy="219960"/>
          </a:xfrm>
          <a:prstGeom prst="straightConnector1">
            <a:avLst/>
          </a:prstGeom>
          <a:ln w="17145">
            <a:solidFill>
              <a:srgbClr val="0078f0"/>
            </a:solidFill>
            <a:round/>
            <a:tailEnd len="sm" type="triangle" w="sm"/>
          </a:ln>
        </p:spPr>
      </p:cxnSp>
      <p:graphicFrame>
        <p:nvGraphicFramePr>
          <p:cNvPr id="91" name=""/>
          <p:cNvGraphicFramePr/>
          <p:nvPr/>
        </p:nvGraphicFramePr>
        <p:xfrm>
          <a:off x="4286160" y="3000240"/>
          <a:ext cx="6953040" cy="1733040"/>
        </p:xfrm>
        <a:graphic>
          <a:graphicData uri="http://schemas.openxmlformats.org/drawingml/2006/table">
            <a:tbl>
              <a:tblPr/>
              <a:tblGrid>
                <a:gridCol w="3143160"/>
                <a:gridCol w="1285560"/>
                <a:gridCol w="2523960"/>
              </a:tblGrid>
              <a:tr h="433080">
                <a:tc>
                  <a:txBody>
                    <a:bodyPr anchor="ctr">
                      <a:noAutofit/>
                    </a:bodyPr>
                    <a:p>
                      <a:pPr defTabSz="914400">
                        <a:lnSpc>
                          <a:spcPct val="100000"/>
                        </a:lnSpc>
                      </a:pPr>
                      <a:r>
                        <a:rPr b="1" lang="en-IN" sz="860" strike="noStrike" u="none">
                          <a:solidFill>
                            <a:srgbClr val="ffffff"/>
                          </a:solidFill>
                          <a:effectLst/>
                          <a:uFillTx/>
                          <a:latin typeface="Arial"/>
                          <a:ea typeface="Arial"/>
                        </a:rPr>
                        <a:t>Comparison result</a:t>
                      </a:r>
                      <a:endParaRPr b="0" lang="en-IN" sz="860" strike="noStrike" u="none">
                        <a:solidFill>
                          <a:srgbClr val="ffffff"/>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8f0"/>
                    </a:solidFill>
                  </a:tcPr>
                </a:tc>
                <a:tc>
                  <a:txBody>
                    <a:bodyPr anchor="ctr">
                      <a:noAutofit/>
                    </a:bodyPr>
                    <a:p>
                      <a:pPr algn="ctr" defTabSz="914400">
                        <a:lnSpc>
                          <a:spcPct val="100000"/>
                        </a:lnSpc>
                      </a:pPr>
                      <a:r>
                        <a:rPr b="1" lang="en-IN" sz="860" strike="noStrike" u="none">
                          <a:solidFill>
                            <a:srgbClr val="ffffff"/>
                          </a:solidFill>
                          <a:effectLst/>
                          <a:uFillTx/>
                          <a:latin typeface="Arial"/>
                          <a:ea typeface="Arial"/>
                        </a:rPr>
                        <a:t>Score or rule</a:t>
                      </a:r>
                      <a:endParaRPr b="0" lang="en-IN" sz="860" strike="noStrike" u="none">
                        <a:solidFill>
                          <a:srgbClr val="ffffff"/>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8f0"/>
                    </a:solidFill>
                  </a:tcPr>
                </a:tc>
                <a:tc>
                  <a:txBody>
                    <a:bodyPr anchor="ctr">
                      <a:noAutofit/>
                    </a:bodyPr>
                    <a:p>
                      <a:pPr defTabSz="914400">
                        <a:lnSpc>
                          <a:spcPct val="100000"/>
                        </a:lnSpc>
                      </a:pPr>
                      <a:r>
                        <a:rPr b="1" lang="en-IN" sz="860" strike="noStrike" u="none">
                          <a:solidFill>
                            <a:srgbClr val="ffffff"/>
                          </a:solidFill>
                          <a:effectLst/>
                          <a:uFillTx/>
                          <a:latin typeface="Arial"/>
                          <a:ea typeface="Arial"/>
                        </a:rPr>
                        <a:t>Classification</a:t>
                      </a:r>
                      <a:endParaRPr b="0" lang="en-IN" sz="860" strike="noStrike" u="none">
                        <a:solidFill>
                          <a:srgbClr val="ffffff"/>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78f0"/>
                    </a:solidFill>
                  </a:tcPr>
                </a:tc>
              </a:tr>
              <a:tr h="433080">
                <a:tc>
                  <a:txBody>
                    <a:bodyPr anchor="ctr">
                      <a:noAutofit/>
                    </a:bodyPr>
                    <a:p>
                      <a:pPr defTabSz="914400">
                        <a:lnSpc>
                          <a:spcPct val="100000"/>
                        </a:lnSpc>
                      </a:pPr>
                      <a:r>
                        <a:rPr b="0" lang="en-IN" sz="790" strike="noStrike" u="none">
                          <a:solidFill>
                            <a:srgbClr val="24364b"/>
                          </a:solidFill>
                          <a:effectLst/>
                          <a:uFillTx/>
                          <a:latin typeface="Arial"/>
                          <a:ea typeface="Arial"/>
                        </a:rPr>
                        <a:t>Normalised definitions match</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gn="ctr" defTabSz="914400">
                        <a:lnSpc>
                          <a:spcPct val="100000"/>
                        </a:lnSpc>
                      </a:pPr>
                      <a:r>
                        <a:rPr b="0" lang="en-IN" sz="790" strike="noStrike" u="none">
                          <a:solidFill>
                            <a:srgbClr val="24364b"/>
                          </a:solidFill>
                          <a:effectLst/>
                          <a:uFillTx/>
                          <a:latin typeface="Arial"/>
                          <a:ea typeface="Arial"/>
                        </a:rPr>
                        <a:t>100%</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defTabSz="914400">
                        <a:lnSpc>
                          <a:spcPct val="100000"/>
                        </a:lnSpc>
                      </a:pPr>
                      <a:r>
                        <a:rPr b="1" lang="en-IN" sz="790" strike="noStrike" u="none">
                          <a:solidFill>
                            <a:srgbClr val="c62828"/>
                          </a:solidFill>
                          <a:effectLst/>
                          <a:uFillTx/>
                          <a:latin typeface="Arial"/>
                          <a:ea typeface="Arial"/>
                        </a:rPr>
                        <a:t>Exact Duplicate</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433080">
                <a:tc>
                  <a:txBody>
                    <a:bodyPr anchor="ctr">
                      <a:noAutofit/>
                    </a:bodyPr>
                    <a:p>
                      <a:pPr defTabSz="914400">
                        <a:lnSpc>
                          <a:spcPct val="100000"/>
                        </a:lnSpc>
                      </a:pPr>
                      <a:r>
                        <a:rPr b="0" lang="en-IN" sz="790" strike="noStrike" u="none">
                          <a:solidFill>
                            <a:srgbClr val="24364b"/>
                          </a:solidFill>
                          <a:effectLst/>
                          <a:uFillTx/>
                          <a:latin typeface="Arial"/>
                          <a:ea typeface="Arial"/>
                        </a:rPr>
                        <a:t>High token overlap with no critical rule difference</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5f8fc"/>
                    </a:solidFill>
                  </a:tcPr>
                </a:tc>
                <a:tc>
                  <a:txBody>
                    <a:bodyPr anchor="ctr">
                      <a:noAutofit/>
                    </a:bodyPr>
                    <a:p>
                      <a:pPr algn="ctr" defTabSz="914400">
                        <a:lnSpc>
                          <a:spcPct val="100000"/>
                        </a:lnSpc>
                      </a:pPr>
                      <a:r>
                        <a:rPr b="0" lang="en-IN" sz="790" strike="noStrike" u="none">
                          <a:solidFill>
                            <a:srgbClr val="24364b"/>
                          </a:solidFill>
                          <a:effectLst/>
                          <a:uFillTx/>
                          <a:latin typeface="Arial"/>
                          <a:ea typeface="Arial"/>
                        </a:rPr>
                        <a:t>85% to 99.9%</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5f8fc"/>
                    </a:solidFill>
                  </a:tcPr>
                </a:tc>
                <a:tc>
                  <a:txBody>
                    <a:bodyPr anchor="ctr">
                      <a:noAutofit/>
                    </a:bodyPr>
                    <a:p>
                      <a:pPr defTabSz="914400">
                        <a:lnSpc>
                          <a:spcPct val="100000"/>
                        </a:lnSpc>
                      </a:pPr>
                      <a:r>
                        <a:rPr b="1" lang="en-IN" sz="790" strike="noStrike" u="none">
                          <a:solidFill>
                            <a:srgbClr val="b26a00"/>
                          </a:solidFill>
                          <a:effectLst/>
                          <a:uFillTx/>
                          <a:latin typeface="Arial"/>
                          <a:ea typeface="Arial"/>
                        </a:rPr>
                        <a:t>Near Duplicate</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5f8fc"/>
                    </a:solidFill>
                  </a:tcPr>
                </a:tc>
              </a:tr>
              <a:tr h="433080">
                <a:tc>
                  <a:txBody>
                    <a:bodyPr anchor="ctr">
                      <a:noAutofit/>
                    </a:bodyPr>
                    <a:p>
                      <a:pPr defTabSz="914400">
                        <a:lnSpc>
                          <a:spcPct val="100000"/>
                        </a:lnSpc>
                      </a:pPr>
                      <a:r>
                        <a:rPr b="0" lang="en-IN" sz="790" strike="noStrike" u="none">
                          <a:solidFill>
                            <a:srgbClr val="24364b"/>
                          </a:solidFill>
                          <a:effectLst/>
                          <a:uFillTx/>
                          <a:latin typeface="Arial"/>
                          <a:ea typeface="Arial"/>
                        </a:rPr>
                        <a:t>Numeric threshold, operator or logic differs</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gn="ctr" defTabSz="914400">
                        <a:lnSpc>
                          <a:spcPct val="100000"/>
                        </a:lnSpc>
                      </a:pPr>
                      <a:r>
                        <a:rPr b="0" lang="en-IN" sz="790" strike="noStrike" u="none">
                          <a:solidFill>
                            <a:srgbClr val="24364b"/>
                          </a:solidFill>
                          <a:effectLst/>
                          <a:uFillTx/>
                          <a:latin typeface="Arial"/>
                          <a:ea typeface="Arial"/>
                        </a:rPr>
                        <a:t>Rule override</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defTabSz="914400">
                        <a:lnSpc>
                          <a:spcPct val="100000"/>
                        </a:lnSpc>
                      </a:pPr>
                      <a:r>
                        <a:rPr b="1" lang="en-IN" sz="790" strike="noStrike" u="none">
                          <a:solidFill>
                            <a:srgbClr val="1769aa"/>
                          </a:solidFill>
                          <a:effectLst/>
                          <a:uFillTx/>
                          <a:latin typeface="Arial"/>
                          <a:ea typeface="Arial"/>
                        </a:rPr>
                        <a:t>Review Required</a:t>
                      </a:r>
                      <a:endParaRPr b="0" lang="en-IN" sz="79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92" name=""/>
          <p:cNvSpPr/>
          <p:nvPr/>
        </p:nvSpPr>
        <p:spPr>
          <a:xfrm>
            <a:off x="4305240" y="4857840"/>
            <a:ext cx="6933960" cy="342720"/>
          </a:xfrm>
          <a:prstGeom prst="rect">
            <a:avLst/>
          </a:prstGeom>
          <a:noFill/>
          <a:ln w="0">
            <a:noFill/>
          </a:ln>
        </p:spPr>
        <p:style>
          <a:lnRef idx="0"/>
          <a:fillRef idx="0"/>
          <a:effectRef idx="0"/>
          <a:fontRef idx="minor"/>
        </p:style>
        <p:txBody>
          <a:bodyPr lIns="0" rIns="0" tIns="0" bIns="0" anchor="t">
            <a:normAutofit/>
          </a:bodyPr>
          <a:p>
            <a:pPr>
              <a:lnSpc>
                <a:spcPct val="100000"/>
              </a:lnSpc>
            </a:pPr>
            <a:r>
              <a:rPr b="0" i="1" lang="en-IN" sz="860" strike="noStrike" u="none">
                <a:solidFill>
                  <a:srgbClr val="475467"/>
                </a:solidFill>
                <a:effectLst/>
                <a:uFillTx/>
                <a:latin typeface="Arial"/>
                <a:ea typeface="Arial"/>
              </a:rPr>
              <a:t>Jaccard score = shared definition tokens divided by all unique definition tokens. Business-rule differences override the score.</a:t>
            </a:r>
            <a:endParaRPr b="0" lang="en-IN" sz="860" strike="noStrike" u="none">
              <a:solidFill>
                <a:srgbClr val="000000"/>
              </a:solidFill>
              <a:effectLst/>
              <a:uFillTx/>
              <a:latin typeface="Arial"/>
            </a:endParaRPr>
          </a:p>
        </p:txBody>
      </p:sp>
      <p:sp>
        <p:nvSpPr>
          <p:cNvPr id="93" name=""/>
          <p:cNvSpPr/>
          <p:nvPr/>
        </p:nvSpPr>
        <p:spPr>
          <a:xfrm>
            <a:off x="4219560" y="5372280"/>
            <a:ext cx="7429320" cy="256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350" strike="noStrike" u="none">
                <a:solidFill>
                  <a:srgbClr val="0078f0"/>
                </a:solidFill>
                <a:effectLst/>
                <a:uFillTx/>
                <a:latin typeface="Arial"/>
                <a:ea typeface="Arial"/>
              </a:rPr>
              <a:t>Business Outcomes</a:t>
            </a:r>
            <a:endParaRPr b="0" lang="en-IN" sz="1350" strike="noStrike" u="none">
              <a:solidFill>
                <a:srgbClr val="000000"/>
              </a:solidFill>
              <a:effectLst/>
              <a:uFillTx/>
              <a:latin typeface="Arial"/>
            </a:endParaRPr>
          </a:p>
        </p:txBody>
      </p:sp>
      <p:sp>
        <p:nvSpPr>
          <p:cNvPr id="94" name=""/>
          <p:cNvSpPr/>
          <p:nvPr/>
        </p:nvSpPr>
        <p:spPr>
          <a:xfrm>
            <a:off x="4219560" y="5638680"/>
            <a:ext cx="7429320" cy="360"/>
          </a:xfrm>
          <a:prstGeom prst="line">
            <a:avLst/>
          </a:prstGeom>
          <a:ln w="11430">
            <a:solidFill>
              <a:srgbClr val="1b2a78"/>
            </a:solidFill>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95" name=""/>
          <p:cNvSpPr/>
          <p:nvPr/>
        </p:nvSpPr>
        <p:spPr>
          <a:xfrm>
            <a:off x="4200480" y="5857560"/>
            <a:ext cx="360" cy="723960"/>
          </a:xfrm>
          <a:prstGeom prst="line">
            <a:avLst/>
          </a:prstGeom>
          <a:ln w="9525">
            <a:solidFill>
              <a:srgbClr val="8cc6ff"/>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6" name=""/>
          <p:cNvSpPr/>
          <p:nvPr/>
        </p:nvSpPr>
        <p:spPr>
          <a:xfrm>
            <a:off x="4334040" y="5915160"/>
            <a:ext cx="2333160" cy="609120"/>
          </a:xfrm>
          <a:prstGeom prst="rect">
            <a:avLst/>
          </a:prstGeom>
          <a:noFill/>
          <a:ln w="0">
            <a:noFill/>
          </a:ln>
        </p:spPr>
        <p:style>
          <a:lnRef idx="0"/>
          <a:fillRef idx="0"/>
          <a:effectRef idx="0"/>
          <a:fontRef idx="minor"/>
        </p:style>
        <p:txBody>
          <a:bodyPr lIns="0" rIns="0" tIns="0" bIns="0" anchor="t">
            <a:normAutofit lnSpcReduction="9999"/>
          </a:bodyPr>
          <a:p>
            <a:pPr>
              <a:lnSpc>
                <a:spcPct val="100000"/>
              </a:lnSpc>
            </a:pPr>
            <a:r>
              <a:rPr b="1" lang="en-IN" sz="1350" strike="noStrike" u="none">
                <a:solidFill>
                  <a:srgbClr val="101828"/>
                </a:solidFill>
                <a:effectLst/>
                <a:uFillTx/>
                <a:latin typeface="Arial"/>
                <a:ea typeface="Arial"/>
              </a:rPr>
              <a:t>Faster review</a:t>
            </a:r>
            <a:endParaRPr b="0" lang="en-IN" sz="1350" strike="noStrike" u="none">
              <a:solidFill>
                <a:srgbClr val="000000"/>
              </a:solidFill>
              <a:effectLst/>
              <a:uFillTx/>
              <a:latin typeface="Arial"/>
            </a:endParaRPr>
          </a:p>
          <a:p>
            <a:pPr>
              <a:lnSpc>
                <a:spcPct val="100000"/>
              </a:lnSpc>
            </a:pPr>
            <a:r>
              <a:rPr b="0" lang="en-IN" sz="1350" strike="noStrike" u="none">
                <a:solidFill>
                  <a:srgbClr val="101828"/>
                </a:solidFill>
                <a:effectLst/>
                <a:uFillTx/>
                <a:latin typeface="Arial"/>
                <a:ea typeface="Arial"/>
              </a:rPr>
              <a:t>Pairwise scoring replaces manual definition checks</a:t>
            </a:r>
            <a:endParaRPr b="0" lang="en-IN" sz="1350" strike="noStrike" u="none">
              <a:solidFill>
                <a:srgbClr val="000000"/>
              </a:solidFill>
              <a:effectLst/>
              <a:uFillTx/>
              <a:latin typeface="Arial"/>
            </a:endParaRPr>
          </a:p>
        </p:txBody>
      </p:sp>
      <p:sp>
        <p:nvSpPr>
          <p:cNvPr id="97" name=""/>
          <p:cNvSpPr/>
          <p:nvPr/>
        </p:nvSpPr>
        <p:spPr>
          <a:xfrm>
            <a:off x="6724440" y="5857560"/>
            <a:ext cx="360" cy="723960"/>
          </a:xfrm>
          <a:prstGeom prst="line">
            <a:avLst/>
          </a:prstGeom>
          <a:ln w="9525">
            <a:solidFill>
              <a:srgbClr val="8cc6ff"/>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98" name=""/>
          <p:cNvSpPr/>
          <p:nvPr/>
        </p:nvSpPr>
        <p:spPr>
          <a:xfrm>
            <a:off x="6858000" y="5915160"/>
            <a:ext cx="2333160" cy="609120"/>
          </a:xfrm>
          <a:prstGeom prst="rect">
            <a:avLst/>
          </a:prstGeom>
          <a:noFill/>
          <a:ln w="0">
            <a:noFill/>
          </a:ln>
        </p:spPr>
        <p:style>
          <a:lnRef idx="0"/>
          <a:fillRef idx="0"/>
          <a:effectRef idx="0"/>
          <a:fontRef idx="minor"/>
        </p:style>
        <p:txBody>
          <a:bodyPr lIns="0" rIns="0" tIns="0" bIns="0" anchor="t">
            <a:normAutofit lnSpcReduction="9999"/>
          </a:bodyPr>
          <a:p>
            <a:pPr>
              <a:lnSpc>
                <a:spcPct val="100000"/>
              </a:lnSpc>
            </a:pPr>
            <a:r>
              <a:rPr b="1" lang="en-IN" sz="1350" strike="noStrike" u="none">
                <a:solidFill>
                  <a:srgbClr val="101828"/>
                </a:solidFill>
                <a:effectLst/>
                <a:uFillTx/>
                <a:latin typeface="Arial"/>
                <a:ea typeface="Arial"/>
              </a:rPr>
              <a:t>Safer decisions</a:t>
            </a:r>
            <a:endParaRPr b="0" lang="en-IN" sz="1350" strike="noStrike" u="none">
              <a:solidFill>
                <a:srgbClr val="000000"/>
              </a:solidFill>
              <a:effectLst/>
              <a:uFillTx/>
              <a:latin typeface="Arial"/>
            </a:endParaRPr>
          </a:p>
          <a:p>
            <a:pPr>
              <a:lnSpc>
                <a:spcPct val="100000"/>
              </a:lnSpc>
            </a:pPr>
            <a:r>
              <a:rPr b="0" lang="en-IN" sz="1350" strike="noStrike" u="none">
                <a:solidFill>
                  <a:srgbClr val="101828"/>
                </a:solidFill>
                <a:effectLst/>
                <a:uFillTx/>
                <a:latin typeface="Arial"/>
                <a:ea typeface="Arial"/>
              </a:rPr>
              <a:t>Rule differences remain visible before cleanup</a:t>
            </a:r>
            <a:endParaRPr b="0" lang="en-IN" sz="1350" strike="noStrike" u="none">
              <a:solidFill>
                <a:srgbClr val="000000"/>
              </a:solidFill>
              <a:effectLst/>
              <a:uFillTx/>
              <a:latin typeface="Arial"/>
            </a:endParaRPr>
          </a:p>
        </p:txBody>
      </p:sp>
      <p:sp>
        <p:nvSpPr>
          <p:cNvPr id="99" name=""/>
          <p:cNvSpPr/>
          <p:nvPr/>
        </p:nvSpPr>
        <p:spPr>
          <a:xfrm>
            <a:off x="9248760" y="5857560"/>
            <a:ext cx="360" cy="723960"/>
          </a:xfrm>
          <a:prstGeom prst="line">
            <a:avLst/>
          </a:prstGeom>
          <a:ln w="9525">
            <a:solidFill>
              <a:srgbClr val="8cc6ff"/>
            </a:solidFill>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100" name=""/>
          <p:cNvSpPr/>
          <p:nvPr/>
        </p:nvSpPr>
        <p:spPr>
          <a:xfrm>
            <a:off x="9381960" y="5915160"/>
            <a:ext cx="2333160" cy="609120"/>
          </a:xfrm>
          <a:prstGeom prst="rect">
            <a:avLst/>
          </a:prstGeom>
          <a:noFill/>
          <a:ln w="0">
            <a:noFill/>
          </a:ln>
        </p:spPr>
        <p:style>
          <a:lnRef idx="0"/>
          <a:fillRef idx="0"/>
          <a:effectRef idx="0"/>
          <a:fontRef idx="minor"/>
        </p:style>
        <p:txBody>
          <a:bodyPr lIns="0" rIns="0" tIns="0" bIns="0" anchor="t">
            <a:normAutofit fontScale="92500" lnSpcReduction="9999"/>
          </a:bodyPr>
          <a:p>
            <a:pPr>
              <a:lnSpc>
                <a:spcPct val="100000"/>
              </a:lnSpc>
            </a:pPr>
            <a:r>
              <a:rPr b="1" lang="en-IN" sz="1350" strike="noStrike" u="none">
                <a:solidFill>
                  <a:srgbClr val="101828"/>
                </a:solidFill>
                <a:effectLst/>
                <a:uFillTx/>
                <a:latin typeface="Arial"/>
                <a:ea typeface="Arial"/>
              </a:rPr>
              <a:t>Clear governance</a:t>
            </a:r>
            <a:endParaRPr b="0" lang="en-IN" sz="1350" strike="noStrike" u="none">
              <a:solidFill>
                <a:srgbClr val="000000"/>
              </a:solidFill>
              <a:effectLst/>
              <a:uFillTx/>
              <a:latin typeface="Arial"/>
            </a:endParaRPr>
          </a:p>
          <a:p>
            <a:pPr>
              <a:lnSpc>
                <a:spcPct val="100000"/>
              </a:lnSpc>
            </a:pPr>
            <a:r>
              <a:rPr b="0" lang="en-IN" sz="1350" strike="noStrike" u="none">
                <a:solidFill>
                  <a:srgbClr val="101828"/>
                </a:solidFill>
                <a:effectLst/>
                <a:uFillTx/>
                <a:latin typeface="Arial"/>
                <a:ea typeface="Arial"/>
              </a:rPr>
              <a:t>Each pair keeps its score, differences and recommendation</a:t>
            </a:r>
            <a:endParaRPr b="0" lang="en-IN" sz="13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263520" y="189000"/>
            <a:ext cx="11688480" cy="953280"/>
          </a:xfrm>
          <a:prstGeom prst="rect">
            <a:avLst/>
          </a:prstGeom>
          <a:noFill/>
          <a:ln w="0">
            <a:noFill/>
          </a:ln>
        </p:spPr>
        <p:txBody>
          <a:bodyPr lIns="0" rIns="0" tIns="0" bIns="0" anchor="t">
            <a:normAutofit/>
          </a:bodyPr>
          <a:p>
            <a:pPr indent="0" defTabSz="914400">
              <a:lnSpc>
                <a:spcPct val="100000"/>
              </a:lnSpc>
              <a:buNone/>
            </a:pPr>
            <a:r>
              <a:rPr b="1" lang="en-IN" sz="2250" spc="-20" strike="noStrike" u="none">
                <a:solidFill>
                  <a:srgbClr val="0078f0"/>
                </a:solidFill>
                <a:effectLst/>
                <a:uFillTx/>
                <a:latin typeface="Arial"/>
                <a:ea typeface="Arial"/>
              </a:rPr>
              <a:t>Current State of Architecture</a:t>
            </a:r>
            <a:endParaRPr b="0" lang="en-IN" sz="2250" strike="noStrike" u="none">
              <a:solidFill>
                <a:schemeClr val="dk1"/>
              </a:solidFill>
              <a:effectLst/>
              <a:uFillTx/>
              <a:latin typeface="Arial"/>
            </a:endParaRPr>
          </a:p>
          <a:p>
            <a:pPr indent="0" defTabSz="914400">
              <a:lnSpc>
                <a:spcPct val="100000"/>
              </a:lnSpc>
              <a:buNone/>
            </a:pPr>
            <a:r>
              <a:rPr b="0" lang="en-IN" sz="2250" spc="-20" strike="noStrike" u="none">
                <a:solidFill>
                  <a:srgbClr val="111111"/>
                </a:solidFill>
                <a:effectLst/>
                <a:uFillTx/>
                <a:latin typeface="Arial"/>
                <a:ea typeface="Arial"/>
              </a:rPr>
              <a:t>CJA Segment Cleanup Python Application</a:t>
            </a:r>
            <a:endParaRPr b="0" lang="en-IN" sz="2250" strike="noStrike" u="none">
              <a:solidFill>
                <a:schemeClr val="dk1"/>
              </a:solidFill>
              <a:effectLst/>
              <a:uFillTx/>
              <a:latin typeface="Arial"/>
            </a:endParaRPr>
          </a:p>
        </p:txBody>
      </p:sp>
      <p:sp>
        <p:nvSpPr>
          <p:cNvPr id="102" name=""/>
          <p:cNvSpPr/>
          <p:nvPr/>
        </p:nvSpPr>
        <p:spPr>
          <a:xfrm>
            <a:off x="285840" y="1362240"/>
            <a:ext cx="2809440" cy="60912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050" strike="noStrike" u="none">
                <a:solidFill>
                  <a:srgbClr val="101828"/>
                </a:solidFill>
                <a:effectLst/>
                <a:uFillTx/>
                <a:latin typeface="Arial"/>
                <a:ea typeface="Arial"/>
              </a:rPr>
              <a:t>1.  Segment Fetcher</a:t>
            </a:r>
            <a:r>
              <a:rPr b="0" lang="en-IN" sz="1050" strike="noStrike" u="none">
                <a:solidFill>
                  <a:srgbClr val="101828"/>
                </a:solidFill>
                <a:effectLst/>
                <a:uFillTx/>
                <a:latin typeface="Arial"/>
                <a:ea typeface="Arial"/>
              </a:rPr>
              <a:t> reads Data Views and segment definitions from Adobe CJA.</a:t>
            </a:r>
            <a:endParaRPr b="0" lang="en-IN" sz="1050" strike="noStrike" u="none">
              <a:solidFill>
                <a:srgbClr val="000000"/>
              </a:solidFill>
              <a:effectLst/>
              <a:uFillTx/>
              <a:latin typeface="Arial"/>
            </a:endParaRPr>
          </a:p>
        </p:txBody>
      </p:sp>
      <p:sp>
        <p:nvSpPr>
          <p:cNvPr id="103" name=""/>
          <p:cNvSpPr/>
          <p:nvPr/>
        </p:nvSpPr>
        <p:spPr>
          <a:xfrm>
            <a:off x="285840" y="2028960"/>
            <a:ext cx="2809440" cy="60912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050" strike="noStrike" u="none">
                <a:solidFill>
                  <a:srgbClr val="101828"/>
                </a:solidFill>
                <a:effectLst/>
                <a:uFillTx/>
                <a:latin typeface="Arial"/>
                <a:ea typeface="Arial"/>
              </a:rPr>
              <a:t>2.  Definition Normalizer</a:t>
            </a:r>
            <a:r>
              <a:rPr b="0" lang="en-IN" sz="1050" strike="noStrike" u="none">
                <a:solidFill>
                  <a:srgbClr val="101828"/>
                </a:solidFill>
                <a:effectLst/>
                <a:uFillTx/>
                <a:latin typeface="Arial"/>
                <a:ea typeface="Arial"/>
              </a:rPr>
              <a:t> canonicalises definition JSON and converts it into comparable tokens.</a:t>
            </a:r>
            <a:endParaRPr b="0" lang="en-IN" sz="1050" strike="noStrike" u="none">
              <a:solidFill>
                <a:srgbClr val="000000"/>
              </a:solidFill>
              <a:effectLst/>
              <a:uFillTx/>
              <a:latin typeface="Arial"/>
            </a:endParaRPr>
          </a:p>
        </p:txBody>
      </p:sp>
      <p:sp>
        <p:nvSpPr>
          <p:cNvPr id="104" name=""/>
          <p:cNvSpPr/>
          <p:nvPr/>
        </p:nvSpPr>
        <p:spPr>
          <a:xfrm>
            <a:off x="285840" y="2695680"/>
            <a:ext cx="2809440" cy="60912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050" strike="noStrike" u="none">
                <a:solidFill>
                  <a:srgbClr val="101828"/>
                </a:solidFill>
                <a:effectLst/>
                <a:uFillTx/>
                <a:latin typeface="Arial"/>
                <a:ea typeface="Arial"/>
              </a:rPr>
              <a:t>3.  Similarity Engine</a:t>
            </a:r>
            <a:r>
              <a:rPr b="0" lang="en-IN" sz="1050" strike="noStrike" u="none">
                <a:solidFill>
                  <a:srgbClr val="101828"/>
                </a:solidFill>
                <a:effectLst/>
                <a:uFillTx/>
                <a:latin typeface="Arial"/>
                <a:ea typeface="Arial"/>
              </a:rPr>
              <a:t> calculates the Jaccard score and lists field-level differences.</a:t>
            </a:r>
            <a:endParaRPr b="0" lang="en-IN" sz="1050" strike="noStrike" u="none">
              <a:solidFill>
                <a:srgbClr val="000000"/>
              </a:solidFill>
              <a:effectLst/>
              <a:uFillTx/>
              <a:latin typeface="Arial"/>
            </a:endParaRPr>
          </a:p>
        </p:txBody>
      </p:sp>
      <p:sp>
        <p:nvSpPr>
          <p:cNvPr id="105" name=""/>
          <p:cNvSpPr/>
          <p:nvPr/>
        </p:nvSpPr>
        <p:spPr>
          <a:xfrm>
            <a:off x="285840" y="3362400"/>
            <a:ext cx="2809440" cy="60912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050" strike="noStrike" u="none">
                <a:solidFill>
                  <a:srgbClr val="101828"/>
                </a:solidFill>
                <a:effectLst/>
                <a:uFillTx/>
                <a:latin typeface="Arial"/>
                <a:ea typeface="Arial"/>
              </a:rPr>
              <a:t>4.  Classification Engine</a:t>
            </a:r>
            <a:r>
              <a:rPr b="0" lang="en-IN" sz="1050" strike="noStrike" u="none">
                <a:solidFill>
                  <a:srgbClr val="101828"/>
                </a:solidFill>
                <a:effectLst/>
                <a:uFillTx/>
                <a:latin typeface="Arial"/>
                <a:ea typeface="Arial"/>
              </a:rPr>
              <a:t> assigns Exact Duplicate, Near Duplicate or Review Required.</a:t>
            </a:r>
            <a:endParaRPr b="0" lang="en-IN" sz="1050" strike="noStrike" u="none">
              <a:solidFill>
                <a:srgbClr val="000000"/>
              </a:solidFill>
              <a:effectLst/>
              <a:uFillTx/>
              <a:latin typeface="Arial"/>
            </a:endParaRPr>
          </a:p>
        </p:txBody>
      </p:sp>
      <p:sp>
        <p:nvSpPr>
          <p:cNvPr id="106" name=""/>
          <p:cNvSpPr/>
          <p:nvPr/>
        </p:nvSpPr>
        <p:spPr>
          <a:xfrm>
            <a:off x="285840" y="4029120"/>
            <a:ext cx="2809440" cy="60912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050" strike="noStrike" u="none">
                <a:solidFill>
                  <a:srgbClr val="101828"/>
                </a:solidFill>
                <a:effectLst/>
                <a:uFillTx/>
                <a:latin typeface="Arial"/>
                <a:ea typeface="Arial"/>
              </a:rPr>
              <a:t>5.  Business-rule checks</a:t>
            </a:r>
            <a:r>
              <a:rPr b="0" lang="en-IN" sz="1050" strike="noStrike" u="none">
                <a:solidFill>
                  <a:srgbClr val="101828"/>
                </a:solidFill>
                <a:effectLst/>
                <a:uFillTx/>
                <a:latin typeface="Arial"/>
                <a:ea typeface="Arial"/>
              </a:rPr>
              <a:t> flag numeric thresholds, operators and logic differences that need review.</a:t>
            </a:r>
            <a:endParaRPr b="0" lang="en-IN" sz="1050" strike="noStrike" u="none">
              <a:solidFill>
                <a:srgbClr val="000000"/>
              </a:solidFill>
              <a:effectLst/>
              <a:uFillTx/>
              <a:latin typeface="Arial"/>
            </a:endParaRPr>
          </a:p>
        </p:txBody>
      </p:sp>
      <p:sp>
        <p:nvSpPr>
          <p:cNvPr id="107" name=""/>
          <p:cNvSpPr/>
          <p:nvPr/>
        </p:nvSpPr>
        <p:spPr>
          <a:xfrm>
            <a:off x="285840" y="4695840"/>
            <a:ext cx="2809440" cy="60912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050" strike="noStrike" u="none">
                <a:solidFill>
                  <a:srgbClr val="101828"/>
                </a:solidFill>
                <a:effectLst/>
                <a:uFillTx/>
                <a:latin typeface="Arial"/>
                <a:ea typeface="Arial"/>
              </a:rPr>
              <a:t>6.  HTML Dashboard Generator</a:t>
            </a:r>
            <a:r>
              <a:rPr b="0" lang="en-IN" sz="1050" strike="noStrike" u="none">
                <a:solidFill>
                  <a:srgbClr val="101828"/>
                </a:solidFill>
                <a:effectLst/>
                <a:uFillTx/>
                <a:latin typeface="Arial"/>
                <a:ea typeface="Arial"/>
              </a:rPr>
              <a:t> groups findings and shows usage, recommendations and export options.</a:t>
            </a:r>
            <a:endParaRPr b="0" lang="en-IN" sz="1050" strike="noStrike" u="none">
              <a:solidFill>
                <a:srgbClr val="000000"/>
              </a:solidFill>
              <a:effectLst/>
              <a:uFillTx/>
              <a:latin typeface="Arial"/>
            </a:endParaRPr>
          </a:p>
        </p:txBody>
      </p:sp>
      <p:sp>
        <p:nvSpPr>
          <p:cNvPr id="108" name=""/>
          <p:cNvSpPr/>
          <p:nvPr/>
        </p:nvSpPr>
        <p:spPr>
          <a:xfrm>
            <a:off x="285840" y="5362560"/>
            <a:ext cx="2809440" cy="60912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050" strike="noStrike" u="none">
                <a:solidFill>
                  <a:srgbClr val="101828"/>
                </a:solidFill>
                <a:effectLst/>
                <a:uFillTx/>
                <a:latin typeface="Arial"/>
                <a:ea typeface="Arial"/>
              </a:rPr>
              <a:t>7.  API requests</a:t>
            </a:r>
            <a:r>
              <a:rPr b="0" lang="en-IN" sz="1050" strike="noStrike" u="none">
                <a:solidFill>
                  <a:srgbClr val="101828"/>
                </a:solidFill>
                <a:effectLst/>
                <a:uFillTx/>
                <a:latin typeface="Arial"/>
                <a:ea typeface="Arial"/>
              </a:rPr>
              <a:t> use OAuth Server-to-Server authentication to retrieve CJA data and responses.</a:t>
            </a:r>
            <a:endParaRPr b="0" lang="en-IN" sz="1050" strike="noStrike" u="none">
              <a:solidFill>
                <a:srgbClr val="000000"/>
              </a:solidFill>
              <a:effectLst/>
              <a:uFillTx/>
              <a:latin typeface="Arial"/>
            </a:endParaRPr>
          </a:p>
        </p:txBody>
      </p:sp>
      <p:sp>
        <p:nvSpPr>
          <p:cNvPr id="109" name=""/>
          <p:cNvSpPr/>
          <p:nvPr/>
        </p:nvSpPr>
        <p:spPr>
          <a:xfrm>
            <a:off x="3286080" y="1333440"/>
            <a:ext cx="6333840" cy="4857480"/>
          </a:xfrm>
          <a:prstGeom prst="roundRect">
            <a:avLst>
              <a:gd name="adj" fmla="val 1765"/>
            </a:avLst>
          </a:prstGeom>
          <a:solidFill>
            <a:srgbClr val="f6f9fc"/>
          </a:solidFill>
          <a:ln w="10478">
            <a:solidFill>
              <a:srgbClr val="b6c9dc"/>
            </a:solidFill>
            <a:round/>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10" name=""/>
          <p:cNvSpPr/>
          <p:nvPr/>
        </p:nvSpPr>
        <p:spPr>
          <a:xfrm>
            <a:off x="3429000" y="1428840"/>
            <a:ext cx="6048000" cy="2473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200" strike="noStrike" u="none">
                <a:solidFill>
                  <a:srgbClr val="172b4d"/>
                </a:solidFill>
                <a:effectLst/>
                <a:uFillTx/>
                <a:latin typeface="Arial"/>
                <a:ea typeface="Arial"/>
              </a:rPr>
              <a:t>CJA Segment Cleanup Tool</a:t>
            </a:r>
            <a:endParaRPr b="0" lang="en-IN" sz="1200" strike="noStrike" u="none">
              <a:solidFill>
                <a:srgbClr val="000000"/>
              </a:solidFill>
              <a:effectLst/>
              <a:uFillTx/>
              <a:latin typeface="Arial"/>
            </a:endParaRPr>
          </a:p>
        </p:txBody>
      </p:sp>
      <p:sp>
        <p:nvSpPr>
          <p:cNvPr id="111" name=""/>
          <p:cNvSpPr/>
          <p:nvPr/>
        </p:nvSpPr>
        <p:spPr>
          <a:xfrm>
            <a:off x="3476520" y="1743120"/>
            <a:ext cx="5952600" cy="456840"/>
          </a:xfrm>
          <a:prstGeom prst="roundRect">
            <a:avLst>
              <a:gd name="adj" fmla="val 12500"/>
            </a:avLst>
          </a:prstGeom>
          <a:solidFill>
            <a:srgbClr val="ffffff"/>
          </a:solidFill>
          <a:ln w="7620">
            <a:solidFill>
              <a:srgbClr val="cdd8e4"/>
            </a:solidFill>
            <a:round/>
          </a:ln>
        </p:spPr>
        <p:style>
          <a:lnRef idx="0"/>
          <a:fillRef idx="0"/>
          <a:effectRef idx="0"/>
          <a:fontRef idx="minor"/>
        </p:style>
        <p:txBody>
          <a:bodyPr lIns="114480" rIns="114480" tIns="57240" bIns="57240" anchor="ctr">
            <a:noAutofit/>
          </a:bodyPr>
          <a:p>
            <a:pPr>
              <a:lnSpc>
                <a:spcPct val="100000"/>
              </a:lnSpc>
            </a:pPr>
            <a:r>
              <a:rPr b="0" i="1" lang="en-IN" sz="860" strike="noStrike" u="none">
                <a:solidFill>
                  <a:srgbClr val="24364b"/>
                </a:solidFill>
                <a:effectLst/>
                <a:uFillTx/>
                <a:latin typeface="Arial"/>
                <a:ea typeface="Arial"/>
              </a:rPr>
              <a:t>Trigger: "Run segment cleanup scan" (scheduled or on-demand)</a:t>
            </a:r>
            <a:endParaRPr b="0" lang="en-IN" sz="860" strike="noStrike" u="none">
              <a:solidFill>
                <a:srgbClr val="000000"/>
              </a:solidFill>
              <a:effectLst/>
              <a:uFillTx/>
              <a:latin typeface="Arial"/>
            </a:endParaRPr>
          </a:p>
        </p:txBody>
      </p:sp>
      <p:sp>
        <p:nvSpPr>
          <p:cNvPr id="112" name=""/>
          <p:cNvSpPr/>
          <p:nvPr/>
        </p:nvSpPr>
        <p:spPr>
          <a:xfrm>
            <a:off x="3429000" y="2276640"/>
            <a:ext cx="133308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900" strike="noStrike" u="none">
                <a:solidFill>
                  <a:srgbClr val="667085"/>
                </a:solidFill>
                <a:effectLst/>
                <a:uFillTx/>
                <a:latin typeface="Arial"/>
                <a:ea typeface="Arial"/>
              </a:rPr>
              <a:t>Backend</a:t>
            </a:r>
            <a:endParaRPr b="0" lang="en-IN" sz="900" strike="noStrike" u="none">
              <a:solidFill>
                <a:srgbClr val="000000"/>
              </a:solidFill>
              <a:effectLst/>
              <a:uFillTx/>
              <a:latin typeface="Arial"/>
            </a:endParaRPr>
          </a:p>
        </p:txBody>
      </p:sp>
      <p:sp>
        <p:nvSpPr>
          <p:cNvPr id="113" name=""/>
          <p:cNvSpPr/>
          <p:nvPr/>
        </p:nvSpPr>
        <p:spPr>
          <a:xfrm>
            <a:off x="9906120" y="2028960"/>
            <a:ext cx="1856880" cy="2857320"/>
          </a:xfrm>
          <a:prstGeom prst="roundRect">
            <a:avLst>
              <a:gd name="adj" fmla="val 4103"/>
            </a:avLst>
          </a:prstGeom>
          <a:solidFill>
            <a:srgbClr val="e5f4ea"/>
          </a:solidFill>
          <a:ln w="11430">
            <a:solidFill>
              <a:srgbClr val="4c9a68"/>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Adobe CJA API</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/data/dataviews</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/segments</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/projects</a:t>
            </a:r>
            <a:endParaRPr b="0" lang="en-IN" sz="1200" strike="noStrike" u="none">
              <a:solidFill>
                <a:srgbClr val="000000"/>
              </a:solidFill>
              <a:effectLst/>
              <a:uFillTx/>
              <a:latin typeface="Arial"/>
            </a:endParaRPr>
          </a:p>
          <a:p>
            <a:pPr algn="ctr">
              <a:lnSpc>
                <a:spcPct val="100000"/>
              </a:lnSpc>
            </a:pP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OAuth Server-to-Server</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Scoped read-only access</a:t>
            </a:r>
            <a:endParaRPr b="0" lang="en-IN" sz="1200" strike="noStrike" u="none">
              <a:solidFill>
                <a:srgbClr val="000000"/>
              </a:solidFill>
              <a:effectLst/>
              <a:uFillTx/>
              <a:latin typeface="Arial"/>
            </a:endParaRPr>
          </a:p>
        </p:txBody>
      </p:sp>
      <p:sp>
        <p:nvSpPr>
          <p:cNvPr id="114" name=""/>
          <p:cNvSpPr/>
          <p:nvPr/>
        </p:nvSpPr>
        <p:spPr>
          <a:xfrm>
            <a:off x="3714840" y="2590920"/>
            <a:ext cx="9000" cy="9000"/>
          </a:xfrm>
          <a:prstGeom prst="rect">
            <a:avLst/>
          </a:prstGeom>
          <a:noFill/>
          <a:ln w="0">
            <a:noFill/>
          </a:ln>
        </p:spPr>
        <p:style>
          <a:lnRef idx="0"/>
          <a:fillRef idx="0"/>
          <a:effectRef idx="0"/>
          <a:fontRef idx="minor"/>
        </p:style>
        <p:txBody>
          <a:bodyPr lIns="90000" rIns="90000" tIns="-35640" bIns="-35640" anchor="t">
            <a:noAutofit/>
          </a:bodyPr>
          <a:p>
            <a:endParaRPr b="0" lang="en-IN" sz="1800" strike="noStrike" u="none">
              <a:solidFill>
                <a:srgbClr val="000000"/>
              </a:solidFill>
              <a:effectLst/>
              <a:uFillTx/>
              <a:latin typeface="Arial"/>
            </a:endParaRPr>
          </a:p>
        </p:txBody>
      </p:sp>
      <p:sp>
        <p:nvSpPr>
          <p:cNvPr id="115" name=""/>
          <p:cNvSpPr/>
          <p:nvPr/>
        </p:nvSpPr>
        <p:spPr>
          <a:xfrm>
            <a:off x="9887040" y="2590920"/>
            <a:ext cx="9000" cy="9000"/>
          </a:xfrm>
          <a:prstGeom prst="rect">
            <a:avLst/>
          </a:prstGeom>
          <a:noFill/>
          <a:ln w="0">
            <a:noFill/>
          </a:ln>
        </p:spPr>
        <p:style>
          <a:lnRef idx="0"/>
          <a:fillRef idx="0"/>
          <a:effectRef idx="0"/>
          <a:fontRef idx="minor"/>
        </p:style>
        <p:txBody>
          <a:bodyPr lIns="90000" rIns="90000" tIns="-35640" bIns="-35640" anchor="t">
            <a:noAutofit/>
          </a:bodyPr>
          <a:p>
            <a:endParaRPr b="0" lang="en-IN" sz="1800" strike="noStrike" u="none">
              <a:solidFill>
                <a:srgbClr val="000000"/>
              </a:solidFill>
              <a:effectLst/>
              <a:uFillTx/>
              <a:latin typeface="Arial"/>
            </a:endParaRPr>
          </a:p>
        </p:txBody>
      </p:sp>
      <p:sp>
        <p:nvSpPr>
          <p:cNvPr id="116" name=""/>
          <p:cNvSpPr/>
          <p:nvPr/>
        </p:nvSpPr>
        <p:spPr>
          <a:xfrm>
            <a:off x="9887040" y="2771640"/>
            <a:ext cx="9000" cy="9000"/>
          </a:xfrm>
          <a:prstGeom prst="rect">
            <a:avLst/>
          </a:prstGeom>
          <a:noFill/>
          <a:ln w="0">
            <a:noFill/>
          </a:ln>
        </p:spPr>
        <p:style>
          <a:lnRef idx="0"/>
          <a:fillRef idx="0"/>
          <a:effectRef idx="0"/>
          <a:fontRef idx="minor"/>
        </p:style>
        <p:txBody>
          <a:bodyPr lIns="90000" rIns="90000" tIns="-35640" bIns="-35640" anchor="t">
            <a:noAutofit/>
          </a:bodyPr>
          <a:p>
            <a:endParaRPr b="0" lang="en-IN" sz="1800" strike="noStrike" u="none">
              <a:solidFill>
                <a:srgbClr val="000000"/>
              </a:solidFill>
              <a:effectLst/>
              <a:uFillTx/>
              <a:latin typeface="Arial"/>
            </a:endParaRPr>
          </a:p>
        </p:txBody>
      </p:sp>
      <p:sp>
        <p:nvSpPr>
          <p:cNvPr id="117" name=""/>
          <p:cNvSpPr/>
          <p:nvPr/>
        </p:nvSpPr>
        <p:spPr>
          <a:xfrm>
            <a:off x="3714840" y="2771640"/>
            <a:ext cx="9000" cy="9000"/>
          </a:xfrm>
          <a:prstGeom prst="rect">
            <a:avLst/>
          </a:prstGeom>
          <a:noFill/>
          <a:ln w="0">
            <a:noFill/>
          </a:ln>
        </p:spPr>
        <p:style>
          <a:lnRef idx="0"/>
          <a:fillRef idx="0"/>
          <a:effectRef idx="0"/>
          <a:fontRef idx="minor"/>
        </p:style>
        <p:txBody>
          <a:bodyPr lIns="90000" rIns="90000" tIns="-35640" bIns="-35640" anchor="t">
            <a:noAutofit/>
          </a:bodyPr>
          <a:p>
            <a:endParaRPr b="0" lang="en-IN" sz="1800" strike="noStrike" u="none">
              <a:solidFill>
                <a:srgbClr val="000000"/>
              </a:solidFill>
              <a:effectLst/>
              <a:uFillTx/>
              <a:latin typeface="Arial"/>
            </a:endParaRPr>
          </a:p>
        </p:txBody>
      </p:sp>
      <p:cxnSp>
        <p:nvCxnSpPr>
          <p:cNvPr id="118" name=""/>
          <p:cNvCxnSpPr>
            <a:stCxn id="114" idx="3"/>
            <a:endCxn id="115" idx="1"/>
          </p:cNvCxnSpPr>
          <p:nvPr/>
        </p:nvCxnSpPr>
        <p:spPr>
          <a:xfrm>
            <a:off x="3723840" y="2595240"/>
            <a:ext cx="6163560" cy="360"/>
          </a:xfrm>
          <a:prstGeom prst="straightConnector1">
            <a:avLst/>
          </a:prstGeom>
          <a:ln w="16193">
            <a:solidFill>
              <a:srgbClr val="3e6bff"/>
            </a:solidFill>
            <a:prstDash val="dash"/>
            <a:round/>
            <a:tailEnd len="sm" type="triangle" w="sm"/>
          </a:ln>
        </p:spPr>
      </p:cxnSp>
      <p:cxnSp>
        <p:nvCxnSpPr>
          <p:cNvPr id="119" name=""/>
          <p:cNvCxnSpPr>
            <a:stCxn id="116" idx="1"/>
            <a:endCxn id="117" idx="3"/>
          </p:cNvCxnSpPr>
          <p:nvPr/>
        </p:nvCxnSpPr>
        <p:spPr>
          <a:xfrm flipH="1">
            <a:off x="3723840" y="2775960"/>
            <a:ext cx="6163560" cy="360"/>
          </a:xfrm>
          <a:prstGeom prst="straightConnector1">
            <a:avLst/>
          </a:prstGeom>
          <a:ln w="16193">
            <a:solidFill>
              <a:srgbClr val="e53935"/>
            </a:solidFill>
            <a:prstDash val="dash"/>
            <a:round/>
            <a:tailEnd len="sm" type="triangle" w="sm"/>
          </a:ln>
        </p:spPr>
      </p:cxnSp>
      <p:sp>
        <p:nvSpPr>
          <p:cNvPr id="120" name=""/>
          <p:cNvSpPr/>
          <p:nvPr/>
        </p:nvSpPr>
        <p:spPr>
          <a:xfrm>
            <a:off x="6781680" y="2409840"/>
            <a:ext cx="1666440" cy="17100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IN" sz="640" strike="noStrike" u="none">
                <a:solidFill>
                  <a:srgbClr val="3e6bff"/>
                </a:solidFill>
                <a:effectLst/>
                <a:uFillTx/>
                <a:latin typeface="Arial"/>
                <a:ea typeface="Arial"/>
              </a:rPr>
              <a:t>POST API call to CJA</a:t>
            </a:r>
            <a:endParaRPr b="0" lang="en-IN" sz="640" strike="noStrike" u="none">
              <a:solidFill>
                <a:srgbClr val="000000"/>
              </a:solidFill>
              <a:effectLst/>
              <a:uFillTx/>
              <a:latin typeface="Arial"/>
            </a:endParaRPr>
          </a:p>
        </p:txBody>
      </p:sp>
      <p:sp>
        <p:nvSpPr>
          <p:cNvPr id="121" name=""/>
          <p:cNvSpPr/>
          <p:nvPr/>
        </p:nvSpPr>
        <p:spPr>
          <a:xfrm>
            <a:off x="6743880" y="2800440"/>
            <a:ext cx="1761840" cy="17100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IN" sz="640" strike="noStrike" u="none">
                <a:solidFill>
                  <a:srgbClr val="d32f2f"/>
                </a:solidFill>
                <a:effectLst/>
                <a:uFillTx/>
                <a:latin typeface="Arial"/>
                <a:ea typeface="Arial"/>
              </a:rPr>
              <a:t>GET API call / response</a:t>
            </a:r>
            <a:endParaRPr b="0" lang="en-IN" sz="640" strike="noStrike" u="none">
              <a:solidFill>
                <a:srgbClr val="000000"/>
              </a:solidFill>
              <a:effectLst/>
              <a:uFillTx/>
              <a:latin typeface="Arial"/>
            </a:endParaRPr>
          </a:p>
        </p:txBody>
      </p:sp>
      <p:sp>
        <p:nvSpPr>
          <p:cNvPr id="122" name=""/>
          <p:cNvSpPr/>
          <p:nvPr/>
        </p:nvSpPr>
        <p:spPr>
          <a:xfrm>
            <a:off x="3476520" y="3086280"/>
            <a:ext cx="1761840" cy="742680"/>
          </a:xfrm>
          <a:prstGeom prst="roundRect">
            <a:avLst>
              <a:gd name="adj" fmla="val 10256"/>
            </a:avLst>
          </a:prstGeom>
          <a:solidFill>
            <a:srgbClr val="ffffff"/>
          </a:solidFill>
          <a:ln w="11430">
            <a:solidFill>
              <a:srgbClr val="3e6bff"/>
            </a:solidFill>
            <a:round/>
          </a:ln>
        </p:spPr>
        <p:style>
          <a:lnRef idx="0"/>
          <a:fillRef idx="0"/>
          <a:effectRef idx="0"/>
          <a:fontRef idx="minor"/>
        </p:style>
        <p:txBody>
          <a:bodyPr lIns="95400" rIns="95400" tIns="57240" bIns="57240" anchor="ctr">
            <a:normAutofit fontScale="92500" lnSpcReduction="9999"/>
          </a:bodyPr>
          <a:p>
            <a:pPr algn="ctr">
              <a:lnSpc>
                <a:spcPct val="100000"/>
              </a:lnSpc>
            </a:pPr>
            <a:r>
              <a:rPr b="1" lang="en-IN" sz="1200" strike="noStrike" u="none">
                <a:solidFill>
                  <a:srgbClr val="102a43"/>
                </a:solidFill>
                <a:effectLst/>
                <a:uFillTx/>
                <a:latin typeface="Arial"/>
                <a:ea typeface="Arial"/>
              </a:rPr>
              <a:t>Segment Fetcher</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GET /segments</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Definitions, tags and compatibility</a:t>
            </a:r>
            <a:endParaRPr b="0" lang="en-IN" sz="1200" strike="noStrike" u="none">
              <a:solidFill>
                <a:srgbClr val="000000"/>
              </a:solidFill>
              <a:effectLst/>
              <a:uFillTx/>
              <a:latin typeface="Arial"/>
            </a:endParaRPr>
          </a:p>
        </p:txBody>
      </p:sp>
      <p:sp>
        <p:nvSpPr>
          <p:cNvPr id="123" name=""/>
          <p:cNvSpPr/>
          <p:nvPr/>
        </p:nvSpPr>
        <p:spPr>
          <a:xfrm>
            <a:off x="5477040" y="3086280"/>
            <a:ext cx="1761840" cy="742680"/>
          </a:xfrm>
          <a:prstGeom prst="roundRect">
            <a:avLst>
              <a:gd name="adj" fmla="val 10256"/>
            </a:avLst>
          </a:prstGeom>
          <a:solidFill>
            <a:srgbClr val="ffffff"/>
          </a:solidFill>
          <a:ln w="11430">
            <a:solidFill>
              <a:srgbClr val="3e6bff"/>
            </a:solidFill>
            <a:round/>
          </a:ln>
        </p:spPr>
        <p:style>
          <a:lnRef idx="0"/>
          <a:fillRef idx="0"/>
          <a:effectRef idx="0"/>
          <a:fontRef idx="minor"/>
        </p:style>
        <p:txBody>
          <a:bodyPr lIns="95400" rIns="95400" tIns="57240" bIns="57240" anchor="ctr">
            <a:normAutofit fontScale="92500" lnSpcReduction="9999"/>
          </a:bodyPr>
          <a:p>
            <a:pPr algn="ctr">
              <a:lnSpc>
                <a:spcPct val="100000"/>
              </a:lnSpc>
            </a:pPr>
            <a:r>
              <a:rPr b="1" lang="en-IN" sz="1200" strike="noStrike" u="none">
                <a:solidFill>
                  <a:srgbClr val="102a43"/>
                </a:solidFill>
                <a:effectLst/>
                <a:uFillTx/>
                <a:latin typeface="Arial"/>
                <a:ea typeface="Arial"/>
              </a:rPr>
              <a:t>Definition Normalizer</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Canonicalises and tokenises definition JSON</a:t>
            </a:r>
            <a:endParaRPr b="0" lang="en-IN" sz="1200" strike="noStrike" u="none">
              <a:solidFill>
                <a:srgbClr val="000000"/>
              </a:solidFill>
              <a:effectLst/>
              <a:uFillTx/>
              <a:latin typeface="Arial"/>
            </a:endParaRPr>
          </a:p>
        </p:txBody>
      </p:sp>
      <p:sp>
        <p:nvSpPr>
          <p:cNvPr id="124" name=""/>
          <p:cNvSpPr/>
          <p:nvPr/>
        </p:nvSpPr>
        <p:spPr>
          <a:xfrm>
            <a:off x="7477200" y="3086280"/>
            <a:ext cx="1761840" cy="742680"/>
          </a:xfrm>
          <a:prstGeom prst="roundRect">
            <a:avLst>
              <a:gd name="adj" fmla="val 10256"/>
            </a:avLst>
          </a:prstGeom>
          <a:solidFill>
            <a:srgbClr val="ffffff"/>
          </a:solidFill>
          <a:ln w="11430">
            <a:solidFill>
              <a:srgbClr val="3e6bff"/>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Similarity Engine</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Jaccard score and field-level differences</a:t>
            </a:r>
            <a:endParaRPr b="0" lang="en-IN" sz="1200" strike="noStrike" u="none">
              <a:solidFill>
                <a:srgbClr val="000000"/>
              </a:solidFill>
              <a:effectLst/>
              <a:uFillTx/>
              <a:latin typeface="Arial"/>
            </a:endParaRPr>
          </a:p>
        </p:txBody>
      </p:sp>
      <p:sp>
        <p:nvSpPr>
          <p:cNvPr id="125" name=""/>
          <p:cNvSpPr/>
          <p:nvPr/>
        </p:nvSpPr>
        <p:spPr>
          <a:xfrm>
            <a:off x="3476520" y="4143240"/>
            <a:ext cx="5762160" cy="514080"/>
          </a:xfrm>
          <a:prstGeom prst="roundRect">
            <a:avLst>
              <a:gd name="adj" fmla="val 14815"/>
            </a:avLst>
          </a:prstGeom>
          <a:solidFill>
            <a:srgbClr val="ffffff"/>
          </a:solidFill>
          <a:ln w="11430">
            <a:solidFill>
              <a:srgbClr val="3e6bff"/>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Classification Engine</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Exact Duplicate / Near Duplicate / Review Required</a:t>
            </a:r>
            <a:endParaRPr b="0" lang="en-IN" sz="1200" strike="noStrike" u="none">
              <a:solidFill>
                <a:srgbClr val="000000"/>
              </a:solidFill>
              <a:effectLst/>
              <a:uFillTx/>
              <a:latin typeface="Arial"/>
            </a:endParaRPr>
          </a:p>
        </p:txBody>
      </p:sp>
      <p:sp>
        <p:nvSpPr>
          <p:cNvPr id="126" name=""/>
          <p:cNvSpPr/>
          <p:nvPr/>
        </p:nvSpPr>
        <p:spPr>
          <a:xfrm>
            <a:off x="3429000" y="4762440"/>
            <a:ext cx="1047240" cy="1998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900" strike="noStrike" u="none">
                <a:solidFill>
                  <a:srgbClr val="667085"/>
                </a:solidFill>
                <a:effectLst/>
                <a:uFillTx/>
                <a:latin typeface="Arial"/>
                <a:ea typeface="Arial"/>
              </a:rPr>
              <a:t>Output</a:t>
            </a:r>
            <a:endParaRPr b="0" lang="en-IN" sz="900" strike="noStrike" u="none">
              <a:solidFill>
                <a:srgbClr val="000000"/>
              </a:solidFill>
              <a:effectLst/>
              <a:uFillTx/>
              <a:latin typeface="Arial"/>
            </a:endParaRPr>
          </a:p>
        </p:txBody>
      </p:sp>
      <p:sp>
        <p:nvSpPr>
          <p:cNvPr id="127" name=""/>
          <p:cNvSpPr/>
          <p:nvPr/>
        </p:nvSpPr>
        <p:spPr>
          <a:xfrm>
            <a:off x="3476520" y="5000760"/>
            <a:ext cx="5762160" cy="875880"/>
          </a:xfrm>
          <a:prstGeom prst="roundRect">
            <a:avLst>
              <a:gd name="adj" fmla="val 8696"/>
            </a:avLst>
          </a:prstGeom>
          <a:solidFill>
            <a:srgbClr val="ffffff"/>
          </a:solidFill>
          <a:ln w="11430">
            <a:solidFill>
              <a:srgbClr val="cdd8e4"/>
            </a:solidFill>
            <a:round/>
          </a:ln>
        </p:spPr>
        <p:style>
          <a:lnRef idx="0"/>
          <a:fillRef idx="0"/>
          <a:effectRef idx="0"/>
          <a:fontRef idx="minor"/>
        </p:style>
        <p:txBody>
          <a:bodyPr lIns="95400" rIns="95400" tIns="57240" bIns="57240" anchor="ctr">
            <a:normAutofit/>
          </a:bodyPr>
          <a:p>
            <a:pPr algn="ctr">
              <a:lnSpc>
                <a:spcPct val="100000"/>
              </a:lnSpc>
            </a:pPr>
            <a:r>
              <a:rPr b="1" lang="en-IN" sz="1200" strike="noStrike" u="none">
                <a:solidFill>
                  <a:srgbClr val="102a43"/>
                </a:solidFill>
                <a:effectLst/>
                <a:uFillTx/>
                <a:latin typeface="Arial"/>
                <a:ea typeface="Arial"/>
              </a:rPr>
              <a:t>HTML Dashboard Generator</a:t>
            </a:r>
            <a:endParaRPr b="0" lang="en-IN" sz="1200" strike="noStrike" u="none">
              <a:solidFill>
                <a:srgbClr val="000000"/>
              </a:solidFill>
              <a:effectLst/>
              <a:uFillTx/>
              <a:latin typeface="Arial"/>
            </a:endParaRPr>
          </a:p>
          <a:p>
            <a:pPr algn="ctr">
              <a:lnSpc>
                <a:spcPct val="100000"/>
              </a:lnSpc>
            </a:pPr>
            <a:r>
              <a:rPr b="0" lang="en-IN" sz="1200" strike="noStrike" u="none">
                <a:solidFill>
                  <a:srgbClr val="486581"/>
                </a:solidFill>
                <a:effectLst/>
                <a:uFillTx/>
                <a:latin typeface="Arial"/>
                <a:ea typeface="Arial"/>
              </a:rPr>
              <a:t>Summary cards, cleanup overview, detailed findings and per-pair recommendation</a:t>
            </a:r>
            <a:endParaRPr b="0" lang="en-IN" sz="1200" strike="noStrike" u="none">
              <a:solidFill>
                <a:srgbClr val="000000"/>
              </a:solidFill>
              <a:effectLst/>
              <a:uFillTx/>
              <a:latin typeface="Arial"/>
            </a:endParaRPr>
          </a:p>
        </p:txBody>
      </p:sp>
      <p:cxnSp>
        <p:nvCxnSpPr>
          <p:cNvPr id="128" name=""/>
          <p:cNvCxnSpPr>
            <a:stCxn id="122" idx="3"/>
            <a:endCxn id="123" idx="1"/>
          </p:cNvCxnSpPr>
          <p:nvPr/>
        </p:nvCxnSpPr>
        <p:spPr>
          <a:xfrm>
            <a:off x="5238360" y="3457440"/>
            <a:ext cx="239040" cy="360"/>
          </a:xfrm>
          <a:prstGeom prst="straightConnector1">
            <a:avLst/>
          </a:prstGeom>
          <a:ln w="17145">
            <a:solidFill>
              <a:srgbClr val="3e6bff"/>
            </a:solidFill>
            <a:round/>
            <a:tailEnd len="sm" type="triangle" w="sm"/>
          </a:ln>
        </p:spPr>
      </p:cxnSp>
      <p:cxnSp>
        <p:nvCxnSpPr>
          <p:cNvPr id="129" name=""/>
          <p:cNvCxnSpPr>
            <a:stCxn id="123" idx="3"/>
            <a:endCxn id="124" idx="1"/>
          </p:cNvCxnSpPr>
          <p:nvPr/>
        </p:nvCxnSpPr>
        <p:spPr>
          <a:xfrm>
            <a:off x="7238880" y="3457440"/>
            <a:ext cx="238680" cy="360"/>
          </a:xfrm>
          <a:prstGeom prst="straightConnector1">
            <a:avLst/>
          </a:prstGeom>
          <a:ln w="17145">
            <a:solidFill>
              <a:srgbClr val="3e6bff"/>
            </a:solidFill>
            <a:round/>
            <a:tailEnd len="sm" type="triangle" w="sm"/>
          </a:ln>
        </p:spPr>
      </p:cxnSp>
      <p:cxnSp>
        <p:nvCxnSpPr>
          <p:cNvPr id="130" name=""/>
          <p:cNvCxnSpPr>
            <a:stCxn id="123" idx="2"/>
            <a:endCxn id="125" idx="0"/>
          </p:cNvCxnSpPr>
          <p:nvPr/>
        </p:nvCxnSpPr>
        <p:spPr>
          <a:xfrm flipH="1">
            <a:off x="6357600" y="3828960"/>
            <a:ext cx="720" cy="314640"/>
          </a:xfrm>
          <a:prstGeom prst="straightConnector1">
            <a:avLst/>
          </a:prstGeom>
          <a:ln w="17145">
            <a:solidFill>
              <a:srgbClr val="3e6bff"/>
            </a:solidFill>
            <a:round/>
            <a:tailEnd len="sm" type="triangle" w="sm"/>
          </a:ln>
        </p:spPr>
      </p:cxnSp>
      <p:cxnSp>
        <p:nvCxnSpPr>
          <p:cNvPr id="131" name=""/>
          <p:cNvCxnSpPr>
            <a:stCxn id="125" idx="2"/>
            <a:endCxn id="127" idx="0"/>
          </p:cNvCxnSpPr>
          <p:nvPr/>
        </p:nvCxnSpPr>
        <p:spPr>
          <a:xfrm>
            <a:off x="6357600" y="4657320"/>
            <a:ext cx="360" cy="343800"/>
          </a:xfrm>
          <a:prstGeom prst="straightConnector1">
            <a:avLst/>
          </a:prstGeom>
          <a:ln w="17145">
            <a:solidFill>
              <a:srgbClr val="3e6bff"/>
            </a:solidFill>
            <a:round/>
            <a:tailEnd len="sm" type="triangle" w="sm"/>
          </a:ln>
        </p:spPr>
      </p:cxnSp>
      <p:sp>
        <p:nvSpPr>
          <p:cNvPr id="132" name=""/>
          <p:cNvSpPr/>
          <p:nvPr/>
        </p:nvSpPr>
        <p:spPr>
          <a:xfrm>
            <a:off x="10287000" y="790560"/>
            <a:ext cx="1476000" cy="171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710" strike="noStrike" u="none">
                <a:solidFill>
                  <a:srgbClr val="667085"/>
                </a:solidFill>
                <a:effectLst/>
                <a:uFillTx/>
                <a:latin typeface="Arial"/>
                <a:ea typeface="Arial"/>
              </a:rPr>
              <a:t>POST API call to CJA</a:t>
            </a:r>
            <a:endParaRPr b="0" lang="en-IN" sz="710" strike="noStrike" u="none">
              <a:solidFill>
                <a:srgbClr val="000000"/>
              </a:solidFill>
              <a:effectLst/>
              <a:uFillTx/>
              <a:latin typeface="Arial"/>
            </a:endParaRPr>
          </a:p>
        </p:txBody>
      </p:sp>
      <p:sp>
        <p:nvSpPr>
          <p:cNvPr id="133" name=""/>
          <p:cNvSpPr/>
          <p:nvPr/>
        </p:nvSpPr>
        <p:spPr>
          <a:xfrm>
            <a:off x="9905760" y="876240"/>
            <a:ext cx="304920" cy="360"/>
          </a:xfrm>
          <a:prstGeom prst="line">
            <a:avLst/>
          </a:prstGeom>
          <a:ln w="16193">
            <a:solidFill>
              <a:srgbClr val="3e6bff"/>
            </a:solidFill>
            <a:prstDash val="dash"/>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134" name=""/>
          <p:cNvSpPr/>
          <p:nvPr/>
        </p:nvSpPr>
        <p:spPr>
          <a:xfrm>
            <a:off x="10287000" y="981000"/>
            <a:ext cx="1476000" cy="171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710" strike="noStrike" u="none">
                <a:solidFill>
                  <a:srgbClr val="667085"/>
                </a:solidFill>
                <a:effectLst/>
                <a:uFillTx/>
                <a:latin typeface="Arial"/>
                <a:ea typeface="Arial"/>
              </a:rPr>
              <a:t>GET API call / response</a:t>
            </a:r>
            <a:endParaRPr b="0" lang="en-IN" sz="710" strike="noStrike" u="none">
              <a:solidFill>
                <a:srgbClr val="000000"/>
              </a:solidFill>
              <a:effectLst/>
              <a:uFillTx/>
              <a:latin typeface="Arial"/>
            </a:endParaRPr>
          </a:p>
        </p:txBody>
      </p:sp>
      <p:sp>
        <p:nvSpPr>
          <p:cNvPr id="135" name=""/>
          <p:cNvSpPr/>
          <p:nvPr/>
        </p:nvSpPr>
        <p:spPr>
          <a:xfrm>
            <a:off x="9905760" y="1066680"/>
            <a:ext cx="304920" cy="360"/>
          </a:xfrm>
          <a:prstGeom prst="line">
            <a:avLst/>
          </a:prstGeom>
          <a:ln w="16193">
            <a:solidFill>
              <a:srgbClr val="e53935"/>
            </a:solidFill>
            <a:prstDash val="dash"/>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
        <p:nvSpPr>
          <p:cNvPr id="136" name=""/>
          <p:cNvSpPr/>
          <p:nvPr/>
        </p:nvSpPr>
        <p:spPr>
          <a:xfrm>
            <a:off x="10287000" y="1171440"/>
            <a:ext cx="1476000" cy="171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710" strike="noStrike" u="none">
                <a:solidFill>
                  <a:srgbClr val="667085"/>
                </a:solidFill>
                <a:effectLst/>
                <a:uFillTx/>
                <a:latin typeface="Arial"/>
                <a:ea typeface="Arial"/>
              </a:rPr>
              <a:t>Internal data flow</a:t>
            </a:r>
            <a:endParaRPr b="0" lang="en-IN" sz="710" strike="noStrike" u="none">
              <a:solidFill>
                <a:srgbClr val="000000"/>
              </a:solidFill>
              <a:effectLst/>
              <a:uFillTx/>
              <a:latin typeface="Arial"/>
            </a:endParaRPr>
          </a:p>
        </p:txBody>
      </p:sp>
      <p:sp>
        <p:nvSpPr>
          <p:cNvPr id="137" name=""/>
          <p:cNvSpPr/>
          <p:nvPr/>
        </p:nvSpPr>
        <p:spPr>
          <a:xfrm>
            <a:off x="9905760" y="1257120"/>
            <a:ext cx="304920" cy="360"/>
          </a:xfrm>
          <a:prstGeom prst="line">
            <a:avLst/>
          </a:prstGeom>
          <a:ln w="16193">
            <a:solidFill>
              <a:srgbClr val="3e6bff"/>
            </a:solidFill>
            <a:round/>
          </a:ln>
        </p:spPr>
        <p:style>
          <a:lnRef idx="0"/>
          <a:fillRef idx="0"/>
          <a:effectRef idx="0"/>
          <a:fontRef idx="minor"/>
        </p:style>
        <p:txBody>
          <a:bodyPr lIns="90000" rIns="90000" tIns="-44640" bIns="-44640" anchor="t" anchorCtr="1">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263160" y="189000"/>
            <a:ext cx="11688120" cy="817200"/>
          </a:xfrm>
          <a:prstGeom prst="rect">
            <a:avLst/>
          </a:prstGeom>
          <a:noFill/>
          <a:ln w="0">
            <a:noFill/>
          </a:ln>
        </p:spPr>
        <p:txBody>
          <a:bodyPr lIns="72000" rIns="72000" tIns="0" bIns="0" anchor="ctr">
            <a:noAutofit/>
          </a:bodyPr>
          <a:p>
            <a:pPr indent="0" defTabSz="914400">
              <a:lnSpc>
                <a:spcPct val="100000"/>
              </a:lnSpc>
              <a:buNone/>
            </a:pPr>
            <a:r>
              <a:rPr b="0" lang="en-IN" sz="3230" spc="-20" strike="noStrike" u="none">
                <a:solidFill>
                  <a:srgbClr val="111111"/>
                </a:solidFill>
                <a:effectLst/>
                <a:uFillTx/>
                <a:latin typeface="Arial"/>
                <a:ea typeface="Arial"/>
              </a:rPr>
              <a:t>Demo</a:t>
            </a:r>
            <a:endParaRPr b="0" lang="en-IN" sz="3230" strike="noStrike" u="none">
              <a:solidFill>
                <a:schemeClr val="dk1"/>
              </a:solidFill>
              <a:effectLst/>
              <a:uFillTx/>
              <a:latin typeface="Arial"/>
            </a:endParaRPr>
          </a:p>
        </p:txBody>
      </p:sp>
      <p:sp>
        <p:nvSpPr>
          <p:cNvPr id="139" name=""/>
          <p:cNvSpPr/>
          <p:nvPr/>
        </p:nvSpPr>
        <p:spPr>
          <a:xfrm>
            <a:off x="419040" y="1066680"/>
            <a:ext cx="10667520" cy="361440"/>
          </a:xfrm>
          <a:prstGeom prst="rect">
            <a:avLst/>
          </a:prstGeom>
          <a:noFill/>
          <a:ln w="0">
            <a:noFill/>
          </a:ln>
        </p:spPr>
        <p:style>
          <a:lnRef idx="0"/>
          <a:fillRef idx="0"/>
          <a:effectRef idx="0"/>
          <a:fontRef idx="minor"/>
        </p:style>
        <p:txBody>
          <a:bodyPr lIns="0" rIns="0" tIns="0" bIns="0" anchor="t">
            <a:normAutofit/>
          </a:bodyPr>
          <a:p>
            <a:pPr>
              <a:lnSpc>
                <a:spcPct val="100000"/>
              </a:lnSpc>
            </a:pPr>
            <a:r>
              <a:rPr b="0" lang="en-IN" sz="1800" strike="noStrike" u="none">
                <a:solidFill>
                  <a:srgbClr val="172b4d"/>
                </a:solidFill>
                <a:effectLst/>
                <a:uFillTx/>
                <a:latin typeface="Arial"/>
                <a:ea typeface="Arial"/>
              </a:rPr>
              <a:t>Select a Data View, generate the report and review grouped findings</a:t>
            </a:r>
            <a:endParaRPr b="0" lang="en-IN" sz="1800" strike="noStrike" u="none">
              <a:solidFill>
                <a:srgbClr val="000000"/>
              </a:solidFill>
              <a:effectLst/>
              <a:uFillTx/>
              <a:latin typeface="Arial"/>
            </a:endParaRPr>
          </a:p>
        </p:txBody>
      </p:sp>
      <p:sp>
        <p:nvSpPr>
          <p:cNvPr id="140" name=""/>
          <p:cNvSpPr/>
          <p:nvPr/>
        </p:nvSpPr>
        <p:spPr>
          <a:xfrm>
            <a:off x="419040" y="1619280"/>
            <a:ext cx="7191000" cy="4171680"/>
          </a:xfrm>
          <a:prstGeom prst="rect">
            <a:avLst/>
          </a:prstGeom>
          <a:solidFill>
            <a:srgbClr val="f7f9fc"/>
          </a:solidFill>
          <a:ln w="9525">
            <a:solidFill>
              <a:srgbClr val="aab7c4"/>
            </a:solidFill>
            <a:round/>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pic>
        <p:nvPicPr>
          <p:cNvPr id="141" name="" descr=""/>
          <p:cNvPicPr/>
          <p:nvPr/>
        </p:nvPicPr>
        <p:blipFill>
          <a:blip r:embed="rId1"/>
          <a:srcRect l="0" t="8719" r="0" b="8719"/>
          <a:stretch/>
        </p:blipFill>
        <p:spPr>
          <a:xfrm>
            <a:off x="476280" y="1676520"/>
            <a:ext cx="7076880" cy="4057200"/>
          </a:xfrm>
          <a:prstGeom prst="rect">
            <a:avLst/>
          </a:prstGeom>
          <a:noFill/>
          <a:ln w="0">
            <a:noFill/>
          </a:ln>
        </p:spPr>
      </p:pic>
      <p:sp>
        <p:nvSpPr>
          <p:cNvPr id="142" name=""/>
          <p:cNvSpPr/>
          <p:nvPr/>
        </p:nvSpPr>
        <p:spPr>
          <a:xfrm>
            <a:off x="7953480" y="1695600"/>
            <a:ext cx="323640" cy="32364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350" strike="noStrike" u="none">
                <a:solidFill>
                  <a:srgbClr val="ffffff"/>
                </a:solidFill>
                <a:effectLst/>
                <a:uFillTx/>
                <a:latin typeface="Arial"/>
                <a:ea typeface="Arial"/>
              </a:rPr>
              <a:t>1</a:t>
            </a:r>
            <a:endParaRPr b="0" lang="en-IN" sz="1350" strike="noStrike" u="none">
              <a:solidFill>
                <a:srgbClr val="ffffff"/>
              </a:solidFill>
              <a:effectLst/>
              <a:uFillTx/>
              <a:latin typeface="Arial"/>
            </a:endParaRPr>
          </a:p>
        </p:txBody>
      </p:sp>
      <p:sp>
        <p:nvSpPr>
          <p:cNvPr id="143" name=""/>
          <p:cNvSpPr/>
          <p:nvPr/>
        </p:nvSpPr>
        <p:spPr>
          <a:xfrm>
            <a:off x="8420040" y="1676520"/>
            <a:ext cx="3161880" cy="6854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Show Data Views</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Load the full accessible list from CJA.</a:t>
            </a:r>
            <a:endParaRPr b="0" lang="en-IN" sz="1200" strike="noStrike" u="none">
              <a:solidFill>
                <a:srgbClr val="000000"/>
              </a:solidFill>
              <a:effectLst/>
              <a:uFillTx/>
              <a:latin typeface="Arial"/>
            </a:endParaRPr>
          </a:p>
        </p:txBody>
      </p:sp>
      <p:sp>
        <p:nvSpPr>
          <p:cNvPr id="144" name=""/>
          <p:cNvSpPr/>
          <p:nvPr/>
        </p:nvSpPr>
        <p:spPr>
          <a:xfrm>
            <a:off x="7953480" y="2610000"/>
            <a:ext cx="323640" cy="32364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350" strike="noStrike" u="none">
                <a:solidFill>
                  <a:srgbClr val="ffffff"/>
                </a:solidFill>
                <a:effectLst/>
                <a:uFillTx/>
                <a:latin typeface="Arial"/>
                <a:ea typeface="Arial"/>
              </a:rPr>
              <a:t>2</a:t>
            </a:r>
            <a:endParaRPr b="0" lang="en-IN" sz="1350" strike="noStrike" u="none">
              <a:solidFill>
                <a:srgbClr val="ffffff"/>
              </a:solidFill>
              <a:effectLst/>
              <a:uFillTx/>
              <a:latin typeface="Arial"/>
            </a:endParaRPr>
          </a:p>
        </p:txBody>
      </p:sp>
      <p:sp>
        <p:nvSpPr>
          <p:cNvPr id="145" name=""/>
          <p:cNvSpPr/>
          <p:nvPr/>
        </p:nvSpPr>
        <p:spPr>
          <a:xfrm>
            <a:off x="8420040" y="2590920"/>
            <a:ext cx="3161880" cy="6854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Choose the scope</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Select one Data View or analyse all views.</a:t>
            </a:r>
            <a:endParaRPr b="0" lang="en-IN" sz="1200" strike="noStrike" u="none">
              <a:solidFill>
                <a:srgbClr val="000000"/>
              </a:solidFill>
              <a:effectLst/>
              <a:uFillTx/>
              <a:latin typeface="Arial"/>
            </a:endParaRPr>
          </a:p>
        </p:txBody>
      </p:sp>
      <p:sp>
        <p:nvSpPr>
          <p:cNvPr id="146" name=""/>
          <p:cNvSpPr/>
          <p:nvPr/>
        </p:nvSpPr>
        <p:spPr>
          <a:xfrm>
            <a:off x="7953480" y="3524400"/>
            <a:ext cx="323640" cy="32364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350" strike="noStrike" u="none">
                <a:solidFill>
                  <a:srgbClr val="ffffff"/>
                </a:solidFill>
                <a:effectLst/>
                <a:uFillTx/>
                <a:latin typeface="Arial"/>
                <a:ea typeface="Arial"/>
              </a:rPr>
              <a:t>3</a:t>
            </a:r>
            <a:endParaRPr b="0" lang="en-IN" sz="1350" strike="noStrike" u="none">
              <a:solidFill>
                <a:srgbClr val="ffffff"/>
              </a:solidFill>
              <a:effectLst/>
              <a:uFillTx/>
              <a:latin typeface="Arial"/>
            </a:endParaRPr>
          </a:p>
        </p:txBody>
      </p:sp>
      <p:sp>
        <p:nvSpPr>
          <p:cNvPr id="147" name=""/>
          <p:cNvSpPr/>
          <p:nvPr/>
        </p:nvSpPr>
        <p:spPr>
          <a:xfrm>
            <a:off x="8420040" y="3505320"/>
            <a:ext cx="3161880" cy="6854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Generate the report</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Review exact and near-duplicate groups with usage.</a:t>
            </a:r>
            <a:endParaRPr b="0" lang="en-IN" sz="1200" strike="noStrike" u="none">
              <a:solidFill>
                <a:srgbClr val="000000"/>
              </a:solidFill>
              <a:effectLst/>
              <a:uFillTx/>
              <a:latin typeface="Arial"/>
            </a:endParaRPr>
          </a:p>
        </p:txBody>
      </p:sp>
      <p:sp>
        <p:nvSpPr>
          <p:cNvPr id="148" name=""/>
          <p:cNvSpPr/>
          <p:nvPr/>
        </p:nvSpPr>
        <p:spPr>
          <a:xfrm>
            <a:off x="7953480" y="4438800"/>
            <a:ext cx="323640" cy="323640"/>
          </a:xfrm>
          <a:prstGeom prst="ellipse">
            <a:avLst/>
          </a:prstGeom>
          <a:solidFill>
            <a:srgbClr val="0078f0"/>
          </a:solidFill>
          <a:ln w="0">
            <a:solidFill>
              <a:srgbClr val="0078f0"/>
            </a:solidFill>
          </a:ln>
        </p:spPr>
        <p:style>
          <a:lnRef idx="0"/>
          <a:fillRef idx="0"/>
          <a:effectRef idx="0"/>
          <a:fontRef idx="minor"/>
        </p:style>
        <p:txBody>
          <a:bodyPr lIns="0" rIns="0" tIns="0" bIns="0" anchor="ctr">
            <a:noAutofit/>
          </a:bodyPr>
          <a:p>
            <a:pPr algn="ctr">
              <a:lnSpc>
                <a:spcPct val="100000"/>
              </a:lnSpc>
            </a:pPr>
            <a:r>
              <a:rPr b="1" lang="en-IN" sz="1350" strike="noStrike" u="none">
                <a:solidFill>
                  <a:srgbClr val="ffffff"/>
                </a:solidFill>
                <a:effectLst/>
                <a:uFillTx/>
                <a:latin typeface="Arial"/>
                <a:ea typeface="Arial"/>
              </a:rPr>
              <a:t>4</a:t>
            </a:r>
            <a:endParaRPr b="0" lang="en-IN" sz="1350" strike="noStrike" u="none">
              <a:solidFill>
                <a:srgbClr val="ffffff"/>
              </a:solidFill>
              <a:effectLst/>
              <a:uFillTx/>
              <a:latin typeface="Arial"/>
            </a:endParaRPr>
          </a:p>
        </p:txBody>
      </p:sp>
      <p:sp>
        <p:nvSpPr>
          <p:cNvPr id="149" name=""/>
          <p:cNvSpPr/>
          <p:nvPr/>
        </p:nvSpPr>
        <p:spPr>
          <a:xfrm>
            <a:off x="8420040" y="4419720"/>
            <a:ext cx="3161880" cy="685440"/>
          </a:xfrm>
          <a:prstGeom prst="rect">
            <a:avLst/>
          </a:prstGeom>
          <a:noFill/>
          <a:ln w="0">
            <a:noFill/>
          </a:ln>
        </p:spPr>
        <p:style>
          <a:lnRef idx="0"/>
          <a:fillRef idx="0"/>
          <a:effectRef idx="0"/>
          <a:fontRef idx="minor"/>
        </p:style>
        <p:txBody>
          <a:bodyPr lIns="0" rIns="0" tIns="0" bIns="0" anchor="t">
            <a:normAutofit/>
          </a:bodyPr>
          <a:p>
            <a:pPr>
              <a:lnSpc>
                <a:spcPct val="100000"/>
              </a:lnSpc>
            </a:pPr>
            <a:r>
              <a:rPr b="1" lang="en-IN" sz="1200" strike="noStrike" u="none">
                <a:solidFill>
                  <a:srgbClr val="101828"/>
                </a:solidFill>
                <a:effectLst/>
                <a:uFillTx/>
                <a:latin typeface="Arial"/>
                <a:ea typeface="Arial"/>
              </a:rPr>
              <a:t>Search and export</a:t>
            </a:r>
            <a:endParaRPr b="0" lang="en-IN" sz="1200" strike="noStrike" u="none">
              <a:solidFill>
                <a:srgbClr val="000000"/>
              </a:solidFill>
              <a:effectLst/>
              <a:uFillTx/>
              <a:latin typeface="Arial"/>
            </a:endParaRPr>
          </a:p>
          <a:p>
            <a:pPr>
              <a:lnSpc>
                <a:spcPct val="100000"/>
              </a:lnSpc>
            </a:pPr>
            <a:r>
              <a:rPr b="0" lang="en-IN" sz="1200" strike="noStrike" u="none">
                <a:solidFill>
                  <a:srgbClr val="101828"/>
                </a:solidFill>
                <a:effectLst/>
                <a:uFillTx/>
                <a:latin typeface="Arial"/>
                <a:ea typeface="Arial"/>
              </a:rPr>
              <a:t>Use detailed tables or download CSV and Excel.</a:t>
            </a:r>
            <a:endParaRPr b="0" lang="en-IN" sz="1200" strike="noStrike" u="none">
              <a:solidFill>
                <a:srgbClr val="000000"/>
              </a:solidFill>
              <a:effectLst/>
              <a:uFillTx/>
              <a:latin typeface="Arial"/>
            </a:endParaRPr>
          </a:p>
        </p:txBody>
      </p:sp>
      <p:sp>
        <p:nvSpPr>
          <p:cNvPr id="150" name=""/>
          <p:cNvSpPr/>
          <p:nvPr/>
        </p:nvSpPr>
        <p:spPr>
          <a:xfrm>
            <a:off x="7953480" y="5410080"/>
            <a:ext cx="3638160" cy="609120"/>
          </a:xfrm>
          <a:prstGeom prst="roundRect">
            <a:avLst>
              <a:gd name="adj" fmla="val 10938"/>
            </a:avLst>
          </a:prstGeom>
          <a:solidFill>
            <a:srgbClr val="eaf3fc"/>
          </a:solidFill>
          <a:ln w="9525">
            <a:solidFill>
              <a:srgbClr val="a8c7eb"/>
            </a:solidFill>
            <a:round/>
          </a:ln>
        </p:spPr>
        <p:style>
          <a:lnRef idx="0"/>
          <a:fillRef idx="0"/>
          <a:effectRef idx="0"/>
          <a:fontRef idx="minor"/>
        </p:style>
        <p:txBody>
          <a:bodyPr lIns="114480" rIns="114480" tIns="76320" bIns="76320" anchor="ctr">
            <a:normAutofit/>
          </a:bodyPr>
          <a:p>
            <a:pPr>
              <a:lnSpc>
                <a:spcPct val="100000"/>
              </a:lnSpc>
            </a:pPr>
            <a:r>
              <a:rPr b="1" lang="en-IN" sz="1130" strike="noStrike" u="none">
                <a:solidFill>
                  <a:srgbClr val="172b4d"/>
                </a:solidFill>
                <a:effectLst/>
                <a:uFillTx/>
                <a:latin typeface="Arial"/>
                <a:ea typeface="Arial"/>
              </a:rPr>
              <a:t>Read-only review. Any segment retirement still needs business-owner confirmation.</a:t>
            </a:r>
            <a:endParaRPr b="0" lang="en-IN" sz="113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4_Whit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Nova">
      <a:majorFont>
        <a:latin typeface="Arial Nova" pitchFamily="0" charset="1"/>
        <a:ea typeface=""/>
        <a:cs typeface=""/>
      </a:majorFont>
      <a:minorFont>
        <a:latin typeface="Arial Nova"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eClerx-Corporate-PPT-Template - Org wid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2026-09-18T04:04:38Z</dcterms:created>
  <dc:creator>Walnut Exporter</dc:creator>
  <dc:description/>
  <dc:language>en-IN</dc:language>
  <cp:lastModifiedBy/>
  <dcterms:modified xsi:type="dcterms:W3CDTF">2026-09-18T09:38:56Z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