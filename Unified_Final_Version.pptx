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147474968" r:id="rId2"/>
    <p:sldId id="2147474969" r:id="rId3"/>
    <p:sldId id="2147474970" r:id="rId4"/>
    <p:sldId id="2147474972" r:id="rId5"/>
    <p:sldId id="214747497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165B5F-5E36-42EC-88C3-FA50F147FBB7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94AE93-2E47-4096-AB99-63D5BDF553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037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4AE93-2E47-4096-AB99-63D5BDF5539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134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4AE93-2E47-4096-AB99-63D5BDF5539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682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C9AD-D53C-3712-D8AC-F6F1FA588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BB09A-C0EA-EC9D-244B-F761C411E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0539D-5910-4928-28E4-A699FA422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40E9A-2B26-967A-C5FA-C4D85538C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94AE93-2E47-4096-AB99-63D5BDF5539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59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1317424"/>
            <a:ext cx="3508375" cy="1715143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B0F1A822-CBCA-0B06-BFFB-92B3A7C245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2288" y="188912"/>
            <a:ext cx="7667625" cy="6300788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DAF44A-99EC-0FDF-9B6B-F980E26CB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5600" y="3345082"/>
            <a:ext cx="3508375" cy="17014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FontTx/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lnSpc>
                <a:spcPct val="110000"/>
              </a:lnSpc>
              <a:buFontTx/>
              <a:buNone/>
              <a:defRPr sz="2000">
                <a:solidFill>
                  <a:schemeClr val="accent1"/>
                </a:solidFill>
              </a:defRPr>
            </a:lvl2pPr>
            <a:lvl3pPr marL="914400" indent="0">
              <a:lnSpc>
                <a:spcPct val="110000"/>
              </a:lnSpc>
              <a:buFontTx/>
              <a:buNone/>
              <a:defRPr sz="2000">
                <a:solidFill>
                  <a:schemeClr val="accent1"/>
                </a:solidFill>
              </a:defRPr>
            </a:lvl3pPr>
            <a:lvl4pPr marL="1371600" indent="0">
              <a:lnSpc>
                <a:spcPct val="110000"/>
              </a:lnSpc>
              <a:buFontTx/>
              <a:buNone/>
              <a:defRPr sz="2000">
                <a:solidFill>
                  <a:schemeClr val="accent1"/>
                </a:solidFill>
              </a:defRPr>
            </a:lvl4pPr>
            <a:lvl5pPr marL="1828800" indent="0">
              <a:lnSpc>
                <a:spcPct val="110000"/>
              </a:lnSpc>
              <a:buFontTx/>
              <a:buNone/>
              <a:defRPr sz="2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SE" dirty="0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650CA29-C8E6-0913-EA40-9CC87F9045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602" y="5362048"/>
            <a:ext cx="3508374" cy="324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Presenter Name and Surname</a:t>
            </a:r>
            <a:endParaRPr lang="en-US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3CBF75A-98B9-4E6A-6A64-C5F743D8C9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602" y="5695681"/>
            <a:ext cx="3508374" cy="324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 of presenter</a:t>
            </a:r>
            <a:endParaRPr lang="en-US" dirty="0"/>
          </a:p>
        </p:txBody>
      </p:sp>
      <p:pic>
        <p:nvPicPr>
          <p:cNvPr id="3" name="Picture Placeholder 7" descr="A person with purple hair&#10;&#10;Description automatically generated with medium confidence">
            <a:extLst>
              <a:ext uri="{FF2B5EF4-FFF2-40B4-BE49-F238E27FC236}">
                <a16:creationId xmlns:a16="http://schemas.microsoft.com/office/drawing/2014/main" id="{0D459A75-FEC6-6142-2BB0-C5487B4BEB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20096" y="185864"/>
            <a:ext cx="7667625" cy="630078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6B40C6D-BFEE-E1EA-F114-B4F1E5B2E54B}"/>
              </a:ext>
            </a:extLst>
          </p:cNvPr>
          <p:cNvSpPr/>
          <p:nvPr userDrawn="1"/>
        </p:nvSpPr>
        <p:spPr>
          <a:xfrm>
            <a:off x="10934949" y="6506308"/>
            <a:ext cx="1016000" cy="1823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9DCB6-8C44-F07A-3238-9E6BB00F3A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8045" y="378821"/>
            <a:ext cx="1741415" cy="47549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4DA63EE-5A91-9BAA-8209-0E2530527301}"/>
              </a:ext>
            </a:extLst>
          </p:cNvPr>
          <p:cNvSpPr/>
          <p:nvPr userDrawn="1"/>
        </p:nvSpPr>
        <p:spPr>
          <a:xfrm>
            <a:off x="0" y="6506308"/>
            <a:ext cx="1016000" cy="1823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44507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ldin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68300"/>
            <a:ext cx="11464925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2" name="Platshållare för bildnummer 5">
            <a:extLst>
              <a:ext uri="{FF2B5EF4-FFF2-40B4-BE49-F238E27FC236}">
                <a16:creationId xmlns:a16="http://schemas.microsoft.com/office/drawing/2014/main" id="{21068CD0-1D2A-D6D6-9F0D-A69723B4C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20524" y="6612347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4681609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ealdin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798763"/>
            <a:ext cx="11464925" cy="126047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3600" spc="-20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Platshållare för bildnummer 5">
            <a:extLst>
              <a:ext uri="{FF2B5EF4-FFF2-40B4-BE49-F238E27FC236}">
                <a16:creationId xmlns:a16="http://schemas.microsoft.com/office/drawing/2014/main" id="{7DDCE3BF-25A7-A8F9-318C-94F8D7BD9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BCC9B-0ADA-8248-AF0E-BFEA913843C9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2"/>
                </a:solidFill>
              </a:rPr>
              <a:t>© eClerx </a:t>
            </a:r>
          </a:p>
        </p:txBody>
      </p:sp>
    </p:spTree>
    <p:extLst>
      <p:ext uri="{BB962C8B-B14F-4D97-AF65-F5344CB8AC3E}">
        <p14:creationId xmlns:p14="http://schemas.microsoft.com/office/powerpoint/2010/main" val="291162441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ldin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68300"/>
            <a:ext cx="11464925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D3872E-41EA-6A78-D1AE-D2F199A26D07}"/>
              </a:ext>
            </a:extLst>
          </p:cNvPr>
          <p:cNvSpPr/>
          <p:nvPr userDrawn="1"/>
        </p:nvSpPr>
        <p:spPr>
          <a:xfrm>
            <a:off x="3405493" y="1600200"/>
            <a:ext cx="8643072" cy="35903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203DB1-0D8C-2CE1-40EE-C9DB58D46BC5}"/>
              </a:ext>
            </a:extLst>
          </p:cNvPr>
          <p:cNvSpPr/>
          <p:nvPr userDrawn="1"/>
        </p:nvSpPr>
        <p:spPr>
          <a:xfrm>
            <a:off x="260302" y="1597152"/>
            <a:ext cx="2928395" cy="487309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17C43-AD52-5454-741F-6A012023C6F8}"/>
              </a:ext>
            </a:extLst>
          </p:cNvPr>
          <p:cNvSpPr txBox="1"/>
          <p:nvPr userDrawn="1"/>
        </p:nvSpPr>
        <p:spPr>
          <a:xfrm>
            <a:off x="341176" y="1695635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90B45C-25BC-F344-570C-D5F767669314}"/>
              </a:ext>
            </a:extLst>
          </p:cNvPr>
          <p:cNvSpPr txBox="1"/>
          <p:nvPr userDrawn="1"/>
        </p:nvSpPr>
        <p:spPr>
          <a:xfrm>
            <a:off x="3463554" y="1695635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eClerx Solution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4D060-3467-4159-9DA1-5BC93BF521DE}"/>
              </a:ext>
            </a:extLst>
          </p:cNvPr>
          <p:cNvSpPr/>
          <p:nvPr userDrawn="1"/>
        </p:nvSpPr>
        <p:spPr>
          <a:xfrm>
            <a:off x="3391031" y="5289012"/>
            <a:ext cx="8646640" cy="11696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E1887-EE60-CB8C-A6A0-D67D76B5F3AE}"/>
              </a:ext>
            </a:extLst>
          </p:cNvPr>
          <p:cNvSpPr txBox="1"/>
          <p:nvPr userDrawn="1"/>
        </p:nvSpPr>
        <p:spPr>
          <a:xfrm>
            <a:off x="3529779" y="5581455"/>
            <a:ext cx="140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97B4ED-07DC-D443-3992-5D522D525C07}"/>
              </a:ext>
            </a:extLst>
          </p:cNvPr>
          <p:cNvSpPr txBox="1"/>
          <p:nvPr userDrawn="1"/>
        </p:nvSpPr>
        <p:spPr>
          <a:xfrm>
            <a:off x="341176" y="3505200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Challenge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F2839D27-66CC-865C-7A30-E80C424CB65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781847" y="6660438"/>
            <a:ext cx="305102" cy="169863"/>
          </a:xfrm>
        </p:spPr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281631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ith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338" y="368300"/>
            <a:ext cx="11464925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426D6-0C9C-9D41-7CB9-64F310CA7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48413" y="2024063"/>
            <a:ext cx="5472111" cy="410691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1pPr>
            <a:lvl2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2pPr>
            <a:lvl3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3pPr>
            <a:lvl4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4pPr>
            <a:lvl5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E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370772C-3D48-0A38-E64D-E927B1D3D4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338" y="2024063"/>
            <a:ext cx="5472111" cy="410691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E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9F6387-BB37-28A5-9DDA-677F0ED701C8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024063"/>
            <a:ext cx="0" cy="3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8DDB97-FC67-4BBF-477F-604B1AF2C07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350781881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ith thre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338" y="368300"/>
            <a:ext cx="11464925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426D6-0C9C-9D41-7CB9-64F310CA7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332289" y="2024063"/>
            <a:ext cx="3496637" cy="410691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1pPr>
            <a:lvl2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2pPr>
            <a:lvl3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3pPr>
            <a:lvl4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4pPr>
            <a:lvl5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E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B370772C-3D48-0A38-E64D-E927B1D3D4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338" y="2024063"/>
            <a:ext cx="3496637" cy="410691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1pPr>
            <a:lvl2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2pPr>
            <a:lvl3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3pPr>
            <a:lvl4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4pPr>
            <a:lvl5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E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A0549588-AE11-012D-501E-7C360552855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4662" y="2024063"/>
            <a:ext cx="3496637" cy="410691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1pPr>
            <a:lvl2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2pPr>
            <a:lvl3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3pPr>
            <a:lvl4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4pPr>
            <a:lvl5pPr>
              <a:lnSpc>
                <a:spcPct val="110000"/>
              </a:lnSpc>
              <a:spcAft>
                <a:spcPts val="900"/>
              </a:spcAft>
              <a:buClr>
                <a:schemeClr val="accent1"/>
              </a:buClr>
              <a:defRPr sz="16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EC612A-E59E-5272-2702-DF4BECF6D742}"/>
              </a:ext>
            </a:extLst>
          </p:cNvPr>
          <p:cNvCxnSpPr>
            <a:cxnSpLocks/>
          </p:cNvCxnSpPr>
          <p:nvPr userDrawn="1"/>
        </p:nvCxnSpPr>
        <p:spPr>
          <a:xfrm>
            <a:off x="4078454" y="2024063"/>
            <a:ext cx="0" cy="3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B22AC3-A5FC-9066-BF63-84D301CAC6EB}"/>
              </a:ext>
            </a:extLst>
          </p:cNvPr>
          <p:cNvCxnSpPr>
            <a:cxnSpLocks/>
          </p:cNvCxnSpPr>
          <p:nvPr userDrawn="1"/>
        </p:nvCxnSpPr>
        <p:spPr>
          <a:xfrm>
            <a:off x="8064046" y="2024063"/>
            <a:ext cx="0" cy="39508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9A8588-4A0A-B0CE-7375-93519ADCB23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45992921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008AB74-75D7-49BE-B9AC-653E7CF10BE0}"/>
              </a:ext>
            </a:extLst>
          </p:cNvPr>
          <p:cNvSpPr/>
          <p:nvPr userDrawn="1"/>
        </p:nvSpPr>
        <p:spPr>
          <a:xfrm>
            <a:off x="4332289" y="188913"/>
            <a:ext cx="7667624" cy="63103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600" y="1015873"/>
            <a:ext cx="3508376" cy="2689693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spc="-20" baseline="0"/>
            </a:lvl1pPr>
          </a:lstStyle>
          <a:p>
            <a:r>
              <a:rPr lang="en-US" noProof="0" dirty="0"/>
              <a:t>Agenda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6A7B8-50E1-E324-F5B3-96BE2F6057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30614" y="1628775"/>
            <a:ext cx="7189911" cy="43561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40000"/>
              </a:lnSpc>
              <a:buClr>
                <a:schemeClr val="accent1"/>
              </a:buClr>
              <a:defRPr sz="2400">
                <a:solidFill>
                  <a:srgbClr val="000000"/>
                </a:solidFill>
              </a:defRPr>
            </a:lvl1pPr>
            <a:lvl2pPr>
              <a:lnSpc>
                <a:spcPct val="140000"/>
              </a:lnSpc>
              <a:buClr>
                <a:schemeClr val="accent1"/>
              </a:buClr>
              <a:defRPr sz="2400">
                <a:solidFill>
                  <a:srgbClr val="000000"/>
                </a:solidFill>
              </a:defRPr>
            </a:lvl2pPr>
            <a:lvl3pPr>
              <a:lnSpc>
                <a:spcPct val="140000"/>
              </a:lnSpc>
              <a:buClr>
                <a:schemeClr val="accent1"/>
              </a:buClr>
              <a:defRPr sz="2400">
                <a:solidFill>
                  <a:srgbClr val="000000"/>
                </a:solidFill>
              </a:defRPr>
            </a:lvl3pPr>
            <a:lvl4pPr>
              <a:lnSpc>
                <a:spcPct val="140000"/>
              </a:lnSpc>
              <a:buClr>
                <a:schemeClr val="accent1"/>
              </a:buClr>
              <a:defRPr sz="2400">
                <a:solidFill>
                  <a:srgbClr val="000000"/>
                </a:solidFill>
              </a:defRPr>
            </a:lvl4pPr>
            <a:lvl5pPr>
              <a:lnSpc>
                <a:spcPct val="140000"/>
              </a:lnSpc>
              <a:buClr>
                <a:schemeClr val="accent1"/>
              </a:buClr>
              <a:defRPr sz="2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9BE4A-E45B-E543-9761-FB68FB5C27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30614" y="368300"/>
            <a:ext cx="7189911" cy="716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January 1, 2024</a:t>
            </a:r>
            <a:endParaRPr lang="en-S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9A73ED8-B5C0-5D3B-A3D8-37C1CE47DA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3955" y="368300"/>
            <a:ext cx="3508376" cy="8874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40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eClerx</a:t>
            </a:r>
            <a:endParaRPr lang="en-S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62F0A6-A24D-421D-4954-BDC9CCB489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2832004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F692F-D5FF-F486-C448-F92EE38AB2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5600" y="368299"/>
            <a:ext cx="11464924" cy="56165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Clr>
                <a:schemeClr val="accent1"/>
              </a:buClr>
              <a:buNone/>
              <a:defRPr sz="2800" spc="-90" baseline="0">
                <a:solidFill>
                  <a:srgbClr val="000000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2E60BC-21AD-D8CB-013C-9967363393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00844084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tex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368300"/>
            <a:ext cx="3508375" cy="1922439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B96A7B8-50E1-E324-F5B3-96BE2F6057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5600" y="2492374"/>
            <a:ext cx="3508375" cy="379569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10000"/>
              </a:lnSpc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6EAD00-DD4D-87AC-1AD3-2CFF026934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32287" y="188913"/>
            <a:ext cx="7667625" cy="6300787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S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C7A55C-EEF1-7B96-C7C6-EDFB2680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5019013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368300"/>
            <a:ext cx="11464924" cy="1460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86EAD00-DD4D-87AC-1AD3-2CFF026934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600" y="2024062"/>
            <a:ext cx="11464924" cy="43164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S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AEEB6-86F2-E203-4F90-F6BB2C10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99562388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599" y="368301"/>
            <a:ext cx="11464925" cy="1094740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Executive summary</a:t>
            </a:r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4E5E1-4793-6CBC-CB33-1B7598241F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55600" y="2024063"/>
            <a:ext cx="5487988" cy="1643162"/>
          </a:xfrm>
          <a:prstGeom prst="rect">
            <a:avLst/>
          </a:prstGeom>
        </p:spPr>
        <p:txBody>
          <a:bodyPr lIns="0" tIns="0" rIns="0" bIns="0"/>
          <a:lstStyle>
            <a:lvl1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1pPr>
            <a:lvl2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2pPr>
            <a:lvl3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3pPr>
            <a:lvl4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4pPr>
            <a:lvl5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6F9712-478D-0B32-77E0-604B79CE8E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599" y="1628775"/>
            <a:ext cx="5487988" cy="5946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Goal of project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6F461C0-BC6F-5A4B-199E-3A51568E4F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5600" y="4334126"/>
            <a:ext cx="5487988" cy="1643162"/>
          </a:xfrm>
          <a:prstGeom prst="rect">
            <a:avLst/>
          </a:prstGeom>
        </p:spPr>
        <p:txBody>
          <a:bodyPr lIns="0" tIns="0" rIns="0" bIns="0"/>
          <a:lstStyle>
            <a:lvl1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1pPr>
            <a:lvl2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2pPr>
            <a:lvl3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3pPr>
            <a:lvl4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4pPr>
            <a:lvl5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E5BFD72-2544-833D-13B1-36F93D49EA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5599" y="3938838"/>
            <a:ext cx="5487988" cy="5946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Main methodology and approach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5000B35-A3B8-D601-8568-71FDEEA45D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8413" y="1628775"/>
            <a:ext cx="5487988" cy="5946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Main deliverables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A0F7F4C-E855-9971-55DD-335A56F6AE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348414" y="4334126"/>
            <a:ext cx="5487988" cy="1643162"/>
          </a:xfrm>
          <a:prstGeom prst="rect">
            <a:avLst/>
          </a:prstGeom>
        </p:spPr>
        <p:txBody>
          <a:bodyPr lIns="0" tIns="0" rIns="0" bIns="0"/>
          <a:lstStyle>
            <a:lvl1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1pPr>
            <a:lvl2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2pPr>
            <a:lvl3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3pPr>
            <a:lvl4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4pPr>
            <a:lvl5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94AD8337-0768-B5C4-A255-65E4A7891D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48413" y="3938838"/>
            <a:ext cx="5487988" cy="59466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Scope and prerequisites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98C9FDE-9B56-C06B-E8CC-7ABA180B65DE}"/>
              </a:ext>
            </a:extLst>
          </p:cNvPr>
          <p:cNvCxnSpPr/>
          <p:nvPr userDrawn="1"/>
        </p:nvCxnSpPr>
        <p:spPr>
          <a:xfrm>
            <a:off x="355600" y="1628775"/>
            <a:ext cx="5487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F88080A-90A8-93D8-888C-36410436B564}"/>
              </a:ext>
            </a:extLst>
          </p:cNvPr>
          <p:cNvCxnSpPr>
            <a:cxnSpLocks/>
          </p:cNvCxnSpPr>
          <p:nvPr userDrawn="1"/>
        </p:nvCxnSpPr>
        <p:spPr>
          <a:xfrm>
            <a:off x="6348413" y="1628775"/>
            <a:ext cx="5487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E8315D-F2C6-1F7C-2219-2399A360CAD6}"/>
              </a:ext>
            </a:extLst>
          </p:cNvPr>
          <p:cNvCxnSpPr/>
          <p:nvPr userDrawn="1"/>
        </p:nvCxnSpPr>
        <p:spPr>
          <a:xfrm>
            <a:off x="355600" y="3933056"/>
            <a:ext cx="5487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C12A48-1856-86A9-2820-DF703F1C9533}"/>
              </a:ext>
            </a:extLst>
          </p:cNvPr>
          <p:cNvCxnSpPr>
            <a:cxnSpLocks/>
          </p:cNvCxnSpPr>
          <p:nvPr userDrawn="1"/>
        </p:nvCxnSpPr>
        <p:spPr>
          <a:xfrm>
            <a:off x="6348413" y="3933056"/>
            <a:ext cx="54879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ED55140-0D5B-C43F-0E99-1D1EDCE9452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8413" y="2024063"/>
            <a:ext cx="5487988" cy="1643162"/>
          </a:xfrm>
          <a:prstGeom prst="rect">
            <a:avLst/>
          </a:prstGeom>
        </p:spPr>
        <p:txBody>
          <a:bodyPr lIns="0" tIns="0" rIns="0" bIns="0"/>
          <a:lstStyle>
            <a:lvl1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1pPr>
            <a:lvl2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2pPr>
            <a:lvl3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3pPr>
            <a:lvl4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4pPr>
            <a:lvl5pPr marL="144000" indent="-144000">
              <a:lnSpc>
                <a:spcPct val="110000"/>
              </a:lnSpc>
              <a:spcAft>
                <a:spcPts val="300"/>
              </a:spcAft>
              <a:buClr>
                <a:schemeClr val="accent1"/>
              </a:buCl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7524FE-EAF3-1B9D-8B66-AF035EFADD8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785009312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599" y="1025421"/>
            <a:ext cx="11464925" cy="755962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accent1"/>
                </a:solidFill>
              </a:defRPr>
            </a:lvl1pPr>
          </a:lstStyle>
          <a:p>
            <a:r>
              <a:rPr lang="en-US" noProof="0" dirty="0"/>
              <a:t>Name of presentation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CB7D466-6F42-A983-3F8D-2BBCC72326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600" y="368300"/>
            <a:ext cx="7972425" cy="8533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lnSpc>
                <a:spcPct val="0"/>
              </a:lnSpc>
              <a:buNone/>
              <a:defRPr sz="4000"/>
            </a:lvl2pPr>
            <a:lvl3pPr marL="914400" indent="0">
              <a:lnSpc>
                <a:spcPct val="0"/>
              </a:lnSpc>
              <a:buNone/>
              <a:defRPr sz="4000"/>
            </a:lvl3pPr>
            <a:lvl4pPr marL="1371600" indent="0">
              <a:lnSpc>
                <a:spcPct val="0"/>
              </a:lnSpc>
              <a:buNone/>
              <a:defRPr sz="4000"/>
            </a:lvl4pPr>
            <a:lvl5pPr marL="1828800" indent="0">
              <a:lnSpc>
                <a:spcPct val="0"/>
              </a:lnSpc>
              <a:buNone/>
              <a:defRPr sz="4000"/>
            </a:lvl5pPr>
          </a:lstStyle>
          <a:p>
            <a:pPr lvl="0"/>
            <a:r>
              <a:rPr lang="en-SE" dirty="0"/>
              <a:t>Appendix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02D20E-1DB9-485F-D676-38888F0F78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74492447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bar info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7C109B3-A2F1-0D14-695A-39A70E946DB7}"/>
              </a:ext>
            </a:extLst>
          </p:cNvPr>
          <p:cNvSpPr/>
          <p:nvPr userDrawn="1"/>
        </p:nvSpPr>
        <p:spPr>
          <a:xfrm>
            <a:off x="3139440" y="5167072"/>
            <a:ext cx="8680535" cy="82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entagon 41">
            <a:extLst>
              <a:ext uri="{FF2B5EF4-FFF2-40B4-BE49-F238E27FC236}">
                <a16:creationId xmlns:a16="http://schemas.microsoft.com/office/drawing/2014/main" id="{4CFAD694-B4F7-1F43-42EB-419ECB0A8FB6}"/>
              </a:ext>
            </a:extLst>
          </p:cNvPr>
          <p:cNvSpPr/>
          <p:nvPr userDrawn="1"/>
        </p:nvSpPr>
        <p:spPr>
          <a:xfrm>
            <a:off x="425873" y="5167072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A33DB9E-4254-41D9-10B3-C414E2856DCE}"/>
              </a:ext>
            </a:extLst>
          </p:cNvPr>
          <p:cNvSpPr/>
          <p:nvPr userDrawn="1"/>
        </p:nvSpPr>
        <p:spPr>
          <a:xfrm>
            <a:off x="3139440" y="4282496"/>
            <a:ext cx="8680535" cy="82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entagon 40">
            <a:extLst>
              <a:ext uri="{FF2B5EF4-FFF2-40B4-BE49-F238E27FC236}">
                <a16:creationId xmlns:a16="http://schemas.microsoft.com/office/drawing/2014/main" id="{6E3E3A11-3856-87D9-3DE2-686E0687651F}"/>
              </a:ext>
            </a:extLst>
          </p:cNvPr>
          <p:cNvSpPr/>
          <p:nvPr userDrawn="1"/>
        </p:nvSpPr>
        <p:spPr>
          <a:xfrm>
            <a:off x="425873" y="4282496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43A4DE0-0B66-A47D-97CC-89C159969AFD}"/>
              </a:ext>
            </a:extLst>
          </p:cNvPr>
          <p:cNvSpPr/>
          <p:nvPr userDrawn="1"/>
        </p:nvSpPr>
        <p:spPr>
          <a:xfrm>
            <a:off x="3139440" y="3397922"/>
            <a:ext cx="8680535" cy="82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entagon 39">
            <a:extLst>
              <a:ext uri="{FF2B5EF4-FFF2-40B4-BE49-F238E27FC236}">
                <a16:creationId xmlns:a16="http://schemas.microsoft.com/office/drawing/2014/main" id="{19D4252C-0198-9D44-0426-5C7C0A4D8DC4}"/>
              </a:ext>
            </a:extLst>
          </p:cNvPr>
          <p:cNvSpPr/>
          <p:nvPr userDrawn="1"/>
        </p:nvSpPr>
        <p:spPr>
          <a:xfrm>
            <a:off x="425873" y="3397922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F6CEE7-92FA-B601-655D-D9F12787A1DC}"/>
              </a:ext>
            </a:extLst>
          </p:cNvPr>
          <p:cNvSpPr/>
          <p:nvPr userDrawn="1"/>
        </p:nvSpPr>
        <p:spPr>
          <a:xfrm>
            <a:off x="3139440" y="2513348"/>
            <a:ext cx="8680535" cy="82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entagon 38">
            <a:extLst>
              <a:ext uri="{FF2B5EF4-FFF2-40B4-BE49-F238E27FC236}">
                <a16:creationId xmlns:a16="http://schemas.microsoft.com/office/drawing/2014/main" id="{984DCC72-5A25-9929-931E-81748844C4AE}"/>
              </a:ext>
            </a:extLst>
          </p:cNvPr>
          <p:cNvSpPr/>
          <p:nvPr userDrawn="1"/>
        </p:nvSpPr>
        <p:spPr>
          <a:xfrm>
            <a:off x="425873" y="2513348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992C44-E9A6-ECE6-E943-D0D95D393C32}"/>
              </a:ext>
            </a:extLst>
          </p:cNvPr>
          <p:cNvSpPr/>
          <p:nvPr userDrawn="1"/>
        </p:nvSpPr>
        <p:spPr>
          <a:xfrm>
            <a:off x="3139440" y="1628776"/>
            <a:ext cx="8680535" cy="82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entagon 37">
            <a:extLst>
              <a:ext uri="{FF2B5EF4-FFF2-40B4-BE49-F238E27FC236}">
                <a16:creationId xmlns:a16="http://schemas.microsoft.com/office/drawing/2014/main" id="{CD8A181A-D2E4-3903-59AD-AD83363A8F71}"/>
              </a:ext>
            </a:extLst>
          </p:cNvPr>
          <p:cNvSpPr/>
          <p:nvPr userDrawn="1"/>
        </p:nvSpPr>
        <p:spPr>
          <a:xfrm>
            <a:off x="425873" y="1628774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368300"/>
            <a:ext cx="11464925" cy="887413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Pentagon 2">
            <a:extLst>
              <a:ext uri="{FF2B5EF4-FFF2-40B4-BE49-F238E27FC236}">
                <a16:creationId xmlns:a16="http://schemas.microsoft.com/office/drawing/2014/main" id="{1E7A0C6D-4A6B-0B73-012F-D768C52DD21B}"/>
              </a:ext>
            </a:extLst>
          </p:cNvPr>
          <p:cNvSpPr/>
          <p:nvPr userDrawn="1"/>
        </p:nvSpPr>
        <p:spPr>
          <a:xfrm>
            <a:off x="355598" y="1628774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8BFFFD5-ADE1-B80E-32C5-13541464A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1944" y="1707932"/>
            <a:ext cx="3179380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466BC050-8878-AFEF-39E7-F55EC88961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65814" y="1707932"/>
            <a:ext cx="7576456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23" name="Pentagon 22">
            <a:extLst>
              <a:ext uri="{FF2B5EF4-FFF2-40B4-BE49-F238E27FC236}">
                <a16:creationId xmlns:a16="http://schemas.microsoft.com/office/drawing/2014/main" id="{E4136209-1808-0372-6D44-480282115F05}"/>
              </a:ext>
            </a:extLst>
          </p:cNvPr>
          <p:cNvSpPr/>
          <p:nvPr userDrawn="1"/>
        </p:nvSpPr>
        <p:spPr>
          <a:xfrm>
            <a:off x="355598" y="2513348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6881399A-DACB-0227-CEC0-456C7CA6EF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1944" y="2607487"/>
            <a:ext cx="3179380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2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98E0DC1B-3D13-2A7B-CB05-CF2F1470A9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65814" y="2607487"/>
            <a:ext cx="7576456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C951C138-03A0-C20E-377B-8F8F1C88886A}"/>
              </a:ext>
            </a:extLst>
          </p:cNvPr>
          <p:cNvSpPr/>
          <p:nvPr userDrawn="1"/>
        </p:nvSpPr>
        <p:spPr>
          <a:xfrm>
            <a:off x="355598" y="3397922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AE06709E-4901-3098-D4FC-F390D39F90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944" y="3486213"/>
            <a:ext cx="3179380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3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73297F45-2D45-BD04-9274-03B4A43D62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65814" y="3486213"/>
            <a:ext cx="7576456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31" name="Pentagon 30">
            <a:extLst>
              <a:ext uri="{FF2B5EF4-FFF2-40B4-BE49-F238E27FC236}">
                <a16:creationId xmlns:a16="http://schemas.microsoft.com/office/drawing/2014/main" id="{41DD82B9-F467-7E2F-D9CF-8E88B66E792D}"/>
              </a:ext>
            </a:extLst>
          </p:cNvPr>
          <p:cNvSpPr/>
          <p:nvPr userDrawn="1"/>
        </p:nvSpPr>
        <p:spPr>
          <a:xfrm>
            <a:off x="355598" y="4282496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Placeholder 19">
            <a:extLst>
              <a:ext uri="{FF2B5EF4-FFF2-40B4-BE49-F238E27FC236}">
                <a16:creationId xmlns:a16="http://schemas.microsoft.com/office/drawing/2014/main" id="{1C65E02A-82B9-7895-B95F-508E835FC48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944" y="4372254"/>
            <a:ext cx="3179380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4</a:t>
            </a:r>
          </a:p>
        </p:txBody>
      </p:sp>
      <p:sp>
        <p:nvSpPr>
          <p:cNvPr id="33" name="Text Placeholder 19">
            <a:extLst>
              <a:ext uri="{FF2B5EF4-FFF2-40B4-BE49-F238E27FC236}">
                <a16:creationId xmlns:a16="http://schemas.microsoft.com/office/drawing/2014/main" id="{4B3DD3D4-67B1-1657-BED7-B6CB7304CA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65814" y="4372254"/>
            <a:ext cx="7576456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35" name="Pentagon 34">
            <a:extLst>
              <a:ext uri="{FF2B5EF4-FFF2-40B4-BE49-F238E27FC236}">
                <a16:creationId xmlns:a16="http://schemas.microsoft.com/office/drawing/2014/main" id="{03C3428E-1637-FE00-FDD8-C0DC6776FC96}"/>
              </a:ext>
            </a:extLst>
          </p:cNvPr>
          <p:cNvSpPr/>
          <p:nvPr userDrawn="1"/>
        </p:nvSpPr>
        <p:spPr>
          <a:xfrm>
            <a:off x="355598" y="5167072"/>
            <a:ext cx="3510000" cy="827999"/>
          </a:xfrm>
          <a:prstGeom prst="homePlate">
            <a:avLst>
              <a:gd name="adj" fmla="val 16869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Placeholder 19">
            <a:extLst>
              <a:ext uri="{FF2B5EF4-FFF2-40B4-BE49-F238E27FC236}">
                <a16:creationId xmlns:a16="http://schemas.microsoft.com/office/drawing/2014/main" id="{8DB7C856-3D5F-84B7-A047-6833CA8FC3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944" y="5246230"/>
            <a:ext cx="3179380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5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E35564D4-39B8-13FA-9982-F39CF16EE8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65814" y="5246230"/>
            <a:ext cx="7576456" cy="6306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Text 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8953FF-2FB0-9842-D791-84B4DED5156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869835251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eader-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6C1543-7649-7A48-798B-EE411B858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368303"/>
            <a:ext cx="11464925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2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C0802E-63C6-56F1-5FBF-CCDD943FAE9F}"/>
              </a:ext>
            </a:extLst>
          </p:cNvPr>
          <p:cNvSpPr/>
          <p:nvPr userDrawn="1"/>
        </p:nvSpPr>
        <p:spPr>
          <a:xfrm>
            <a:off x="3405493" y="1600200"/>
            <a:ext cx="5426040" cy="480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2FF0F1-D91D-FBF4-A535-D86C9DC7A0BF}"/>
              </a:ext>
            </a:extLst>
          </p:cNvPr>
          <p:cNvSpPr/>
          <p:nvPr userDrawn="1"/>
        </p:nvSpPr>
        <p:spPr>
          <a:xfrm>
            <a:off x="260302" y="1597152"/>
            <a:ext cx="2928395" cy="47902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E47C81-E412-2A1D-F564-50EF04FA2026}"/>
              </a:ext>
            </a:extLst>
          </p:cNvPr>
          <p:cNvSpPr txBox="1"/>
          <p:nvPr userDrawn="1"/>
        </p:nvSpPr>
        <p:spPr>
          <a:xfrm>
            <a:off x="341176" y="1695635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Challenge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A3FCDB-2D7D-0C30-04BC-1F5B9F79573D}"/>
              </a:ext>
            </a:extLst>
          </p:cNvPr>
          <p:cNvSpPr txBox="1"/>
          <p:nvPr userDrawn="1"/>
        </p:nvSpPr>
        <p:spPr>
          <a:xfrm>
            <a:off x="3463554" y="1695635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eClerx Solution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8EAF57-7D30-4375-1936-6FE6C04E9B57}"/>
              </a:ext>
            </a:extLst>
          </p:cNvPr>
          <p:cNvSpPr/>
          <p:nvPr userDrawn="1"/>
        </p:nvSpPr>
        <p:spPr>
          <a:xfrm>
            <a:off x="9048328" y="1600200"/>
            <a:ext cx="2928395" cy="48016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492AF1-5BAF-8E4B-273B-E49C5E54A661}"/>
              </a:ext>
            </a:extLst>
          </p:cNvPr>
          <p:cNvSpPr txBox="1"/>
          <p:nvPr userDrawn="1"/>
        </p:nvSpPr>
        <p:spPr>
          <a:xfrm>
            <a:off x="9129202" y="1695635"/>
            <a:ext cx="2689106" cy="338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Impact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B618F2-0DE3-B0D0-4580-2E936A3A03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03030778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1" y="368300"/>
            <a:ext cx="9679353" cy="2124075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spc="-4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25A9BD5-0B8C-CFCE-DFB4-6333F21E8D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601" y="4857955"/>
            <a:ext cx="5487987" cy="324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Presenter Name and Surname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DBBCDC4-83BB-942D-8965-7F0FDA82EA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601" y="5191588"/>
            <a:ext cx="5487987" cy="3243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 of presenter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67BEF-CE97-6DA2-97CE-5C09322758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5600" y="2501645"/>
            <a:ext cx="9679353" cy="9740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edit sub header</a:t>
            </a:r>
            <a:endParaRPr lang="en-US" dirty="0"/>
          </a:p>
        </p:txBody>
      </p:sp>
      <p:sp>
        <p:nvSpPr>
          <p:cNvPr id="10" name="Platshållare för bildnummer 5">
            <a:extLst>
              <a:ext uri="{FF2B5EF4-FFF2-40B4-BE49-F238E27FC236}">
                <a16:creationId xmlns:a16="http://schemas.microsoft.com/office/drawing/2014/main" id="{CAF7F56E-847D-9CD9-C291-ADE3EECB5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95541" y="6564624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CD18CB7-779D-9A98-6AAC-F6350515AB63}"/>
              </a:ext>
            </a:extLst>
          </p:cNvPr>
          <p:cNvSpPr txBox="1">
            <a:spLocks/>
          </p:cNvSpPr>
          <p:nvPr userDrawn="1"/>
        </p:nvSpPr>
        <p:spPr>
          <a:xfrm>
            <a:off x="10338469" y="6564623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8C44521-DE6E-D7A3-8E00-F0075E467318}"/>
              </a:ext>
            </a:extLst>
          </p:cNvPr>
          <p:cNvSpPr txBox="1">
            <a:spLocks/>
          </p:cNvSpPr>
          <p:nvPr userDrawn="1"/>
        </p:nvSpPr>
        <p:spPr>
          <a:xfrm>
            <a:off x="-657127" y="6564623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1868430773"/>
      </p:ext>
    </p:extLst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6DD2EC1-D7EA-CCB9-0B51-DB933EACF3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5600" y="368300"/>
            <a:ext cx="11464925" cy="56165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Clr>
                <a:schemeClr val="tx1"/>
              </a:buClr>
              <a:buNone/>
              <a:defRPr sz="4400" spc="-90" baseline="0">
                <a:solidFill>
                  <a:schemeClr val="bg1"/>
                </a:solidFill>
              </a:defRPr>
            </a:lvl1pPr>
            <a:lvl2pPr marL="457200" indent="0">
              <a:buClr>
                <a:schemeClr val="tx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tx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tx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tx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D80637C1-3FA6-7B96-0BC7-8E2B66CEF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2815" y="6593493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8EFD667-27EB-6E98-401D-AC21EE49D208}"/>
              </a:ext>
            </a:extLst>
          </p:cNvPr>
          <p:cNvSpPr txBox="1">
            <a:spLocks/>
          </p:cNvSpPr>
          <p:nvPr userDrawn="1"/>
        </p:nvSpPr>
        <p:spPr>
          <a:xfrm>
            <a:off x="10295743" y="6593492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A7F991A-17A1-8BC8-BE9B-2E17BCDCD90D}"/>
              </a:ext>
            </a:extLst>
          </p:cNvPr>
          <p:cNvSpPr txBox="1">
            <a:spLocks/>
          </p:cNvSpPr>
          <p:nvPr userDrawn="1"/>
        </p:nvSpPr>
        <p:spPr>
          <a:xfrm>
            <a:off x="-699853" y="6593492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3107857126"/>
      </p:ext>
    </p:extLst>
  </p:cSld>
  <p:clrMapOvr>
    <a:masterClrMapping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ith graphi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2" y="368301"/>
            <a:ext cx="3508374" cy="5616574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 spc="-4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FC7708F-135E-55ED-175A-2B346F546A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351338" y="188913"/>
            <a:ext cx="7648575" cy="6300786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buClr>
                <a:schemeClr val="tx1"/>
              </a:buClr>
              <a:defRPr/>
            </a:lvl1pPr>
          </a:lstStyle>
          <a:p>
            <a:endParaRPr lang="en-SE" dirty="0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883AD955-EF03-0715-446E-715C575905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34C88A0-30FB-2E06-A7F0-1F94B57DC2D4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C2EFAED-A518-1FFC-8075-8442025A6BC3}"/>
              </a:ext>
            </a:extLst>
          </p:cNvPr>
          <p:cNvSpPr txBox="1">
            <a:spLocks/>
          </p:cNvSpPr>
          <p:nvPr userDrawn="1"/>
        </p:nvSpPr>
        <p:spPr>
          <a:xfrm>
            <a:off x="-647700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3652174926"/>
      </p:ext>
    </p:extLst>
  </p:cSld>
  <p:clrMapOvr>
    <a:masterClrMapping/>
  </p:clrMapOvr>
  <p:transition spd="med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–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1D2A341-997A-FB60-76C7-D1724E6B96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5599" y="2024063"/>
            <a:ext cx="11464925" cy="4316400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368300"/>
            <a:ext cx="11480800" cy="1260475"/>
          </a:xfrm>
          <a:prstGeom prst="rect">
            <a:avLst/>
          </a:prstGeom>
        </p:spPr>
        <p:txBody>
          <a:bodyPr lIns="0" tIns="0" rIns="0" bIns="0"/>
          <a:lstStyle>
            <a:lvl1pPr>
              <a:defRPr sz="2800" spc="-10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8028A36B-3A86-0DFA-8C7A-BED893462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68658AF-1254-18D3-0178-B7582B9E053D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7822B7C-5638-A287-FEB4-28265F051AF7}"/>
              </a:ext>
            </a:extLst>
          </p:cNvPr>
          <p:cNvSpPr txBox="1">
            <a:spLocks/>
          </p:cNvSpPr>
          <p:nvPr userDrawn="1"/>
        </p:nvSpPr>
        <p:spPr>
          <a:xfrm>
            <a:off x="-647700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3374248755"/>
      </p:ext>
    </p:extLst>
  </p:cSld>
  <p:clrMapOvr>
    <a:masterClrMapping/>
  </p:clrMapOvr>
  <p:transition spd="med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large image, 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368300"/>
            <a:ext cx="3508375" cy="2124076"/>
          </a:xfrm>
          <a:prstGeom prst="rect">
            <a:avLst/>
          </a:prstGeom>
        </p:spPr>
        <p:txBody>
          <a:bodyPr lIns="0" tIns="0" rIns="0" bIns="0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SE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B0F1A822-CBCA-0B06-BFFB-92B3A7C245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32288" y="188912"/>
            <a:ext cx="7667625" cy="6300788"/>
          </a:xfrm>
          <a:prstGeom prst="rect">
            <a:avLst/>
          </a:prstGeom>
          <a:solidFill>
            <a:schemeClr val="tx1">
              <a:lumMod val="75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S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DAF44A-99EC-0FDF-9B6B-F980E26CB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5600" y="2492375"/>
            <a:ext cx="3508375" cy="34925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FontTx/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lnSpc>
                <a:spcPct val="110000"/>
              </a:lnSpc>
              <a:buFontTx/>
              <a:buNone/>
              <a:defRPr sz="1600">
                <a:solidFill>
                  <a:schemeClr val="accent1"/>
                </a:solidFill>
              </a:defRPr>
            </a:lvl2pPr>
            <a:lvl3pPr marL="914400" indent="0">
              <a:lnSpc>
                <a:spcPct val="110000"/>
              </a:lnSpc>
              <a:buFontTx/>
              <a:buNone/>
              <a:defRPr sz="1600">
                <a:solidFill>
                  <a:schemeClr val="accent1"/>
                </a:solidFill>
              </a:defRPr>
            </a:lvl3pPr>
            <a:lvl4pPr marL="1371600" indent="0">
              <a:lnSpc>
                <a:spcPct val="110000"/>
              </a:lnSpc>
              <a:buFontTx/>
              <a:buNone/>
              <a:defRPr sz="1600">
                <a:solidFill>
                  <a:schemeClr val="accent1"/>
                </a:solidFill>
              </a:defRPr>
            </a:lvl4pPr>
            <a:lvl5pPr marL="1828800" indent="0">
              <a:lnSpc>
                <a:spcPct val="110000"/>
              </a:lnSpc>
              <a:buFontTx/>
              <a:buNone/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SE" dirty="0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D2AEB397-1E47-0D8A-3FA1-7E1E8E14E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18629A8-F46A-A8AD-27B3-2FA1122FEC82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4D63E75-EF75-4500-88BF-6E48F0E49F11}"/>
              </a:ext>
            </a:extLst>
          </p:cNvPr>
          <p:cNvSpPr txBox="1">
            <a:spLocks/>
          </p:cNvSpPr>
          <p:nvPr userDrawn="1"/>
        </p:nvSpPr>
        <p:spPr>
          <a:xfrm>
            <a:off x="-647700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279541785"/>
      </p:ext>
    </p:extLst>
  </p:cSld>
  <p:clrMapOvr>
    <a:masterClrMapping/>
  </p:clrMapOvr>
  <p:transition spd="med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9E452D-D83D-9CA1-39E0-A60F7DA4CD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599" y="1628775"/>
            <a:ext cx="11464924" cy="312594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10000"/>
              </a:lnSpc>
              <a:buFontTx/>
              <a:buNone/>
              <a:defRPr sz="2800">
                <a:solidFill>
                  <a:schemeClr val="bg1"/>
                </a:solidFill>
              </a:defRPr>
            </a:lvl1pPr>
            <a:lvl2pPr marL="457200" indent="0" algn="l">
              <a:buFontTx/>
              <a:buNone/>
              <a:defRPr/>
            </a:lvl2pPr>
            <a:lvl3pPr marL="914400" indent="0" algn="l">
              <a:buFontTx/>
              <a:buNone/>
              <a:defRPr/>
            </a:lvl3pPr>
            <a:lvl4pPr marL="1371600" indent="0" algn="l">
              <a:buFontTx/>
              <a:buNone/>
              <a:defRPr/>
            </a:lvl4pPr>
            <a:lvl5pPr marL="1828800" indent="0" algn="l">
              <a:buFontTx/>
              <a:buNone/>
              <a:defRPr/>
            </a:lvl5pPr>
          </a:lstStyle>
          <a:p>
            <a:pPr lvl="0"/>
            <a:r>
              <a:rPr lang="en-GB" dirty="0"/>
              <a:t>“Click here to insert a relevant quote that aligns with the theme or message of your presentation. Choose a quote that resonates with your audience and reinforces the key takeaways you want them to remember.”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07687E-1317-B0E7-E417-CE0DC505F4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600" y="5050210"/>
            <a:ext cx="11464925" cy="6391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Name Surname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F227152-EECF-0D1F-5D73-665CD10D11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5602286"/>
            <a:ext cx="11464925" cy="382589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Title/job description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A2D288-3D76-7EA2-7360-6F15FF0601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368299"/>
            <a:ext cx="11449048" cy="12604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here to add headline</a:t>
            </a:r>
            <a:endParaRPr lang="en-US" dirty="0"/>
          </a:p>
        </p:txBody>
      </p:sp>
      <p:sp>
        <p:nvSpPr>
          <p:cNvPr id="3" name="Platshållare för bildnummer 5">
            <a:extLst>
              <a:ext uri="{FF2B5EF4-FFF2-40B4-BE49-F238E27FC236}">
                <a16:creationId xmlns:a16="http://schemas.microsoft.com/office/drawing/2014/main" id="{D91BA3FF-3083-B300-1DCA-19030A2C9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6B0E2-56D0-B881-653D-68AE8EFF9CD0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0EE8072-D366-CA98-7784-072B4F6E8E6F}"/>
              </a:ext>
            </a:extLst>
          </p:cNvPr>
          <p:cNvSpPr txBox="1">
            <a:spLocks/>
          </p:cNvSpPr>
          <p:nvPr userDrawn="1"/>
        </p:nvSpPr>
        <p:spPr>
          <a:xfrm>
            <a:off x="-647700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3761992672"/>
      </p:ext>
    </p:extLst>
  </p:cSld>
  <p:clrMapOvr>
    <a:masterClrMapping/>
  </p:clrMapOvr>
  <p:transition spd="med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s and 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erson wearing glasses&#10;&#10;Description automatically generated with low confidence">
            <a:extLst>
              <a:ext uri="{FF2B5EF4-FFF2-40B4-BE49-F238E27FC236}">
                <a16:creationId xmlns:a16="http://schemas.microsoft.com/office/drawing/2014/main" id="{5697B9FC-5667-3C3F-B0CE-AA919FDEFC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4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214225" cy="685800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E94C047-0322-5B86-E388-650C64D728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5601" y="1155026"/>
            <a:ext cx="11464924" cy="1337350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 spc="-4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Thank you message</a:t>
            </a:r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77EE7908-1DBE-0CCA-4D77-8B51FF1CCB5A}"/>
              </a:ext>
            </a:extLst>
          </p:cNvPr>
          <p:cNvSpPr txBox="1">
            <a:spLocks/>
          </p:cNvSpPr>
          <p:nvPr userDrawn="1"/>
        </p:nvSpPr>
        <p:spPr>
          <a:xfrm>
            <a:off x="339725" y="368300"/>
            <a:ext cx="11480800" cy="936625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b="0" i="0" kern="1200" spc="0" baseline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pc="-40" baseline="0" dirty="0">
                <a:solidFill>
                  <a:schemeClr val="accent1"/>
                </a:solidFill>
              </a:rPr>
              <a:t>eClerx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4601C07-DD6C-C8EF-820A-3FBEA9C639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5602" y="2523995"/>
            <a:ext cx="3508374" cy="4197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1600">
                <a:solidFill>
                  <a:schemeClr val="accent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Contact information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543CDE1-0608-48BB-140B-48F18140E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5602" y="3016565"/>
            <a:ext cx="3508374" cy="15289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Clr>
                <a:schemeClr val="accent1"/>
              </a:buClr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Name Surname</a:t>
            </a:r>
          </a:p>
          <a:p>
            <a:pPr lvl="0"/>
            <a:r>
              <a:rPr lang="en-GB" dirty="0"/>
              <a:t>Phone</a:t>
            </a:r>
          </a:p>
          <a:p>
            <a:pPr lvl="0"/>
            <a:r>
              <a:rPr lang="en-GB" dirty="0"/>
              <a:t>email</a:t>
            </a:r>
            <a:endParaRPr lang="en-SE" dirty="0"/>
          </a:p>
        </p:txBody>
      </p:sp>
      <p:sp>
        <p:nvSpPr>
          <p:cNvPr id="3" name="Platshållare för bildnummer 5">
            <a:extLst>
              <a:ext uri="{FF2B5EF4-FFF2-40B4-BE49-F238E27FC236}">
                <a16:creationId xmlns:a16="http://schemas.microsoft.com/office/drawing/2014/main" id="{3860E6C4-2F2C-C2F4-96AE-C16C3DC98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C98B77-332E-004E-BD2A-A6DBBD4442FD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23B42AA-E6FD-FCB8-E950-38459E0B3238}"/>
              </a:ext>
            </a:extLst>
          </p:cNvPr>
          <p:cNvSpPr txBox="1">
            <a:spLocks/>
          </p:cNvSpPr>
          <p:nvPr userDrawn="1"/>
        </p:nvSpPr>
        <p:spPr>
          <a:xfrm>
            <a:off x="10347896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bg1"/>
                </a:solidFill>
              </a:rPr>
              <a:t>© eClerx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F1DA7A90-9B1A-E024-FFA5-5A1A288914C4}"/>
              </a:ext>
            </a:extLst>
          </p:cNvPr>
          <p:cNvSpPr txBox="1">
            <a:spLocks/>
          </p:cNvSpPr>
          <p:nvPr userDrawn="1"/>
        </p:nvSpPr>
        <p:spPr>
          <a:xfrm>
            <a:off x="-647700" y="649922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bg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499063435"/>
      </p:ext>
    </p:extLst>
  </p:cSld>
  <p:clrMapOvr>
    <a:masterClrMapping/>
  </p:clrMapOvr>
  <p:transition spd="med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5">
            <a:extLst>
              <a:ext uri="{FF2B5EF4-FFF2-40B4-BE49-F238E27FC236}">
                <a16:creationId xmlns:a16="http://schemas.microsoft.com/office/drawing/2014/main" id="{7C7041E1-D285-433A-4FD4-4025842C9E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917635" y="2814200"/>
            <a:ext cx="2356731" cy="1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62130"/>
      </p:ext>
    </p:extLst>
  </p:cSld>
  <p:clrMapOvr>
    <a:masterClrMapping/>
  </p:clrMapOvr>
  <p:transition spd="med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lin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tshållare för bildnummer 5">
            <a:extLst>
              <a:ext uri="{FF2B5EF4-FFF2-40B4-BE49-F238E27FC236}">
                <a16:creationId xmlns:a16="http://schemas.microsoft.com/office/drawing/2014/main" id="{D012A630-F4E5-C456-5B5D-680339EA7E30}"/>
              </a:ext>
            </a:extLst>
          </p:cNvPr>
          <p:cNvSpPr txBox="1">
            <a:spLocks/>
          </p:cNvSpPr>
          <p:nvPr userDrawn="1"/>
        </p:nvSpPr>
        <p:spPr>
          <a:xfrm>
            <a:off x="192088" y="649922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sv-SE"/>
            </a:defPPr>
            <a:lvl1pPr marL="0" algn="l" defTabSz="914400" rtl="0" eaLnBrk="1" latinLnBrk="0" hangingPunct="1">
              <a:defRPr sz="800" b="0" i="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sv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0F692F-D5FF-F486-C448-F92EE38AB29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5600" y="368299"/>
            <a:ext cx="11464924" cy="56165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Clr>
                <a:schemeClr val="accent1"/>
              </a:buClr>
              <a:buNone/>
              <a:defRPr sz="4800" spc="-90" baseline="0">
                <a:solidFill>
                  <a:schemeClr val="tx1"/>
                </a:solidFill>
              </a:defRPr>
            </a:lvl1pPr>
            <a:lvl2pPr marL="4572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2pPr>
            <a:lvl3pPr marL="9144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3pPr>
            <a:lvl4pPr marL="13716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4pPr>
            <a:lvl5pPr marL="1828800" indent="0">
              <a:buClr>
                <a:schemeClr val="accent1"/>
              </a:buClr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3934690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85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F70BA994-9AA1-2442-9E40-6DDEEF7D1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4968" y="6644395"/>
            <a:ext cx="305102" cy="16986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8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EFB222E-9F42-1743-96B9-B4398B4D272C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417906B-46F9-4B70-8992-65AF7030CA14}"/>
              </a:ext>
            </a:extLst>
          </p:cNvPr>
          <p:cNvSpPr txBox="1">
            <a:spLocks/>
          </p:cNvSpPr>
          <p:nvPr userDrawn="1"/>
        </p:nvSpPr>
        <p:spPr>
          <a:xfrm>
            <a:off x="10347896" y="664439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800" dirty="0">
                <a:solidFill>
                  <a:schemeClr val="tx1"/>
                </a:solidFill>
              </a:rPr>
              <a:t>© eClerx 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A7718AD-EF1C-9E00-CEC0-72886D3DDB28}"/>
              </a:ext>
            </a:extLst>
          </p:cNvPr>
          <p:cNvSpPr txBox="1">
            <a:spLocks/>
          </p:cNvSpPr>
          <p:nvPr userDrawn="1"/>
        </p:nvSpPr>
        <p:spPr>
          <a:xfrm>
            <a:off x="-647700" y="6644394"/>
            <a:ext cx="1295400" cy="169864"/>
          </a:xfrm>
          <a:prstGeom prst="rect">
            <a:avLst/>
          </a:prstGeom>
        </p:spPr>
        <p:txBody>
          <a:bodyPr vert="horz" lIns="0" tIns="0" rIns="0" bIns="0" rtlCol="0" anchor="b" anchorCtr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C1002B"/>
              </a:buClr>
              <a:buFont typeface="Wingdings" pitchFamily="2" charset="2"/>
              <a:buChar char="§"/>
              <a:defRPr sz="1400" b="0" i="0" kern="1200">
                <a:solidFill>
                  <a:srgbClr val="04080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900"/>
              </a:spcAft>
              <a:buFont typeface="Wingdings" pitchFamily="2" charset="2"/>
              <a:buNone/>
            </a:pPr>
            <a:r>
              <a:rPr lang="en-GB" sz="1100" dirty="0">
                <a:solidFill>
                  <a:schemeClr val="tx1"/>
                </a:solidFill>
                <a:latin typeface="Edmondsans Regular" panose="02000000000000000000" pitchFamily="2" charset="77"/>
              </a:rPr>
              <a:t>eClerx </a:t>
            </a:r>
          </a:p>
        </p:txBody>
      </p:sp>
    </p:spTree>
    <p:extLst>
      <p:ext uri="{BB962C8B-B14F-4D97-AF65-F5344CB8AC3E}">
        <p14:creationId xmlns:p14="http://schemas.microsoft.com/office/powerpoint/2010/main" val="380834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 spd="med">
    <p:pull/>
  </p:transition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i="0" kern="1200" spc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0"/>
        </a:spcBef>
        <a:buClr>
          <a:srgbClr val="C1002B"/>
        </a:buClr>
        <a:buFont typeface="Wingdings" pitchFamily="2" charset="2"/>
        <a:buChar char="§"/>
        <a:defRPr sz="1200" b="0" i="0" kern="1200">
          <a:solidFill>
            <a:schemeClr val="bg1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0"/>
        </a:spcBef>
        <a:buClr>
          <a:srgbClr val="C1002B"/>
        </a:buClr>
        <a:buFont typeface="Wingdings" pitchFamily="2" charset="2"/>
        <a:buChar char="§"/>
        <a:defRPr sz="1200" b="0" i="0" kern="1200">
          <a:solidFill>
            <a:schemeClr val="bg1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0"/>
        </a:spcBef>
        <a:buClr>
          <a:srgbClr val="C1002B"/>
        </a:buClr>
        <a:buFont typeface="Wingdings" pitchFamily="2" charset="2"/>
        <a:buChar char="§"/>
        <a:defRPr sz="1200" b="0" i="0" kern="1200">
          <a:solidFill>
            <a:schemeClr val="bg1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0"/>
        </a:spcBef>
        <a:buClr>
          <a:srgbClr val="C1002B"/>
        </a:buClr>
        <a:buFont typeface="Wingdings" pitchFamily="2" charset="2"/>
        <a:buChar char="§"/>
        <a:defRPr sz="1200" b="0" i="0" kern="1200">
          <a:solidFill>
            <a:schemeClr val="bg1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0"/>
        </a:spcBef>
        <a:buClr>
          <a:srgbClr val="C1002B"/>
        </a:buClr>
        <a:buFont typeface="Wingdings" pitchFamily="2" charset="2"/>
        <a:buChar char="§"/>
        <a:defRPr sz="1200" b="0" i="0" kern="1200">
          <a:solidFill>
            <a:schemeClr val="bg1">
              <a:lumMod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1570">
          <p15:clr>
            <a:srgbClr val="F26B43"/>
          </p15:clr>
        </p15:guide>
        <p15:guide id="16" orient="horz" pos="232">
          <p15:clr>
            <a:srgbClr val="F26B43"/>
          </p15:clr>
        </p15:guide>
        <p15:guide id="18" orient="horz" pos="3770">
          <p15:clr>
            <a:srgbClr val="F26B43"/>
          </p15:clr>
        </p15:guide>
        <p15:guide id="20" pos="224">
          <p15:clr>
            <a:srgbClr val="F26B43"/>
          </p15:clr>
        </p15:guide>
        <p15:guide id="21" orient="horz" pos="791">
          <p15:clr>
            <a:srgbClr val="F26B43"/>
          </p15:clr>
        </p15:guide>
        <p15:guide id="22" pos="7446">
          <p15:clr>
            <a:srgbClr val="F26B43"/>
          </p15:clr>
        </p15:guide>
        <p15:guide id="23" orient="horz" pos="4088">
          <p15:clr>
            <a:srgbClr val="F26B43"/>
          </p15:clr>
        </p15:guide>
        <p15:guide id="24" pos="121">
          <p15:clr>
            <a:srgbClr val="F26B43"/>
          </p15:clr>
        </p15:guide>
        <p15:guide id="25" orient="horz" pos="119">
          <p15:clr>
            <a:srgbClr val="F26B43"/>
          </p15:clr>
        </p15:guide>
        <p15:guide id="26" pos="7559">
          <p15:clr>
            <a:srgbClr val="F26B43"/>
          </p15:clr>
        </p15:guide>
        <p15:guide id="27" orient="horz" pos="4201">
          <p15:clr>
            <a:srgbClr val="F26B43"/>
          </p15:clr>
        </p15:guide>
        <p15:guide id="32" orient="horz" pos="1026">
          <p15:clr>
            <a:srgbClr val="F26B43"/>
          </p15:clr>
        </p15:guide>
        <p15:guide id="35" pos="4929">
          <p15:clr>
            <a:srgbClr val="F26B43"/>
          </p15:clr>
        </p15:guide>
        <p15:guide id="36" pos="5246">
          <p15:clr>
            <a:srgbClr val="F26B43"/>
          </p15:clr>
        </p15:guide>
        <p15:guide id="38" pos="2729">
          <p15:clr>
            <a:srgbClr val="F26B43"/>
          </p15:clr>
        </p15:guide>
        <p15:guide id="39" pos="2434">
          <p15:clr>
            <a:srgbClr val="F26B43"/>
          </p15:clr>
        </p15:guide>
        <p15:guide id="41" pos="3681">
          <p15:clr>
            <a:srgbClr val="F26B43"/>
          </p15:clr>
        </p15:guide>
        <p15:guide id="42" pos="3999">
          <p15:clr>
            <a:srgbClr val="F26B43"/>
          </p15:clr>
        </p15:guide>
        <p15:guide id="43" orient="horz" pos="127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801392-319D-44E9-B4F2-59D5EE0E48B4}"/>
              </a:ext>
            </a:extLst>
          </p:cNvPr>
          <p:cNvSpPr/>
          <p:nvPr/>
        </p:nvSpPr>
        <p:spPr>
          <a:xfrm>
            <a:off x="3354672" y="913772"/>
            <a:ext cx="8658567" cy="359461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C331C-CC1E-4325-8026-EE0129F78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98B77-332E-004E-BD2A-A6DBBD4442FD}" type="slidenum">
              <a:rPr kumimoji="0" lang="sv-S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sv-S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9EB1CF-8656-4969-A45E-64364A31DC03}"/>
              </a:ext>
            </a:extLst>
          </p:cNvPr>
          <p:cNvSpPr/>
          <p:nvPr/>
        </p:nvSpPr>
        <p:spPr>
          <a:xfrm>
            <a:off x="382093" y="914400"/>
            <a:ext cx="2807491" cy="55881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D0393-ECDD-4C4C-8754-EC549620B290}"/>
              </a:ext>
            </a:extLst>
          </p:cNvPr>
          <p:cNvSpPr txBox="1"/>
          <p:nvPr/>
        </p:nvSpPr>
        <p:spPr>
          <a:xfrm>
            <a:off x="417240" y="1037401"/>
            <a:ext cx="2688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Business Context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A8843-6FDF-413C-B81D-1E05DA449E1D}"/>
              </a:ext>
            </a:extLst>
          </p:cNvPr>
          <p:cNvSpPr txBox="1"/>
          <p:nvPr/>
        </p:nvSpPr>
        <p:spPr>
          <a:xfrm>
            <a:off x="382093" y="3333722"/>
            <a:ext cx="2688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Business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BFF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Challenges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D34854-D71F-4D82-A796-7D8990EAC131}"/>
              </a:ext>
            </a:extLst>
          </p:cNvPr>
          <p:cNvSpPr txBox="1"/>
          <p:nvPr/>
        </p:nvSpPr>
        <p:spPr>
          <a:xfrm>
            <a:off x="373557" y="1392836"/>
            <a:ext cx="2807088" cy="1858667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 consumer-facing digital client aimed to improve cookie-banner opt-in rates while maintaining privacy compliance.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Consent outcomes varied across websites, but the drivers behind user acceptance were not clearly understood.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7D527-9F89-40C3-8562-49284B4B8465}"/>
              </a:ext>
            </a:extLst>
          </p:cNvPr>
          <p:cNvSpPr txBox="1"/>
          <p:nvPr/>
        </p:nvSpPr>
        <p:spPr>
          <a:xfrm>
            <a:off x="367337" y="3754495"/>
            <a:ext cx="2834069" cy="2519925"/>
          </a:xfrm>
          <a:prstGeom prst="rect">
            <a:avLst/>
          </a:prstGeom>
          <a:noFill/>
        </p:spPr>
        <p:txBody>
          <a:bodyPr wrap="square" lIns="71994" tIns="0" rIns="71994" bIns="0" rtlCol="0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Limited visibility into why users accept or reject cookie consent across websites.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evidence-based method to compare banner variants and measure consent performance.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Difficulty identifying which banner experience can improve opt-in rates without compromising compliance.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08256F-1D41-410F-BAD4-A88694BEEC2E}"/>
              </a:ext>
            </a:extLst>
          </p:cNvPr>
          <p:cNvSpPr txBox="1"/>
          <p:nvPr/>
        </p:nvSpPr>
        <p:spPr>
          <a:xfrm>
            <a:off x="3567837" y="956914"/>
            <a:ext cx="3314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0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eClerx Recommended Solution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D2BFC-4B86-4160-99A6-A5AC3EF8F3FF}"/>
              </a:ext>
            </a:extLst>
          </p:cNvPr>
          <p:cNvSpPr/>
          <p:nvPr/>
        </p:nvSpPr>
        <p:spPr>
          <a:xfrm>
            <a:off x="9352994" y="5431974"/>
            <a:ext cx="2263758" cy="1047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E12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E12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43BE8344-E263-45D7-AE84-8D5505EB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86" y="303066"/>
            <a:ext cx="11873140" cy="468193"/>
          </a:xfrm>
        </p:spPr>
        <p:txBody>
          <a:bodyPr vert="horz"/>
          <a:lstStyle/>
          <a:p>
            <a:r>
              <a:rPr lang="en-US" sz="24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  <a:t>Case Study - OneTrust A/B Testing for Consent Performance Improvement</a:t>
            </a:r>
            <a:br>
              <a:rPr lang="en-US" sz="24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rPr>
            </a:br>
            <a:endParaRPr lang="en-US" sz="2400" b="0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FC88D19-5F54-4C5A-8F19-129CF2532F2C}"/>
              </a:ext>
            </a:extLst>
          </p:cNvPr>
          <p:cNvSpPr/>
          <p:nvPr/>
        </p:nvSpPr>
        <p:spPr>
          <a:xfrm>
            <a:off x="3347504" y="4577940"/>
            <a:ext cx="8658568" cy="19246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CE407F-05AC-4E8F-90C0-58910B4A838A}"/>
              </a:ext>
            </a:extLst>
          </p:cNvPr>
          <p:cNvSpPr txBox="1"/>
          <p:nvPr/>
        </p:nvSpPr>
        <p:spPr>
          <a:xfrm>
            <a:off x="3355376" y="4561609"/>
            <a:ext cx="2688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38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Business Benefits</a:t>
            </a:r>
          </a:p>
        </p:txBody>
      </p:sp>
      <p:sp>
        <p:nvSpPr>
          <p:cNvPr id="105" name="Flow Card 1">
            <a:extLst>
              <a:ext uri="{FF2B5EF4-FFF2-40B4-BE49-F238E27FC236}">
                <a16:creationId xmlns:a16="http://schemas.microsoft.com/office/drawing/2014/main" id="{3439280F-828F-455C-8286-FA8625AD87DE}"/>
              </a:ext>
            </a:extLst>
          </p:cNvPr>
          <p:cNvSpPr/>
          <p:nvPr/>
        </p:nvSpPr>
        <p:spPr>
          <a:xfrm>
            <a:off x="3402662" y="1368935"/>
            <a:ext cx="1261631" cy="231616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BFD4E6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6" name="Flow Badge 1">
            <a:extLst>
              <a:ext uri="{FF2B5EF4-FFF2-40B4-BE49-F238E27FC236}">
                <a16:creationId xmlns:a16="http://schemas.microsoft.com/office/drawing/2014/main" id="{146B46AC-A39C-43C6-8AF0-D72C2E98B8CD}"/>
              </a:ext>
            </a:extLst>
          </p:cNvPr>
          <p:cNvSpPr/>
          <p:nvPr/>
        </p:nvSpPr>
        <p:spPr>
          <a:xfrm>
            <a:off x="3893296" y="1442464"/>
            <a:ext cx="280363" cy="257351"/>
          </a:xfrm>
          <a:prstGeom prst="ellipse">
            <a:avLst/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1" name="Flow Badge Text 1">
            <a:extLst>
              <a:ext uri="{FF2B5EF4-FFF2-40B4-BE49-F238E27FC236}">
                <a16:creationId xmlns:a16="http://schemas.microsoft.com/office/drawing/2014/main" id="{F857A09D-2126-4199-82C8-57E095EF6630}"/>
              </a:ext>
            </a:extLst>
          </p:cNvPr>
          <p:cNvSpPr txBox="1"/>
          <p:nvPr/>
        </p:nvSpPr>
        <p:spPr>
          <a:xfrm>
            <a:off x="3893296" y="1470037"/>
            <a:ext cx="280363" cy="18933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2" name="Flow Icon Circle 1">
            <a:extLst>
              <a:ext uri="{FF2B5EF4-FFF2-40B4-BE49-F238E27FC236}">
                <a16:creationId xmlns:a16="http://schemas.microsoft.com/office/drawing/2014/main" id="{B51D2572-C480-4A2A-8EEF-F03C02E6956C}"/>
              </a:ext>
            </a:extLst>
          </p:cNvPr>
          <p:cNvSpPr/>
          <p:nvPr/>
        </p:nvSpPr>
        <p:spPr>
          <a:xfrm>
            <a:off x="3733089" y="1810108"/>
            <a:ext cx="600777" cy="551467"/>
          </a:xfrm>
          <a:prstGeom prst="ellipse">
            <a:avLst/>
          </a:prstGeom>
          <a:solidFill>
            <a:srgbClr val="EE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16" name="Flow Icon Image 1">
            <a:extLst>
              <a:ext uri="{FF2B5EF4-FFF2-40B4-BE49-F238E27FC236}">
                <a16:creationId xmlns:a16="http://schemas.microsoft.com/office/drawing/2014/main" id="{C49C0A3C-5634-4A3B-BB39-DDE34CE4771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53245" y="1920402"/>
            <a:ext cx="360466" cy="330880"/>
          </a:xfrm>
          <a:prstGeom prst="rect">
            <a:avLst/>
          </a:prstGeom>
        </p:spPr>
      </p:pic>
      <p:sp>
        <p:nvSpPr>
          <p:cNvPr id="121" name="Flow Title 1">
            <a:extLst>
              <a:ext uri="{FF2B5EF4-FFF2-40B4-BE49-F238E27FC236}">
                <a16:creationId xmlns:a16="http://schemas.microsoft.com/office/drawing/2014/main" id="{A50DAF96-5CF3-41E1-BB40-C102E66A01EE}"/>
              </a:ext>
            </a:extLst>
          </p:cNvPr>
          <p:cNvSpPr txBox="1"/>
          <p:nvPr/>
        </p:nvSpPr>
        <p:spPr>
          <a:xfrm>
            <a:off x="3482766" y="2417730"/>
            <a:ext cx="1101424" cy="276999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</a:t>
            </a:r>
          </a:p>
        </p:txBody>
      </p:sp>
      <p:sp>
        <p:nvSpPr>
          <p:cNvPr id="123" name="Flow Body 1">
            <a:extLst>
              <a:ext uri="{FF2B5EF4-FFF2-40B4-BE49-F238E27FC236}">
                <a16:creationId xmlns:a16="http://schemas.microsoft.com/office/drawing/2014/main" id="{2786180A-BB7C-4853-AA8D-227CA5418F84}"/>
              </a:ext>
            </a:extLst>
          </p:cNvPr>
          <p:cNvSpPr txBox="1"/>
          <p:nvPr/>
        </p:nvSpPr>
        <p:spPr>
          <a:xfrm>
            <a:off x="3492778" y="2738473"/>
            <a:ext cx="1081398" cy="1000274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Review current banner performance and define optimization goals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4" name="Flow Arrow 1">
            <a:extLst>
              <a:ext uri="{FF2B5EF4-FFF2-40B4-BE49-F238E27FC236}">
                <a16:creationId xmlns:a16="http://schemas.microsoft.com/office/drawing/2014/main" id="{138B586C-2D7F-451D-95B0-D1A6DD4F6306}"/>
              </a:ext>
            </a:extLst>
          </p:cNvPr>
          <p:cNvCxnSpPr/>
          <p:nvPr/>
        </p:nvCxnSpPr>
        <p:spPr>
          <a:xfrm>
            <a:off x="4684319" y="2140989"/>
            <a:ext cx="110142" cy="0"/>
          </a:xfrm>
          <a:prstGeom prst="line">
            <a:avLst/>
          </a:prstGeom>
          <a:ln w="22860">
            <a:solidFill>
              <a:srgbClr val="06264A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Flow Card 2">
            <a:extLst>
              <a:ext uri="{FF2B5EF4-FFF2-40B4-BE49-F238E27FC236}">
                <a16:creationId xmlns:a16="http://schemas.microsoft.com/office/drawing/2014/main" id="{E73761A6-BBEF-4716-9098-62C47272B2AE}"/>
              </a:ext>
            </a:extLst>
          </p:cNvPr>
          <p:cNvSpPr/>
          <p:nvPr/>
        </p:nvSpPr>
        <p:spPr>
          <a:xfrm>
            <a:off x="4824501" y="1368935"/>
            <a:ext cx="1261631" cy="231616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BFD4E6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9" name="Flow Badge 2">
            <a:extLst>
              <a:ext uri="{FF2B5EF4-FFF2-40B4-BE49-F238E27FC236}">
                <a16:creationId xmlns:a16="http://schemas.microsoft.com/office/drawing/2014/main" id="{C9D6FD7B-7E87-4F9E-8252-59A0C6ECBDBB}"/>
              </a:ext>
            </a:extLst>
          </p:cNvPr>
          <p:cNvSpPr/>
          <p:nvPr/>
        </p:nvSpPr>
        <p:spPr>
          <a:xfrm>
            <a:off x="5315135" y="1442464"/>
            <a:ext cx="280363" cy="257351"/>
          </a:xfrm>
          <a:prstGeom prst="ellipse">
            <a:avLst/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1" name="Flow Badge Text 2">
            <a:extLst>
              <a:ext uri="{FF2B5EF4-FFF2-40B4-BE49-F238E27FC236}">
                <a16:creationId xmlns:a16="http://schemas.microsoft.com/office/drawing/2014/main" id="{8EB40419-A781-4B59-9F1C-4388FEDE5E91}"/>
              </a:ext>
            </a:extLst>
          </p:cNvPr>
          <p:cNvSpPr txBox="1"/>
          <p:nvPr/>
        </p:nvSpPr>
        <p:spPr>
          <a:xfrm>
            <a:off x="5315135" y="1470037"/>
            <a:ext cx="280363" cy="18933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2" name="Flow Icon Circle 2">
            <a:extLst>
              <a:ext uri="{FF2B5EF4-FFF2-40B4-BE49-F238E27FC236}">
                <a16:creationId xmlns:a16="http://schemas.microsoft.com/office/drawing/2014/main" id="{67E149F4-C8F2-4878-9838-61FF66BB684F}"/>
              </a:ext>
            </a:extLst>
          </p:cNvPr>
          <p:cNvSpPr/>
          <p:nvPr/>
        </p:nvSpPr>
        <p:spPr>
          <a:xfrm>
            <a:off x="5154928" y="1810108"/>
            <a:ext cx="600777" cy="551467"/>
          </a:xfrm>
          <a:prstGeom prst="ellipse">
            <a:avLst/>
          </a:prstGeom>
          <a:solidFill>
            <a:srgbClr val="EE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48" name="Flow Icon Image 2">
            <a:extLst>
              <a:ext uri="{FF2B5EF4-FFF2-40B4-BE49-F238E27FC236}">
                <a16:creationId xmlns:a16="http://schemas.microsoft.com/office/drawing/2014/main" id="{458F29F4-B270-4CF2-A549-0592BC62175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5083" y="1920402"/>
            <a:ext cx="360466" cy="330880"/>
          </a:xfrm>
          <a:prstGeom prst="rect">
            <a:avLst/>
          </a:prstGeom>
        </p:spPr>
      </p:pic>
      <p:sp>
        <p:nvSpPr>
          <p:cNvPr id="156" name="Flow Title 2">
            <a:extLst>
              <a:ext uri="{FF2B5EF4-FFF2-40B4-BE49-F238E27FC236}">
                <a16:creationId xmlns:a16="http://schemas.microsoft.com/office/drawing/2014/main" id="{2016BDCA-CC04-4A05-BB4E-5EB239103132}"/>
              </a:ext>
            </a:extLst>
          </p:cNvPr>
          <p:cNvSpPr txBox="1"/>
          <p:nvPr/>
        </p:nvSpPr>
        <p:spPr>
          <a:xfrm>
            <a:off x="4904604" y="2417730"/>
            <a:ext cx="1101424" cy="276999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Design</a:t>
            </a:r>
          </a:p>
        </p:txBody>
      </p:sp>
      <p:sp>
        <p:nvSpPr>
          <p:cNvPr id="160" name="Flow Body 2">
            <a:extLst>
              <a:ext uri="{FF2B5EF4-FFF2-40B4-BE49-F238E27FC236}">
                <a16:creationId xmlns:a16="http://schemas.microsoft.com/office/drawing/2014/main" id="{1AFBEC8F-A65E-4892-95B8-77A6EEAEA556}"/>
              </a:ext>
            </a:extLst>
          </p:cNvPr>
          <p:cNvSpPr txBox="1"/>
          <p:nvPr/>
        </p:nvSpPr>
        <p:spPr>
          <a:xfrm>
            <a:off x="4914617" y="2756793"/>
            <a:ext cx="1081398" cy="846386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Create variants for placement, wording, buttons and content layout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65" name="Flow Arrow 2">
            <a:extLst>
              <a:ext uri="{FF2B5EF4-FFF2-40B4-BE49-F238E27FC236}">
                <a16:creationId xmlns:a16="http://schemas.microsoft.com/office/drawing/2014/main" id="{A1D56DA8-AFF9-41F6-BB3E-6D0B28AF1052}"/>
              </a:ext>
            </a:extLst>
          </p:cNvPr>
          <p:cNvCxnSpPr/>
          <p:nvPr/>
        </p:nvCxnSpPr>
        <p:spPr>
          <a:xfrm>
            <a:off x="6106158" y="2140989"/>
            <a:ext cx="110142" cy="0"/>
          </a:xfrm>
          <a:prstGeom prst="line">
            <a:avLst/>
          </a:prstGeom>
          <a:ln w="22860">
            <a:solidFill>
              <a:srgbClr val="06264A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Flow Card 3">
            <a:extLst>
              <a:ext uri="{FF2B5EF4-FFF2-40B4-BE49-F238E27FC236}">
                <a16:creationId xmlns:a16="http://schemas.microsoft.com/office/drawing/2014/main" id="{1261DD49-AD45-4200-87EA-490B9F95E4ED}"/>
              </a:ext>
            </a:extLst>
          </p:cNvPr>
          <p:cNvSpPr/>
          <p:nvPr/>
        </p:nvSpPr>
        <p:spPr>
          <a:xfrm>
            <a:off x="6246339" y="1368935"/>
            <a:ext cx="1261631" cy="231616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BFD4E6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4" name="Flow Badge 3">
            <a:extLst>
              <a:ext uri="{FF2B5EF4-FFF2-40B4-BE49-F238E27FC236}">
                <a16:creationId xmlns:a16="http://schemas.microsoft.com/office/drawing/2014/main" id="{2E259E15-A164-4302-B7DA-5C4CCB0D0508}"/>
              </a:ext>
            </a:extLst>
          </p:cNvPr>
          <p:cNvSpPr/>
          <p:nvPr/>
        </p:nvSpPr>
        <p:spPr>
          <a:xfrm>
            <a:off x="6736973" y="1442464"/>
            <a:ext cx="280363" cy="257351"/>
          </a:xfrm>
          <a:prstGeom prst="ellipse">
            <a:avLst/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5" name="Flow Badge Text 3">
            <a:extLst>
              <a:ext uri="{FF2B5EF4-FFF2-40B4-BE49-F238E27FC236}">
                <a16:creationId xmlns:a16="http://schemas.microsoft.com/office/drawing/2014/main" id="{ABFF859B-95B8-4E99-A66D-ECB2D193B5E4}"/>
              </a:ext>
            </a:extLst>
          </p:cNvPr>
          <p:cNvSpPr txBox="1"/>
          <p:nvPr/>
        </p:nvSpPr>
        <p:spPr>
          <a:xfrm>
            <a:off x="6736973" y="1470037"/>
            <a:ext cx="280363" cy="18933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76" name="Flow Icon Circle 3">
            <a:extLst>
              <a:ext uri="{FF2B5EF4-FFF2-40B4-BE49-F238E27FC236}">
                <a16:creationId xmlns:a16="http://schemas.microsoft.com/office/drawing/2014/main" id="{72809646-DF59-426F-BC9D-AB50731493C8}"/>
              </a:ext>
            </a:extLst>
          </p:cNvPr>
          <p:cNvSpPr/>
          <p:nvPr/>
        </p:nvSpPr>
        <p:spPr>
          <a:xfrm>
            <a:off x="6576766" y="1810108"/>
            <a:ext cx="600777" cy="551467"/>
          </a:xfrm>
          <a:prstGeom prst="ellipse">
            <a:avLst/>
          </a:prstGeom>
          <a:solidFill>
            <a:srgbClr val="EE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77" name="Flow Icon Image 3">
            <a:extLst>
              <a:ext uri="{FF2B5EF4-FFF2-40B4-BE49-F238E27FC236}">
                <a16:creationId xmlns:a16="http://schemas.microsoft.com/office/drawing/2014/main" id="{CD76A612-163C-4DC4-9502-A235A4EE80E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6922" y="1920402"/>
            <a:ext cx="360466" cy="330880"/>
          </a:xfrm>
          <a:prstGeom prst="rect">
            <a:avLst/>
          </a:prstGeom>
        </p:spPr>
      </p:pic>
      <p:sp>
        <p:nvSpPr>
          <p:cNvPr id="178" name="Flow Title 3">
            <a:extLst>
              <a:ext uri="{FF2B5EF4-FFF2-40B4-BE49-F238E27FC236}">
                <a16:creationId xmlns:a16="http://schemas.microsoft.com/office/drawing/2014/main" id="{70154094-E40F-46CA-9D8E-2B06A435C48E}"/>
              </a:ext>
            </a:extLst>
          </p:cNvPr>
          <p:cNvSpPr txBox="1"/>
          <p:nvPr/>
        </p:nvSpPr>
        <p:spPr>
          <a:xfrm>
            <a:off x="6326443" y="2417730"/>
            <a:ext cx="1101424" cy="276999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Launch</a:t>
            </a:r>
          </a:p>
        </p:txBody>
      </p:sp>
      <p:sp>
        <p:nvSpPr>
          <p:cNvPr id="179" name="Flow Body 3">
            <a:extLst>
              <a:ext uri="{FF2B5EF4-FFF2-40B4-BE49-F238E27FC236}">
                <a16:creationId xmlns:a16="http://schemas.microsoft.com/office/drawing/2014/main" id="{BD258850-9547-4DAD-AFA2-697221B381DA}"/>
              </a:ext>
            </a:extLst>
          </p:cNvPr>
          <p:cNvSpPr txBox="1"/>
          <p:nvPr/>
        </p:nvSpPr>
        <p:spPr>
          <a:xfrm>
            <a:off x="6336456" y="2756793"/>
            <a:ext cx="1081398" cy="846386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Deploy A/B tests in OneTrust across selected sites or user segments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80" name="Flow Arrow 3">
            <a:extLst>
              <a:ext uri="{FF2B5EF4-FFF2-40B4-BE49-F238E27FC236}">
                <a16:creationId xmlns:a16="http://schemas.microsoft.com/office/drawing/2014/main" id="{93133BF5-48A3-4AB9-946D-AF7FB31C7C5B}"/>
              </a:ext>
            </a:extLst>
          </p:cNvPr>
          <p:cNvCxnSpPr/>
          <p:nvPr/>
        </p:nvCxnSpPr>
        <p:spPr>
          <a:xfrm>
            <a:off x="7527996" y="2140989"/>
            <a:ext cx="110142" cy="0"/>
          </a:xfrm>
          <a:prstGeom prst="line">
            <a:avLst/>
          </a:prstGeom>
          <a:ln w="22860">
            <a:solidFill>
              <a:srgbClr val="06264A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Flow Card 4">
            <a:extLst>
              <a:ext uri="{FF2B5EF4-FFF2-40B4-BE49-F238E27FC236}">
                <a16:creationId xmlns:a16="http://schemas.microsoft.com/office/drawing/2014/main" id="{0E98FE19-70A3-429B-811D-99CF34EA625A}"/>
              </a:ext>
            </a:extLst>
          </p:cNvPr>
          <p:cNvSpPr/>
          <p:nvPr/>
        </p:nvSpPr>
        <p:spPr>
          <a:xfrm>
            <a:off x="7668178" y="1368935"/>
            <a:ext cx="1261631" cy="231616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BFD4E6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2" name="Flow Badge 4">
            <a:extLst>
              <a:ext uri="{FF2B5EF4-FFF2-40B4-BE49-F238E27FC236}">
                <a16:creationId xmlns:a16="http://schemas.microsoft.com/office/drawing/2014/main" id="{E3E16296-C0EA-4C41-9732-49A8A3FB4A70}"/>
              </a:ext>
            </a:extLst>
          </p:cNvPr>
          <p:cNvSpPr/>
          <p:nvPr/>
        </p:nvSpPr>
        <p:spPr>
          <a:xfrm>
            <a:off x="8158812" y="1442464"/>
            <a:ext cx="280363" cy="257351"/>
          </a:xfrm>
          <a:prstGeom prst="ellipse">
            <a:avLst/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3" name="Flow Badge Text 4">
            <a:extLst>
              <a:ext uri="{FF2B5EF4-FFF2-40B4-BE49-F238E27FC236}">
                <a16:creationId xmlns:a16="http://schemas.microsoft.com/office/drawing/2014/main" id="{E66069A7-6999-4355-BADB-ED6DAD8444BC}"/>
              </a:ext>
            </a:extLst>
          </p:cNvPr>
          <p:cNvSpPr txBox="1"/>
          <p:nvPr/>
        </p:nvSpPr>
        <p:spPr>
          <a:xfrm>
            <a:off x="8158812" y="1470037"/>
            <a:ext cx="280363" cy="18933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84" name="Flow Icon Circle 4">
            <a:extLst>
              <a:ext uri="{FF2B5EF4-FFF2-40B4-BE49-F238E27FC236}">
                <a16:creationId xmlns:a16="http://schemas.microsoft.com/office/drawing/2014/main" id="{631C3979-B90C-4313-816E-4BB622C2FF9F}"/>
              </a:ext>
            </a:extLst>
          </p:cNvPr>
          <p:cNvSpPr/>
          <p:nvPr/>
        </p:nvSpPr>
        <p:spPr>
          <a:xfrm>
            <a:off x="7998605" y="1810108"/>
            <a:ext cx="600777" cy="551467"/>
          </a:xfrm>
          <a:prstGeom prst="ellipse">
            <a:avLst/>
          </a:prstGeom>
          <a:solidFill>
            <a:srgbClr val="EE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85" name="Flow Icon Image 4">
            <a:extLst>
              <a:ext uri="{FF2B5EF4-FFF2-40B4-BE49-F238E27FC236}">
                <a16:creationId xmlns:a16="http://schemas.microsoft.com/office/drawing/2014/main" id="{97007FD2-872B-4368-A361-7DDA5ABF01F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8760" y="1920402"/>
            <a:ext cx="360466" cy="330880"/>
          </a:xfrm>
          <a:prstGeom prst="rect">
            <a:avLst/>
          </a:prstGeom>
        </p:spPr>
      </p:pic>
      <p:sp>
        <p:nvSpPr>
          <p:cNvPr id="186" name="Flow Title 4">
            <a:extLst>
              <a:ext uri="{FF2B5EF4-FFF2-40B4-BE49-F238E27FC236}">
                <a16:creationId xmlns:a16="http://schemas.microsoft.com/office/drawing/2014/main" id="{700531C8-8BA1-4B5D-896A-B9470D274D22}"/>
              </a:ext>
            </a:extLst>
          </p:cNvPr>
          <p:cNvSpPr txBox="1"/>
          <p:nvPr/>
        </p:nvSpPr>
        <p:spPr>
          <a:xfrm>
            <a:off x="7748281" y="2417730"/>
            <a:ext cx="1101424" cy="276999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Measure</a:t>
            </a:r>
          </a:p>
        </p:txBody>
      </p:sp>
      <p:sp>
        <p:nvSpPr>
          <p:cNvPr id="187" name="Flow Body 4">
            <a:extLst>
              <a:ext uri="{FF2B5EF4-FFF2-40B4-BE49-F238E27FC236}">
                <a16:creationId xmlns:a16="http://schemas.microsoft.com/office/drawing/2014/main" id="{D065C13A-58F9-43F6-A601-3A9F867E61D0}"/>
              </a:ext>
            </a:extLst>
          </p:cNvPr>
          <p:cNvSpPr txBox="1"/>
          <p:nvPr/>
        </p:nvSpPr>
        <p:spPr>
          <a:xfrm>
            <a:off x="7758294" y="2756793"/>
            <a:ext cx="1081398" cy="846386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Track opt-in rates, interactions, and drop-off across variants</a:t>
            </a:r>
            <a:endParaRPr kumimoji="0" lang="en-IN" sz="1000" b="0" i="0" u="none" strike="noStrike" kern="1200" cap="none" spc="0" normalizeH="0" baseline="0" noProof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88" name="Flow Arrow 4">
            <a:extLst>
              <a:ext uri="{FF2B5EF4-FFF2-40B4-BE49-F238E27FC236}">
                <a16:creationId xmlns:a16="http://schemas.microsoft.com/office/drawing/2014/main" id="{D6AA9DF1-E242-455D-BFD9-FA2C0D148C57}"/>
              </a:ext>
            </a:extLst>
          </p:cNvPr>
          <p:cNvCxnSpPr/>
          <p:nvPr/>
        </p:nvCxnSpPr>
        <p:spPr>
          <a:xfrm>
            <a:off x="8949835" y="2140989"/>
            <a:ext cx="110142" cy="0"/>
          </a:xfrm>
          <a:prstGeom prst="line">
            <a:avLst/>
          </a:prstGeom>
          <a:ln w="22860">
            <a:solidFill>
              <a:srgbClr val="06264A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Flow Card 5">
            <a:extLst>
              <a:ext uri="{FF2B5EF4-FFF2-40B4-BE49-F238E27FC236}">
                <a16:creationId xmlns:a16="http://schemas.microsoft.com/office/drawing/2014/main" id="{EE054984-3DF7-4305-A427-616751587A3D}"/>
              </a:ext>
            </a:extLst>
          </p:cNvPr>
          <p:cNvSpPr/>
          <p:nvPr/>
        </p:nvSpPr>
        <p:spPr>
          <a:xfrm>
            <a:off x="9090016" y="1368935"/>
            <a:ext cx="1261631" cy="231616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BFD4E6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0" name="Flow Badge 5">
            <a:extLst>
              <a:ext uri="{FF2B5EF4-FFF2-40B4-BE49-F238E27FC236}">
                <a16:creationId xmlns:a16="http://schemas.microsoft.com/office/drawing/2014/main" id="{9EA32569-9ECA-4969-B271-430D13B483C2}"/>
              </a:ext>
            </a:extLst>
          </p:cNvPr>
          <p:cNvSpPr/>
          <p:nvPr/>
        </p:nvSpPr>
        <p:spPr>
          <a:xfrm>
            <a:off x="9580651" y="1442464"/>
            <a:ext cx="280363" cy="257351"/>
          </a:xfrm>
          <a:prstGeom prst="ellipse">
            <a:avLst/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1" name="Flow Badge Text 5">
            <a:extLst>
              <a:ext uri="{FF2B5EF4-FFF2-40B4-BE49-F238E27FC236}">
                <a16:creationId xmlns:a16="http://schemas.microsoft.com/office/drawing/2014/main" id="{6A347994-2F26-44FB-A77F-6E4D26BA21CC}"/>
              </a:ext>
            </a:extLst>
          </p:cNvPr>
          <p:cNvSpPr txBox="1"/>
          <p:nvPr/>
        </p:nvSpPr>
        <p:spPr>
          <a:xfrm>
            <a:off x="9590263" y="1481174"/>
            <a:ext cx="263140" cy="18933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92" name="Flow Icon Circle 5">
            <a:extLst>
              <a:ext uri="{FF2B5EF4-FFF2-40B4-BE49-F238E27FC236}">
                <a16:creationId xmlns:a16="http://schemas.microsoft.com/office/drawing/2014/main" id="{B1A6238A-61EB-49F3-B1C8-344B802EEB7E}"/>
              </a:ext>
            </a:extLst>
          </p:cNvPr>
          <p:cNvSpPr/>
          <p:nvPr/>
        </p:nvSpPr>
        <p:spPr>
          <a:xfrm>
            <a:off x="9420443" y="1810108"/>
            <a:ext cx="600777" cy="551467"/>
          </a:xfrm>
          <a:prstGeom prst="ellipse">
            <a:avLst/>
          </a:prstGeom>
          <a:solidFill>
            <a:srgbClr val="EE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3" name="Flow Icon Image 5">
            <a:extLst>
              <a:ext uri="{FF2B5EF4-FFF2-40B4-BE49-F238E27FC236}">
                <a16:creationId xmlns:a16="http://schemas.microsoft.com/office/drawing/2014/main" id="{F74E2AF9-2F8A-4D29-9F28-43A83DA0966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0599" y="1920402"/>
            <a:ext cx="360466" cy="330880"/>
          </a:xfrm>
          <a:prstGeom prst="rect">
            <a:avLst/>
          </a:prstGeom>
        </p:spPr>
      </p:pic>
      <p:sp>
        <p:nvSpPr>
          <p:cNvPr id="194" name="Flow Title 5">
            <a:extLst>
              <a:ext uri="{FF2B5EF4-FFF2-40B4-BE49-F238E27FC236}">
                <a16:creationId xmlns:a16="http://schemas.microsoft.com/office/drawing/2014/main" id="{C94B1930-0729-4AF3-B5D4-4C1752078177}"/>
              </a:ext>
            </a:extLst>
          </p:cNvPr>
          <p:cNvSpPr txBox="1"/>
          <p:nvPr/>
        </p:nvSpPr>
        <p:spPr>
          <a:xfrm>
            <a:off x="9170120" y="2417730"/>
            <a:ext cx="1101424" cy="276999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1" i="0" u="none" strike="noStrike" kern="1200" cap="none" spc="0" normalizeH="0" baseline="0" noProof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195" name="Flow Body 5">
            <a:extLst>
              <a:ext uri="{FF2B5EF4-FFF2-40B4-BE49-F238E27FC236}">
                <a16:creationId xmlns:a16="http://schemas.microsoft.com/office/drawing/2014/main" id="{9C8E053E-C7DD-4D4B-B446-8E2F5CBBA63D}"/>
              </a:ext>
            </a:extLst>
          </p:cNvPr>
          <p:cNvSpPr txBox="1"/>
          <p:nvPr/>
        </p:nvSpPr>
        <p:spPr>
          <a:xfrm>
            <a:off x="9196086" y="2852064"/>
            <a:ext cx="1081398" cy="692497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Choose the winning banner based on performance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96" name="Flow Arrow 5">
            <a:extLst>
              <a:ext uri="{FF2B5EF4-FFF2-40B4-BE49-F238E27FC236}">
                <a16:creationId xmlns:a16="http://schemas.microsoft.com/office/drawing/2014/main" id="{424BB0BE-59F6-449D-99C6-F5972E3AD5DD}"/>
              </a:ext>
            </a:extLst>
          </p:cNvPr>
          <p:cNvCxnSpPr/>
          <p:nvPr/>
        </p:nvCxnSpPr>
        <p:spPr>
          <a:xfrm>
            <a:off x="10371673" y="2140989"/>
            <a:ext cx="110142" cy="0"/>
          </a:xfrm>
          <a:prstGeom prst="line">
            <a:avLst/>
          </a:prstGeom>
          <a:ln w="22860">
            <a:solidFill>
              <a:srgbClr val="06264A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Flow Card 6">
            <a:extLst>
              <a:ext uri="{FF2B5EF4-FFF2-40B4-BE49-F238E27FC236}">
                <a16:creationId xmlns:a16="http://schemas.microsoft.com/office/drawing/2014/main" id="{2A5F4E49-AE55-4E9F-819F-74960B89681D}"/>
              </a:ext>
            </a:extLst>
          </p:cNvPr>
          <p:cNvSpPr/>
          <p:nvPr/>
        </p:nvSpPr>
        <p:spPr>
          <a:xfrm>
            <a:off x="10511855" y="1368935"/>
            <a:ext cx="1261631" cy="231616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BFD4E6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8" name="Flow Badge 6">
            <a:extLst>
              <a:ext uri="{FF2B5EF4-FFF2-40B4-BE49-F238E27FC236}">
                <a16:creationId xmlns:a16="http://schemas.microsoft.com/office/drawing/2014/main" id="{B03EECFA-1482-42AA-BE11-FCFA710F1883}"/>
              </a:ext>
            </a:extLst>
          </p:cNvPr>
          <p:cNvSpPr/>
          <p:nvPr/>
        </p:nvSpPr>
        <p:spPr>
          <a:xfrm>
            <a:off x="11012101" y="1442464"/>
            <a:ext cx="280363" cy="257351"/>
          </a:xfrm>
          <a:prstGeom prst="ellipse">
            <a:avLst/>
          </a:prstGeom>
          <a:solidFill>
            <a:srgbClr val="00206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9" name="Flow Badge Text 6">
            <a:extLst>
              <a:ext uri="{FF2B5EF4-FFF2-40B4-BE49-F238E27FC236}">
                <a16:creationId xmlns:a16="http://schemas.microsoft.com/office/drawing/2014/main" id="{DEE23F13-1E93-4898-A4F3-0E22CACFFE38}"/>
              </a:ext>
            </a:extLst>
          </p:cNvPr>
          <p:cNvSpPr txBox="1"/>
          <p:nvPr/>
        </p:nvSpPr>
        <p:spPr>
          <a:xfrm>
            <a:off x="11012101" y="1470037"/>
            <a:ext cx="280363" cy="189330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00" name="Flow Icon Circle 6">
            <a:extLst>
              <a:ext uri="{FF2B5EF4-FFF2-40B4-BE49-F238E27FC236}">
                <a16:creationId xmlns:a16="http://schemas.microsoft.com/office/drawing/2014/main" id="{D340A626-59B0-407B-BEE3-706012064D1A}"/>
              </a:ext>
            </a:extLst>
          </p:cNvPr>
          <p:cNvSpPr/>
          <p:nvPr/>
        </p:nvSpPr>
        <p:spPr>
          <a:xfrm>
            <a:off x="10842282" y="1810108"/>
            <a:ext cx="600777" cy="551467"/>
          </a:xfrm>
          <a:prstGeom prst="ellipse">
            <a:avLst/>
          </a:prstGeom>
          <a:solidFill>
            <a:srgbClr val="EEF6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01" name="Flow Icon Image 6">
            <a:extLst>
              <a:ext uri="{FF2B5EF4-FFF2-40B4-BE49-F238E27FC236}">
                <a16:creationId xmlns:a16="http://schemas.microsoft.com/office/drawing/2014/main" id="{4473CF22-BB7E-4403-81C6-FEB7F973CA5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2437" y="1920402"/>
            <a:ext cx="360466" cy="330880"/>
          </a:xfrm>
          <a:prstGeom prst="rect">
            <a:avLst/>
          </a:prstGeom>
        </p:spPr>
      </p:pic>
      <p:sp>
        <p:nvSpPr>
          <p:cNvPr id="202" name="Flow Title 6">
            <a:extLst>
              <a:ext uri="{FF2B5EF4-FFF2-40B4-BE49-F238E27FC236}">
                <a16:creationId xmlns:a16="http://schemas.microsoft.com/office/drawing/2014/main" id="{6FEDE2D1-5BB0-448D-8AE0-DFD778AD384F}"/>
              </a:ext>
            </a:extLst>
          </p:cNvPr>
          <p:cNvSpPr txBox="1"/>
          <p:nvPr/>
        </p:nvSpPr>
        <p:spPr>
          <a:xfrm>
            <a:off x="10591958" y="2417730"/>
            <a:ext cx="1101424" cy="276999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00" b="1" i="0" u="none" strike="noStrike" kern="1200" cap="none" spc="0" normalizeH="0" baseline="0" noProof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Optimize</a:t>
            </a:r>
          </a:p>
        </p:txBody>
      </p:sp>
      <p:sp>
        <p:nvSpPr>
          <p:cNvPr id="203" name="Flow Body 6">
            <a:extLst>
              <a:ext uri="{FF2B5EF4-FFF2-40B4-BE49-F238E27FC236}">
                <a16:creationId xmlns:a16="http://schemas.microsoft.com/office/drawing/2014/main" id="{5FADBF32-4DCD-487F-9220-5486862FEC65}"/>
              </a:ext>
            </a:extLst>
          </p:cNvPr>
          <p:cNvSpPr txBox="1"/>
          <p:nvPr/>
        </p:nvSpPr>
        <p:spPr>
          <a:xfrm>
            <a:off x="10601971" y="2833737"/>
            <a:ext cx="1081398" cy="692497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Roll out the best design and continue iterative testing</a:t>
            </a:r>
            <a:endParaRPr kumimoji="0" lang="en-IN" sz="1000" b="0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04" name="Optimization Loop Down">
            <a:extLst>
              <a:ext uri="{FF2B5EF4-FFF2-40B4-BE49-F238E27FC236}">
                <a16:creationId xmlns:a16="http://schemas.microsoft.com/office/drawing/2014/main" id="{C6317102-F0C3-4F3B-8848-0284A4964DBF}"/>
              </a:ext>
            </a:extLst>
          </p:cNvPr>
          <p:cNvCxnSpPr/>
          <p:nvPr/>
        </p:nvCxnSpPr>
        <p:spPr>
          <a:xfrm>
            <a:off x="11142670" y="3703478"/>
            <a:ext cx="0" cy="238969"/>
          </a:xfrm>
          <a:prstGeom prst="line">
            <a:avLst/>
          </a:prstGeom>
          <a:ln w="19050">
            <a:solidFill>
              <a:srgbClr val="06264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Optimization Loop Return">
            <a:extLst>
              <a:ext uri="{FF2B5EF4-FFF2-40B4-BE49-F238E27FC236}">
                <a16:creationId xmlns:a16="http://schemas.microsoft.com/office/drawing/2014/main" id="{AF54A469-6CEF-4A29-8C34-80B0D8911C79}"/>
              </a:ext>
            </a:extLst>
          </p:cNvPr>
          <p:cNvCxnSpPr/>
          <p:nvPr/>
        </p:nvCxnSpPr>
        <p:spPr>
          <a:xfrm flipH="1">
            <a:off x="4033478" y="3942447"/>
            <a:ext cx="7109193" cy="0"/>
          </a:xfrm>
          <a:prstGeom prst="line">
            <a:avLst/>
          </a:prstGeom>
          <a:ln w="19050">
            <a:solidFill>
              <a:srgbClr val="06264A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Optimization Loop Up">
            <a:extLst>
              <a:ext uri="{FF2B5EF4-FFF2-40B4-BE49-F238E27FC236}">
                <a16:creationId xmlns:a16="http://schemas.microsoft.com/office/drawing/2014/main" id="{7F46CE3E-8241-475E-A185-7A2CE63ABFB4}"/>
              </a:ext>
            </a:extLst>
          </p:cNvPr>
          <p:cNvCxnSpPr/>
          <p:nvPr/>
        </p:nvCxnSpPr>
        <p:spPr>
          <a:xfrm flipV="1">
            <a:off x="4033478" y="3712669"/>
            <a:ext cx="0" cy="229778"/>
          </a:xfrm>
          <a:prstGeom prst="line">
            <a:avLst/>
          </a:prstGeom>
          <a:ln w="19050">
            <a:solidFill>
              <a:srgbClr val="06264A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Optimization Loop Label Backing">
            <a:extLst>
              <a:ext uri="{FF2B5EF4-FFF2-40B4-BE49-F238E27FC236}">
                <a16:creationId xmlns:a16="http://schemas.microsoft.com/office/drawing/2014/main" id="{C1636681-20E7-4695-BA3A-ACD873196FD0}"/>
              </a:ext>
            </a:extLst>
          </p:cNvPr>
          <p:cNvSpPr/>
          <p:nvPr/>
        </p:nvSpPr>
        <p:spPr>
          <a:xfrm>
            <a:off x="6044262" y="3870751"/>
            <a:ext cx="3905049" cy="211396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8" name="Optimization Loop Label">
            <a:extLst>
              <a:ext uri="{FF2B5EF4-FFF2-40B4-BE49-F238E27FC236}">
                <a16:creationId xmlns:a16="http://schemas.microsoft.com/office/drawing/2014/main" id="{4F9D16D0-FD70-469D-B318-AE4CFE26E4F1}"/>
              </a:ext>
            </a:extLst>
          </p:cNvPr>
          <p:cNvSpPr txBox="1"/>
          <p:nvPr/>
        </p:nvSpPr>
        <p:spPr>
          <a:xfrm>
            <a:off x="6171262" y="3836397"/>
            <a:ext cx="3704791" cy="246221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Continuous consent experimentation &amp; optimization</a:t>
            </a:r>
          </a:p>
        </p:txBody>
      </p:sp>
      <p:sp>
        <p:nvSpPr>
          <p:cNvPr id="209" name="Solution Caption">
            <a:extLst>
              <a:ext uri="{FF2B5EF4-FFF2-40B4-BE49-F238E27FC236}">
                <a16:creationId xmlns:a16="http://schemas.microsoft.com/office/drawing/2014/main" id="{2D983593-56BC-4FF5-9D1F-567797E84BD9}"/>
              </a:ext>
            </a:extLst>
          </p:cNvPr>
          <p:cNvSpPr txBox="1"/>
          <p:nvPr/>
        </p:nvSpPr>
        <p:spPr>
          <a:xfrm>
            <a:off x="4094812" y="4290719"/>
            <a:ext cx="7409581" cy="230832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OneTrust A/B testing combined with data-led measurement to improve consent experience and opt-in outcomes.</a:t>
            </a:r>
            <a:endParaRPr kumimoji="0" lang="en-IN" sz="1000" b="0" i="1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6" name="Benefit Card 1">
            <a:extLst>
              <a:ext uri="{FF2B5EF4-FFF2-40B4-BE49-F238E27FC236}">
                <a16:creationId xmlns:a16="http://schemas.microsoft.com/office/drawing/2014/main" id="{A4AEE9E7-F637-40E9-905E-5E957F81F776}"/>
              </a:ext>
            </a:extLst>
          </p:cNvPr>
          <p:cNvSpPr/>
          <p:nvPr/>
        </p:nvSpPr>
        <p:spPr>
          <a:xfrm>
            <a:off x="3853245" y="5033077"/>
            <a:ext cx="237348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9" name="Benefit Metric 1">
            <a:extLst>
              <a:ext uri="{FF2B5EF4-FFF2-40B4-BE49-F238E27FC236}">
                <a16:creationId xmlns:a16="http://schemas.microsoft.com/office/drawing/2014/main" id="{0D5D0982-65E2-463C-A217-9C29D677C452}"/>
              </a:ext>
            </a:extLst>
          </p:cNvPr>
          <p:cNvSpPr txBox="1"/>
          <p:nvPr/>
        </p:nvSpPr>
        <p:spPr>
          <a:xfrm>
            <a:off x="4514467" y="5119096"/>
            <a:ext cx="1008989" cy="423193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50" b="1" i="0" u="none" strike="noStrike" kern="1200" cap="none" spc="0" normalizeH="0" baseline="0" noProof="0" dirty="0">
                <a:ln>
                  <a:noFill/>
                </a:ln>
                <a:solidFill>
                  <a:srgbClr val="0626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13%</a:t>
            </a:r>
          </a:p>
        </p:txBody>
      </p:sp>
      <p:sp>
        <p:nvSpPr>
          <p:cNvPr id="240" name="Benefit Caption 1">
            <a:extLst>
              <a:ext uri="{FF2B5EF4-FFF2-40B4-BE49-F238E27FC236}">
                <a16:creationId xmlns:a16="http://schemas.microsoft.com/office/drawing/2014/main" id="{B697D14A-7E8D-4B71-8942-BF3E28DF6F3E}"/>
              </a:ext>
            </a:extLst>
          </p:cNvPr>
          <p:cNvSpPr txBox="1"/>
          <p:nvPr/>
        </p:nvSpPr>
        <p:spPr>
          <a:xfrm>
            <a:off x="4173659" y="5515219"/>
            <a:ext cx="1818122" cy="230832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Opt-in Rate Uplift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2" name="Benefit Card 2">
            <a:extLst>
              <a:ext uri="{FF2B5EF4-FFF2-40B4-BE49-F238E27FC236}">
                <a16:creationId xmlns:a16="http://schemas.microsoft.com/office/drawing/2014/main" id="{EE1B028A-638B-4D61-A8C1-002ED3777874}"/>
              </a:ext>
            </a:extLst>
          </p:cNvPr>
          <p:cNvSpPr/>
          <p:nvPr/>
        </p:nvSpPr>
        <p:spPr>
          <a:xfrm>
            <a:off x="6299836" y="5033077"/>
            <a:ext cx="2629973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" name="Benefit Metric 2">
            <a:extLst>
              <a:ext uri="{FF2B5EF4-FFF2-40B4-BE49-F238E27FC236}">
                <a16:creationId xmlns:a16="http://schemas.microsoft.com/office/drawing/2014/main" id="{83BC6B32-44D8-4938-8E15-54D77BB16BDC}"/>
              </a:ext>
            </a:extLst>
          </p:cNvPr>
          <p:cNvSpPr txBox="1"/>
          <p:nvPr/>
        </p:nvSpPr>
        <p:spPr>
          <a:xfrm>
            <a:off x="6839908" y="5127174"/>
            <a:ext cx="1514704" cy="423193"/>
          </a:xfrm>
          <a:prstGeom prst="rect">
            <a:avLst/>
          </a:prstGeom>
          <a:noFill/>
          <a:ln>
            <a:noFill/>
          </a:ln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5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30%</a:t>
            </a:r>
          </a:p>
        </p:txBody>
      </p:sp>
      <p:sp>
        <p:nvSpPr>
          <p:cNvPr id="246" name="Benefit Caption 2">
            <a:extLst>
              <a:ext uri="{FF2B5EF4-FFF2-40B4-BE49-F238E27FC236}">
                <a16:creationId xmlns:a16="http://schemas.microsoft.com/office/drawing/2014/main" id="{62168056-F982-4C97-A992-D6BF79D2CA2B}"/>
              </a:ext>
            </a:extLst>
          </p:cNvPr>
          <p:cNvSpPr txBox="1"/>
          <p:nvPr/>
        </p:nvSpPr>
        <p:spPr>
          <a:xfrm>
            <a:off x="6783640" y="5542571"/>
            <a:ext cx="1598854" cy="230832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Faster Decisions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8" name="Benefit Card 3">
            <a:extLst>
              <a:ext uri="{FF2B5EF4-FFF2-40B4-BE49-F238E27FC236}">
                <a16:creationId xmlns:a16="http://schemas.microsoft.com/office/drawing/2014/main" id="{19642EBC-FDC8-49DB-8B00-D262E1362B7C}"/>
              </a:ext>
            </a:extLst>
          </p:cNvPr>
          <p:cNvSpPr/>
          <p:nvPr/>
        </p:nvSpPr>
        <p:spPr>
          <a:xfrm>
            <a:off x="8963675" y="5033374"/>
            <a:ext cx="2285142" cy="1249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FFFFFF"/>
            </a:solidFill>
            <a:prstDash val="solid"/>
          </a:ln>
          <a:effectLst>
            <a:outerShdw blurRad="63500" dist="29621" dir="3542194" rotWithShape="0">
              <a:srgbClr val="9FAFC0">
                <a:alpha val="16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1" name="Benefit Metric 3">
            <a:extLst>
              <a:ext uri="{FF2B5EF4-FFF2-40B4-BE49-F238E27FC236}">
                <a16:creationId xmlns:a16="http://schemas.microsoft.com/office/drawing/2014/main" id="{EEA5A933-E2B6-47F7-BA50-6E4974832930}"/>
              </a:ext>
            </a:extLst>
          </p:cNvPr>
          <p:cNvSpPr txBox="1"/>
          <p:nvPr/>
        </p:nvSpPr>
        <p:spPr>
          <a:xfrm>
            <a:off x="9469881" y="5092026"/>
            <a:ext cx="1341957" cy="423193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50" b="1" i="0" u="none" strike="noStrike" kern="1200" cap="none" spc="0" normalizeH="0" baseline="0" noProof="0" dirty="0">
                <a:ln>
                  <a:noFill/>
                </a:ln>
                <a:solidFill>
                  <a:srgbClr val="06264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15%</a:t>
            </a:r>
          </a:p>
        </p:txBody>
      </p:sp>
      <p:sp>
        <p:nvSpPr>
          <p:cNvPr id="252" name="Benefit Caption 3">
            <a:extLst>
              <a:ext uri="{FF2B5EF4-FFF2-40B4-BE49-F238E27FC236}">
                <a16:creationId xmlns:a16="http://schemas.microsoft.com/office/drawing/2014/main" id="{47DB37E3-CDDC-4B16-AE07-8FF641914FD6}"/>
              </a:ext>
            </a:extLst>
          </p:cNvPr>
          <p:cNvSpPr txBox="1"/>
          <p:nvPr/>
        </p:nvSpPr>
        <p:spPr>
          <a:xfrm>
            <a:off x="9506438" y="5537790"/>
            <a:ext cx="1512077" cy="230832"/>
          </a:xfrm>
          <a:prstGeom prst="rect">
            <a:avLst/>
          </a:prstGeom>
          <a:noFill/>
        </p:spPr>
        <p:txBody>
          <a:bodyPr vert="horz" wrap="square" lIns="63500" tIns="38100" rIns="63500" bIns="3810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More trackable users</a:t>
            </a:r>
            <a:endParaRPr kumimoji="0" lang="en-IN" sz="1000" b="1" i="0" u="none" strike="noStrike" kern="1200" cap="none" spc="0" normalizeH="0" baseline="0" noProof="0" dirty="0">
              <a:ln>
                <a:noFill/>
              </a:ln>
              <a:solidFill>
                <a:srgbClr val="0E1259">
                  <a:lumMod val="75000"/>
                </a:srgb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04CFAD-5B46-4E10-85E4-272867250FF3}"/>
              </a:ext>
            </a:extLst>
          </p:cNvPr>
          <p:cNvSpPr txBox="1"/>
          <p:nvPr/>
        </p:nvSpPr>
        <p:spPr>
          <a:xfrm>
            <a:off x="4173659" y="5778025"/>
            <a:ext cx="181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Measured improvement from winning banner variants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E604F00-9B0F-4C7C-A279-C53C6C5C46BA}"/>
              </a:ext>
            </a:extLst>
          </p:cNvPr>
          <p:cNvSpPr txBox="1"/>
          <p:nvPr/>
        </p:nvSpPr>
        <p:spPr>
          <a:xfrm>
            <a:off x="6696922" y="5801017"/>
            <a:ext cx="1990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Reduced time to identify effective consent experiences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FBFFEBA-7D6D-4331-AE06-A2D0AEF13411}"/>
              </a:ext>
            </a:extLst>
          </p:cNvPr>
          <p:cNvSpPr txBox="1"/>
          <p:nvPr/>
        </p:nvSpPr>
        <p:spPr>
          <a:xfrm>
            <a:off x="9118047" y="5798563"/>
            <a:ext cx="2096438" cy="368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Increase in consented users available for analytics</a:t>
            </a:r>
            <a:endParaRPr kumimoji="0" lang="en-I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8656823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7801392-319D-44E9-B4F2-59D5EE0E48B4}"/>
              </a:ext>
            </a:extLst>
          </p:cNvPr>
          <p:cNvSpPr/>
          <p:nvPr/>
        </p:nvSpPr>
        <p:spPr>
          <a:xfrm>
            <a:off x="134376" y="771259"/>
            <a:ext cx="11991250" cy="37526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C331C-CC1E-4325-8026-EE0129F78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98B77-332E-004E-BD2A-A6DBBD4442FD}" type="slidenum">
              <a:rPr kumimoji="0" lang="sv-S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sv-S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43BE8344-E263-45D7-AE84-8D5505EB2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31" y="219472"/>
            <a:ext cx="11873140" cy="468193"/>
          </a:xfrm>
        </p:spPr>
        <p:txBody>
          <a:bodyPr vert="horz"/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ObservePoint - Removing the Web Coverage Blindspot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4BEE756-2196-C9F3-A8E5-2F934E11D73B}"/>
              </a:ext>
            </a:extLst>
          </p:cNvPr>
          <p:cNvGrpSpPr/>
          <p:nvPr/>
        </p:nvGrpSpPr>
        <p:grpSpPr>
          <a:xfrm>
            <a:off x="340367" y="938447"/>
            <a:ext cx="5687344" cy="3418240"/>
            <a:chOff x="292114" y="939336"/>
            <a:chExt cx="5687344" cy="3418240"/>
          </a:xfrm>
        </p:grpSpPr>
        <p:sp>
          <p:nvSpPr>
            <p:cNvPr id="21" name="Shape 4">
              <a:extLst>
                <a:ext uri="{FF2B5EF4-FFF2-40B4-BE49-F238E27FC236}">
                  <a16:creationId xmlns:a16="http://schemas.microsoft.com/office/drawing/2014/main" id="{D9995FC3-6F32-7FC7-AEED-BCEEB9B54A36}"/>
                </a:ext>
              </a:extLst>
            </p:cNvPr>
            <p:cNvSpPr/>
            <p:nvPr/>
          </p:nvSpPr>
          <p:spPr>
            <a:xfrm>
              <a:off x="292114" y="956369"/>
              <a:ext cx="5682755" cy="3401207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2700">
              <a:solidFill>
                <a:srgbClr val="D4DDE6"/>
              </a:solidFill>
              <a:prstDash val="solid"/>
            </a:ln>
            <a:effectLst>
              <a:outerShdw blurRad="889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9E9E768B-3B89-DFB1-1F23-BE1EBFA4C2B7}"/>
                </a:ext>
              </a:extLst>
            </p:cNvPr>
            <p:cNvSpPr/>
            <p:nvPr/>
          </p:nvSpPr>
          <p:spPr>
            <a:xfrm>
              <a:off x="296703" y="939336"/>
              <a:ext cx="5682755" cy="417692"/>
            </a:xfrm>
            <a:prstGeom prst="roundRect">
              <a:avLst>
                <a:gd name="adj" fmla="val 25000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8ACFE4BD-9D3B-9935-E316-B01ED6F315CD}"/>
                </a:ext>
              </a:extLst>
            </p:cNvPr>
            <p:cNvSpPr/>
            <p:nvPr/>
          </p:nvSpPr>
          <p:spPr>
            <a:xfrm>
              <a:off x="296702" y="1178017"/>
              <a:ext cx="5682755" cy="179011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D45079FC-88DD-372D-B8B9-B658D2956793}"/>
                </a:ext>
              </a:extLst>
            </p:cNvPr>
            <p:cNvSpPr/>
            <p:nvPr/>
          </p:nvSpPr>
          <p:spPr>
            <a:xfrm>
              <a:off x="316399" y="956369"/>
              <a:ext cx="5634185" cy="4176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CURRENT STATE - BLINDSPOT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3" name="Text 8">
              <a:extLst>
                <a:ext uri="{FF2B5EF4-FFF2-40B4-BE49-F238E27FC236}">
                  <a16:creationId xmlns:a16="http://schemas.microsoft.com/office/drawing/2014/main" id="{0BAE2B25-637A-BE00-2C5B-5E69D94AFDDD}"/>
                </a:ext>
              </a:extLst>
            </p:cNvPr>
            <p:cNvSpPr/>
            <p:nvPr/>
          </p:nvSpPr>
          <p:spPr>
            <a:xfrm>
              <a:off x="413540" y="1433731"/>
              <a:ext cx="5439903" cy="2864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0E1259"/>
                  </a:solidFill>
                  <a:latin typeface="Arial" panose="020B0604020202020204"/>
                </a:rPr>
                <a:t>ObservePoint Audits run only on configured/starting URLs - pages that are part of a multi-step user journey (checkout, login, booking funnel) are not reached by the crawler and therefore not scanned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0E1259"/>
                  </a:solidFill>
                  <a:latin typeface="Arial" panose="020B0604020202020204"/>
                </a:rPr>
                <a:t>Pages visited only after user interactions (form fills, button clicks, modal flows) are invisible to Audits unless explicitly listed as starting URLs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0E1259"/>
                  </a:solidFill>
                  <a:latin typeface="Arial" panose="020B0604020202020204"/>
                </a:rPr>
                <a:t>Journeys cover these step-by-step conversion paths but - per ObservePoint documentation - 'Journeys do not directly support unapproved tag and cookie alerts'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0E1259"/>
                  </a:solidFill>
                  <a:latin typeface="Arial" panose="020B0604020202020204"/>
                </a:rPr>
                <a:t>This creates a gap: journey-only pages have no unapproved cookie detection, meaning a rogue tracker or miscategorised cookie on a checkout page would not be flagged automatically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0E1259"/>
                  </a:solidFill>
                  <a:latin typeface="Arial" panose="020B0604020202020204"/>
                </a:rPr>
                <a:t>Result: compliance coverage is partial - cookie/tag governance is enforced on static pages but blind on interaction-driven flow pages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72FF49D-22A5-A4D8-CB74-52EEE2130CF2}"/>
              </a:ext>
            </a:extLst>
          </p:cNvPr>
          <p:cNvGrpSpPr/>
          <p:nvPr/>
        </p:nvGrpSpPr>
        <p:grpSpPr>
          <a:xfrm>
            <a:off x="6312170" y="932552"/>
            <a:ext cx="5682754" cy="3401207"/>
            <a:chOff x="4700016" y="768096"/>
            <a:chExt cx="4279392" cy="2084832"/>
          </a:xfrm>
        </p:grpSpPr>
        <p:sp>
          <p:nvSpPr>
            <p:cNvPr id="35" name="Shape 9">
              <a:extLst>
                <a:ext uri="{FF2B5EF4-FFF2-40B4-BE49-F238E27FC236}">
                  <a16:creationId xmlns:a16="http://schemas.microsoft.com/office/drawing/2014/main" id="{B09A8BB2-38EC-15C7-ADB3-1BE411D8C6B4}"/>
                </a:ext>
              </a:extLst>
            </p:cNvPr>
            <p:cNvSpPr/>
            <p:nvPr/>
          </p:nvSpPr>
          <p:spPr>
            <a:xfrm>
              <a:off x="4700016" y="768096"/>
              <a:ext cx="4279392" cy="2084832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2700">
              <a:solidFill>
                <a:srgbClr val="D4DDE6"/>
              </a:solidFill>
              <a:prstDash val="solid"/>
            </a:ln>
            <a:effectLst>
              <a:outerShdw blurRad="889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Shape 10">
              <a:extLst>
                <a:ext uri="{FF2B5EF4-FFF2-40B4-BE49-F238E27FC236}">
                  <a16:creationId xmlns:a16="http://schemas.microsoft.com/office/drawing/2014/main" id="{C95B9270-D3EF-5647-3B30-3A3C96635F4C}"/>
                </a:ext>
              </a:extLst>
            </p:cNvPr>
            <p:cNvSpPr/>
            <p:nvPr/>
          </p:nvSpPr>
          <p:spPr>
            <a:xfrm>
              <a:off x="4700016" y="768096"/>
              <a:ext cx="4279392" cy="256032"/>
            </a:xfrm>
            <a:prstGeom prst="roundRect">
              <a:avLst>
                <a:gd name="adj" fmla="val 25000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7" name="Shape 11">
              <a:extLst>
                <a:ext uri="{FF2B5EF4-FFF2-40B4-BE49-F238E27FC236}">
                  <a16:creationId xmlns:a16="http://schemas.microsoft.com/office/drawing/2014/main" id="{014A548E-52B0-5823-07BF-7DD910EDADE8}"/>
                </a:ext>
              </a:extLst>
            </p:cNvPr>
            <p:cNvSpPr/>
            <p:nvPr/>
          </p:nvSpPr>
          <p:spPr>
            <a:xfrm>
              <a:off x="4700016" y="914400"/>
              <a:ext cx="4279392" cy="109728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12">
              <a:extLst>
                <a:ext uri="{FF2B5EF4-FFF2-40B4-BE49-F238E27FC236}">
                  <a16:creationId xmlns:a16="http://schemas.microsoft.com/office/drawing/2014/main" id="{CC87009A-45FB-0554-163C-B4E13D75A5F5}"/>
                </a:ext>
              </a:extLst>
            </p:cNvPr>
            <p:cNvSpPr/>
            <p:nvPr/>
          </p:nvSpPr>
          <p:spPr>
            <a:xfrm>
              <a:off x="4718304" y="768096"/>
              <a:ext cx="42428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RECOMMENDATION - CLOSE THE GAP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9" name="Text 13">
              <a:extLst>
                <a:ext uri="{FF2B5EF4-FFF2-40B4-BE49-F238E27FC236}">
                  <a16:creationId xmlns:a16="http://schemas.microsoft.com/office/drawing/2014/main" id="{3C57A07A-93B1-BA56-EFA4-DC2CA62CF97C}"/>
                </a:ext>
              </a:extLst>
            </p:cNvPr>
            <p:cNvSpPr/>
            <p:nvPr/>
          </p:nvSpPr>
          <p:spPr>
            <a:xfrm>
              <a:off x="4791456" y="1060704"/>
              <a:ext cx="4096512" cy="17556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0E1259"/>
                  </a:solidFill>
                  <a:latin typeface="Arial" panose="020B0604020202020204"/>
                </a:rPr>
                <a:t>Add journey page URLs as explicit Starting URLs in Audits - this brings funnel pages (checkout, confirmation, login redirect) into Audit scope for unapproved cookie scanning</a:t>
              </a:r>
            </a:p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0E1259"/>
                  </a:solidFill>
                  <a:latin typeface="Arial" panose="020B0604020202020204"/>
                </a:rPr>
                <a:t>Use Pre-Audit Actions (Automated CMP State) to simulate Opted In, Opted Out, and GPC Signal states before the Audit crawls, matching real user consent scenarios across all scanned pages</a:t>
              </a:r>
            </a:p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0E1259"/>
                  </a:solidFill>
                  <a:latin typeface="Arial" panose="020B0604020202020204"/>
                </a:rPr>
                <a:t>Use ClickAll+ Solution within Audits to interact with page elements at scale - this surfaces cookies and tags that only fire after user interactions (e.g. 'Add to Cart'), which neither standard Audits nor Journeys catch without it</a:t>
              </a:r>
            </a:p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0E1259"/>
                  </a:solidFill>
                  <a:latin typeface="Arial" panose="020B0604020202020204"/>
                </a:rPr>
                <a:t>Run Journeys in parallel to validate tag &amp; variable correctness on conversion flows - treat Journeys as analytics validation and Audits as privacy/cookie compliance - they are complementary, not interchangeable</a:t>
              </a:r>
            </a:p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sz="1100" dirty="0">
                  <a:solidFill>
                    <a:srgbClr val="0E1259"/>
                  </a:solidFill>
                  <a:latin typeface="Arial" panose="020B0604020202020204"/>
                </a:rPr>
                <a:t>For webhooks on journey-based unapproved tag/cookie alerts, engage ObservePoint team - this is available but requires manual configuration per their documentation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753CBA4-6703-8F4D-1825-43EF77C30729}"/>
              </a:ext>
            </a:extLst>
          </p:cNvPr>
          <p:cNvGrpSpPr/>
          <p:nvPr/>
        </p:nvGrpSpPr>
        <p:grpSpPr>
          <a:xfrm>
            <a:off x="134376" y="4560201"/>
            <a:ext cx="11991250" cy="1999127"/>
            <a:chOff x="134376" y="4613366"/>
            <a:chExt cx="11991250" cy="1999127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FC88D19-5F54-4C5A-8F19-129CF2532F2C}"/>
                </a:ext>
              </a:extLst>
            </p:cNvPr>
            <p:cNvSpPr/>
            <p:nvPr/>
          </p:nvSpPr>
          <p:spPr>
            <a:xfrm>
              <a:off x="134376" y="4613366"/>
              <a:ext cx="11991250" cy="199912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595CF070-29F1-68B0-F743-B69F6AB6D204}"/>
                </a:ext>
              </a:extLst>
            </p:cNvPr>
            <p:cNvGrpSpPr/>
            <p:nvPr/>
          </p:nvGrpSpPr>
          <p:grpSpPr>
            <a:xfrm>
              <a:off x="267828" y="5018742"/>
              <a:ext cx="11727096" cy="1536192"/>
              <a:chOff x="267828" y="5018742"/>
              <a:chExt cx="11727096" cy="1536192"/>
            </a:xfrm>
          </p:grpSpPr>
          <p:sp>
            <p:nvSpPr>
              <p:cNvPr id="41" name="Shape 15">
                <a:extLst>
                  <a:ext uri="{FF2B5EF4-FFF2-40B4-BE49-F238E27FC236}">
                    <a16:creationId xmlns:a16="http://schemas.microsoft.com/office/drawing/2014/main" id="{675175A7-9313-1A0F-812F-0728FBDF1026}"/>
                  </a:ext>
                </a:extLst>
              </p:cNvPr>
              <p:cNvSpPr/>
              <p:nvPr/>
            </p:nvSpPr>
            <p:spPr>
              <a:xfrm>
                <a:off x="267828" y="5018742"/>
                <a:ext cx="11654557" cy="256032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Text 16">
                <a:extLst>
                  <a:ext uri="{FF2B5EF4-FFF2-40B4-BE49-F238E27FC236}">
                    <a16:creationId xmlns:a16="http://schemas.microsoft.com/office/drawing/2014/main" id="{AC74D972-6764-8780-484A-9F1E2CA0717C}"/>
                  </a:ext>
                </a:extLst>
              </p:cNvPr>
              <p:cNvSpPr/>
              <p:nvPr/>
            </p:nvSpPr>
            <p:spPr>
              <a:xfrm>
                <a:off x="340367" y="5018742"/>
                <a:ext cx="3070807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Capability</a:t>
                </a:r>
                <a:endParaRPr 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Text 17">
                <a:extLst>
                  <a:ext uri="{FF2B5EF4-FFF2-40B4-BE49-F238E27FC236}">
                    <a16:creationId xmlns:a16="http://schemas.microsoft.com/office/drawing/2014/main" id="{26F21C3E-C9D1-8362-E802-3C6181342691}"/>
                  </a:ext>
                </a:extLst>
              </p:cNvPr>
              <p:cNvSpPr/>
              <p:nvPr/>
            </p:nvSpPr>
            <p:spPr>
              <a:xfrm>
                <a:off x="3532071" y="5018742"/>
                <a:ext cx="3723655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Audit</a:t>
                </a:r>
                <a:endParaRPr 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Text 18">
                <a:extLst>
                  <a:ext uri="{FF2B5EF4-FFF2-40B4-BE49-F238E27FC236}">
                    <a16:creationId xmlns:a16="http://schemas.microsoft.com/office/drawing/2014/main" id="{5CD6A9DC-3B5E-FA6D-D174-FB85A30BB700}"/>
                  </a:ext>
                </a:extLst>
              </p:cNvPr>
              <p:cNvSpPr/>
              <p:nvPr/>
            </p:nvSpPr>
            <p:spPr>
              <a:xfrm>
                <a:off x="7376624" y="5018742"/>
                <a:ext cx="461830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Journey</a:t>
                </a:r>
                <a:endParaRPr lang="en-US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Shape 19">
                <a:extLst>
                  <a:ext uri="{FF2B5EF4-FFF2-40B4-BE49-F238E27FC236}">
                    <a16:creationId xmlns:a16="http://schemas.microsoft.com/office/drawing/2014/main" id="{B6EE28D6-7416-4738-D19C-F0D165CADB3D}"/>
                  </a:ext>
                </a:extLst>
              </p:cNvPr>
              <p:cNvSpPr/>
              <p:nvPr/>
            </p:nvSpPr>
            <p:spPr>
              <a:xfrm>
                <a:off x="267828" y="5274774"/>
                <a:ext cx="11654557" cy="2560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Text 20">
                <a:extLst>
                  <a:ext uri="{FF2B5EF4-FFF2-40B4-BE49-F238E27FC236}">
                    <a16:creationId xmlns:a16="http://schemas.microsoft.com/office/drawing/2014/main" id="{0DF3D867-8312-AD3D-5C05-A4D953196250}"/>
                  </a:ext>
                </a:extLst>
              </p:cNvPr>
              <p:cNvSpPr/>
              <p:nvPr/>
            </p:nvSpPr>
            <p:spPr>
              <a:xfrm>
                <a:off x="340367" y="5274774"/>
                <a:ext cx="2998268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Unapproved cookie detection</a:t>
                </a:r>
                <a:endParaRPr lang="en-US" sz="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Text 21">
                <a:extLst>
                  <a:ext uri="{FF2B5EF4-FFF2-40B4-BE49-F238E27FC236}">
                    <a16:creationId xmlns:a16="http://schemas.microsoft.com/office/drawing/2014/main" id="{CD35FA9C-968E-71FD-EE80-1BA2CBE8FDB6}"/>
                  </a:ext>
                </a:extLst>
              </p:cNvPr>
              <p:cNvSpPr/>
              <p:nvPr/>
            </p:nvSpPr>
            <p:spPr>
              <a:xfrm>
                <a:off x="3532071" y="5274774"/>
                <a:ext cx="365111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1E2D3D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Full - Cookie Privacy Compliance Report with approved/unapproved categorisation via Consent Categories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Text 22">
                <a:extLst>
                  <a:ext uri="{FF2B5EF4-FFF2-40B4-BE49-F238E27FC236}">
                    <a16:creationId xmlns:a16="http://schemas.microsoft.com/office/drawing/2014/main" id="{C4F56C44-0D1E-7F4D-4E9C-C87C8FAA1A30}"/>
                  </a:ext>
                </a:extLst>
              </p:cNvPr>
              <p:cNvSpPr/>
              <p:nvPr/>
            </p:nvSpPr>
            <p:spPr>
              <a:xfrm>
                <a:off x="7376624" y="5274774"/>
                <a:ext cx="447322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1E2D3D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Not directly supported. Webhooks available via OP team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Shape 23">
                <a:extLst>
                  <a:ext uri="{FF2B5EF4-FFF2-40B4-BE49-F238E27FC236}">
                    <a16:creationId xmlns:a16="http://schemas.microsoft.com/office/drawing/2014/main" id="{7BB5BE86-1329-7273-1359-73D6468AE39B}"/>
                  </a:ext>
                </a:extLst>
              </p:cNvPr>
              <p:cNvSpPr/>
              <p:nvPr/>
            </p:nvSpPr>
            <p:spPr>
              <a:xfrm>
                <a:off x="3459532" y="5274774"/>
                <a:ext cx="0" cy="256032"/>
              </a:xfrm>
              <a:prstGeom prst="line">
                <a:avLst/>
              </a:prstGeom>
              <a:noFill/>
              <a:ln w="635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" name="Shape 24">
                <a:extLst>
                  <a:ext uri="{FF2B5EF4-FFF2-40B4-BE49-F238E27FC236}">
                    <a16:creationId xmlns:a16="http://schemas.microsoft.com/office/drawing/2014/main" id="{EE7E4E10-7F4C-7898-F264-84D014D07DEA}"/>
                  </a:ext>
                </a:extLst>
              </p:cNvPr>
              <p:cNvSpPr/>
              <p:nvPr/>
            </p:nvSpPr>
            <p:spPr>
              <a:xfrm>
                <a:off x="7304086" y="5274774"/>
                <a:ext cx="0" cy="256032"/>
              </a:xfrm>
              <a:prstGeom prst="line">
                <a:avLst/>
              </a:prstGeom>
              <a:noFill/>
              <a:ln w="635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Shape 25">
                <a:extLst>
                  <a:ext uri="{FF2B5EF4-FFF2-40B4-BE49-F238E27FC236}">
                    <a16:creationId xmlns:a16="http://schemas.microsoft.com/office/drawing/2014/main" id="{29C4446A-C679-1040-360B-8369228718FD}"/>
                  </a:ext>
                </a:extLst>
              </p:cNvPr>
              <p:cNvSpPr/>
              <p:nvPr/>
            </p:nvSpPr>
            <p:spPr>
              <a:xfrm>
                <a:off x="267828" y="5530806"/>
                <a:ext cx="11654557" cy="256032"/>
              </a:xfrm>
              <a:prstGeom prst="rect">
                <a:avLst/>
              </a:prstGeom>
              <a:noFill/>
              <a:ln w="1270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Text 26">
                <a:extLst>
                  <a:ext uri="{FF2B5EF4-FFF2-40B4-BE49-F238E27FC236}">
                    <a16:creationId xmlns:a16="http://schemas.microsoft.com/office/drawing/2014/main" id="{AB393D6B-56F3-035E-0C4C-C7B0EC86EB30}"/>
                  </a:ext>
                </a:extLst>
              </p:cNvPr>
              <p:cNvSpPr/>
              <p:nvPr/>
            </p:nvSpPr>
            <p:spPr>
              <a:xfrm>
                <a:off x="340367" y="5530806"/>
                <a:ext cx="2998268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Multi-step funnel page coverage</a:t>
                </a:r>
                <a:endParaRPr lang="en-US" sz="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Text 27">
                <a:extLst>
                  <a:ext uri="{FF2B5EF4-FFF2-40B4-BE49-F238E27FC236}">
                    <a16:creationId xmlns:a16="http://schemas.microsoft.com/office/drawing/2014/main" id="{8B9F1708-E93E-130A-FADE-B957BD70D0FC}"/>
                  </a:ext>
                </a:extLst>
              </p:cNvPr>
              <p:cNvSpPr/>
              <p:nvPr/>
            </p:nvSpPr>
            <p:spPr>
              <a:xfrm>
                <a:off x="3532071" y="5530806"/>
                <a:ext cx="365111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1E2D3D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Only if funnel URLs added as Starting URLs or sitemap included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Text 28">
                <a:extLst>
                  <a:ext uri="{FF2B5EF4-FFF2-40B4-BE49-F238E27FC236}">
                    <a16:creationId xmlns:a16="http://schemas.microsoft.com/office/drawing/2014/main" id="{BBD8CF98-6564-ACFC-59C6-639936DD6E73}"/>
                  </a:ext>
                </a:extLst>
              </p:cNvPr>
              <p:cNvSpPr/>
              <p:nvPr/>
            </p:nvSpPr>
            <p:spPr>
              <a:xfrm>
                <a:off x="7376624" y="5530806"/>
                <a:ext cx="447322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1E2D3D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Native - Journeys follow the full defined user flow step by step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Shape 29">
                <a:extLst>
                  <a:ext uri="{FF2B5EF4-FFF2-40B4-BE49-F238E27FC236}">
                    <a16:creationId xmlns:a16="http://schemas.microsoft.com/office/drawing/2014/main" id="{55BA163C-E660-B426-5824-1F8B5FCF6E39}"/>
                  </a:ext>
                </a:extLst>
              </p:cNvPr>
              <p:cNvSpPr/>
              <p:nvPr/>
            </p:nvSpPr>
            <p:spPr>
              <a:xfrm>
                <a:off x="3459532" y="5530806"/>
                <a:ext cx="0" cy="256032"/>
              </a:xfrm>
              <a:prstGeom prst="line">
                <a:avLst/>
              </a:prstGeom>
              <a:noFill/>
              <a:ln w="635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Shape 30">
                <a:extLst>
                  <a:ext uri="{FF2B5EF4-FFF2-40B4-BE49-F238E27FC236}">
                    <a16:creationId xmlns:a16="http://schemas.microsoft.com/office/drawing/2014/main" id="{93BE1862-CD89-B6CF-DC88-97E81CE326F1}"/>
                  </a:ext>
                </a:extLst>
              </p:cNvPr>
              <p:cNvSpPr/>
              <p:nvPr/>
            </p:nvSpPr>
            <p:spPr>
              <a:xfrm>
                <a:off x="7304086" y="5530806"/>
                <a:ext cx="0" cy="256032"/>
              </a:xfrm>
              <a:prstGeom prst="line">
                <a:avLst/>
              </a:prstGeom>
              <a:noFill/>
              <a:ln w="635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" name="Shape 31">
                <a:extLst>
                  <a:ext uri="{FF2B5EF4-FFF2-40B4-BE49-F238E27FC236}">
                    <a16:creationId xmlns:a16="http://schemas.microsoft.com/office/drawing/2014/main" id="{1F683BFE-07C1-357B-20E5-5A4271D480A5}"/>
                  </a:ext>
                </a:extLst>
              </p:cNvPr>
              <p:cNvSpPr/>
              <p:nvPr/>
            </p:nvSpPr>
            <p:spPr>
              <a:xfrm>
                <a:off x="267828" y="5786838"/>
                <a:ext cx="11654557" cy="2560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Text 32">
                <a:extLst>
                  <a:ext uri="{FF2B5EF4-FFF2-40B4-BE49-F238E27FC236}">
                    <a16:creationId xmlns:a16="http://schemas.microsoft.com/office/drawing/2014/main" id="{3C5A32E6-DDB6-0FF1-8F95-F1F0341DB618}"/>
                  </a:ext>
                </a:extLst>
              </p:cNvPr>
              <p:cNvSpPr/>
              <p:nvPr/>
            </p:nvSpPr>
            <p:spPr>
              <a:xfrm>
                <a:off x="340367" y="5786838"/>
                <a:ext cx="2998268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Interaction-triggered tag capture</a:t>
                </a:r>
                <a:endParaRPr lang="en-US" sz="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Text 33">
                <a:extLst>
                  <a:ext uri="{FF2B5EF4-FFF2-40B4-BE49-F238E27FC236}">
                    <a16:creationId xmlns:a16="http://schemas.microsoft.com/office/drawing/2014/main" id="{17156F4E-CD24-2EDD-A1CE-8A6EF362FCA1}"/>
                  </a:ext>
                </a:extLst>
              </p:cNvPr>
              <p:cNvSpPr/>
              <p:nvPr/>
            </p:nvSpPr>
            <p:spPr>
              <a:xfrm>
                <a:off x="3532071" y="5786838"/>
                <a:ext cx="365111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1E2D3D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Via ClickAll+ Solution (requires setup - interact with all elements on configured pages)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Text 34">
                <a:extLst>
                  <a:ext uri="{FF2B5EF4-FFF2-40B4-BE49-F238E27FC236}">
                    <a16:creationId xmlns:a16="http://schemas.microsoft.com/office/drawing/2014/main" id="{E0962E94-D2C0-0C4F-C49B-BA68F6F4DF58}"/>
                  </a:ext>
                </a:extLst>
              </p:cNvPr>
              <p:cNvSpPr/>
              <p:nvPr/>
            </p:nvSpPr>
            <p:spPr>
              <a:xfrm>
                <a:off x="7376624" y="5786838"/>
                <a:ext cx="447322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1E2D3D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Limited - OP best practice advises not to 'click everything' in a Journey; use ClickAll+ in Audits instead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Shape 35">
                <a:extLst>
                  <a:ext uri="{FF2B5EF4-FFF2-40B4-BE49-F238E27FC236}">
                    <a16:creationId xmlns:a16="http://schemas.microsoft.com/office/drawing/2014/main" id="{B7A593FA-95E5-BE6F-F6FE-CCB5C9E1D003}"/>
                  </a:ext>
                </a:extLst>
              </p:cNvPr>
              <p:cNvSpPr/>
              <p:nvPr/>
            </p:nvSpPr>
            <p:spPr>
              <a:xfrm>
                <a:off x="3459532" y="5786838"/>
                <a:ext cx="0" cy="256032"/>
              </a:xfrm>
              <a:prstGeom prst="line">
                <a:avLst/>
              </a:prstGeom>
              <a:noFill/>
              <a:ln w="635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Shape 36">
                <a:extLst>
                  <a:ext uri="{FF2B5EF4-FFF2-40B4-BE49-F238E27FC236}">
                    <a16:creationId xmlns:a16="http://schemas.microsoft.com/office/drawing/2014/main" id="{51F4FBED-6590-F2B5-69DB-5C6A4EF3D9BC}"/>
                  </a:ext>
                </a:extLst>
              </p:cNvPr>
              <p:cNvSpPr/>
              <p:nvPr/>
            </p:nvSpPr>
            <p:spPr>
              <a:xfrm>
                <a:off x="7304086" y="5786838"/>
                <a:ext cx="0" cy="256032"/>
              </a:xfrm>
              <a:prstGeom prst="line">
                <a:avLst/>
              </a:prstGeom>
              <a:noFill/>
              <a:ln w="635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" name="Shape 37">
                <a:extLst>
                  <a:ext uri="{FF2B5EF4-FFF2-40B4-BE49-F238E27FC236}">
                    <a16:creationId xmlns:a16="http://schemas.microsoft.com/office/drawing/2014/main" id="{AD13EE36-6A1C-52FF-B6FB-3449CEB4064A}"/>
                  </a:ext>
                </a:extLst>
              </p:cNvPr>
              <p:cNvSpPr/>
              <p:nvPr/>
            </p:nvSpPr>
            <p:spPr>
              <a:xfrm>
                <a:off x="267828" y="6042870"/>
                <a:ext cx="11654557" cy="256032"/>
              </a:xfrm>
              <a:prstGeom prst="rect">
                <a:avLst/>
              </a:prstGeom>
              <a:noFill/>
              <a:ln w="1270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Text 38">
                <a:extLst>
                  <a:ext uri="{FF2B5EF4-FFF2-40B4-BE49-F238E27FC236}">
                    <a16:creationId xmlns:a16="http://schemas.microsoft.com/office/drawing/2014/main" id="{EA69FC68-618E-CA8B-18D1-B5FA46C84163}"/>
                  </a:ext>
                </a:extLst>
              </p:cNvPr>
              <p:cNvSpPr/>
              <p:nvPr/>
            </p:nvSpPr>
            <p:spPr>
              <a:xfrm>
                <a:off x="340367" y="6042870"/>
                <a:ext cx="2998268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Consent state simulation</a:t>
                </a:r>
                <a:endParaRPr lang="en-US" sz="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Text 39">
                <a:extLst>
                  <a:ext uri="{FF2B5EF4-FFF2-40B4-BE49-F238E27FC236}">
                    <a16:creationId xmlns:a16="http://schemas.microsoft.com/office/drawing/2014/main" id="{A2C57C1A-25A6-B24C-773F-444868AB1EB6}"/>
                  </a:ext>
                </a:extLst>
              </p:cNvPr>
              <p:cNvSpPr/>
              <p:nvPr/>
            </p:nvSpPr>
            <p:spPr>
              <a:xfrm>
                <a:off x="3532071" y="6042870"/>
                <a:ext cx="365111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1E2D3D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Opted In, Opted Out, GPC Signal via Pre-Audit Actions (Automated CMP State)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Text 40">
                <a:extLst>
                  <a:ext uri="{FF2B5EF4-FFF2-40B4-BE49-F238E27FC236}">
                    <a16:creationId xmlns:a16="http://schemas.microsoft.com/office/drawing/2014/main" id="{CB5F5291-CFE7-214F-9436-95B578FD6A1D}"/>
                  </a:ext>
                </a:extLst>
              </p:cNvPr>
              <p:cNvSpPr/>
              <p:nvPr/>
            </p:nvSpPr>
            <p:spPr>
              <a:xfrm>
                <a:off x="7376624" y="6042870"/>
                <a:ext cx="447322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1E2D3D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Opted In, Opted Out, GPC Signal via first-step Journey action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Shape 41">
                <a:extLst>
                  <a:ext uri="{FF2B5EF4-FFF2-40B4-BE49-F238E27FC236}">
                    <a16:creationId xmlns:a16="http://schemas.microsoft.com/office/drawing/2014/main" id="{3914A0CF-1954-99C7-EDF9-ED9E7B63EF2D}"/>
                  </a:ext>
                </a:extLst>
              </p:cNvPr>
              <p:cNvSpPr/>
              <p:nvPr/>
            </p:nvSpPr>
            <p:spPr>
              <a:xfrm>
                <a:off x="3459532" y="6042870"/>
                <a:ext cx="0" cy="256032"/>
              </a:xfrm>
              <a:prstGeom prst="line">
                <a:avLst/>
              </a:prstGeom>
              <a:noFill/>
              <a:ln w="635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" name="Shape 42">
                <a:extLst>
                  <a:ext uri="{FF2B5EF4-FFF2-40B4-BE49-F238E27FC236}">
                    <a16:creationId xmlns:a16="http://schemas.microsoft.com/office/drawing/2014/main" id="{7D90676E-F491-CD49-CE29-5297B6B71BD1}"/>
                  </a:ext>
                </a:extLst>
              </p:cNvPr>
              <p:cNvSpPr/>
              <p:nvPr/>
            </p:nvSpPr>
            <p:spPr>
              <a:xfrm>
                <a:off x="7304086" y="6042870"/>
                <a:ext cx="0" cy="256032"/>
              </a:xfrm>
              <a:prstGeom prst="line">
                <a:avLst/>
              </a:prstGeom>
              <a:noFill/>
              <a:ln w="635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Shape 43">
                <a:extLst>
                  <a:ext uri="{FF2B5EF4-FFF2-40B4-BE49-F238E27FC236}">
                    <a16:creationId xmlns:a16="http://schemas.microsoft.com/office/drawing/2014/main" id="{9A684CDB-29C5-6C43-7C79-FCE9D2989F83}"/>
                  </a:ext>
                </a:extLst>
              </p:cNvPr>
              <p:cNvSpPr/>
              <p:nvPr/>
            </p:nvSpPr>
            <p:spPr>
              <a:xfrm>
                <a:off x="267828" y="6298902"/>
                <a:ext cx="11654557" cy="25603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Text 44">
                <a:extLst>
                  <a:ext uri="{FF2B5EF4-FFF2-40B4-BE49-F238E27FC236}">
                    <a16:creationId xmlns:a16="http://schemas.microsoft.com/office/drawing/2014/main" id="{0CC0D0BC-AE13-0315-8ABA-D03432B14718}"/>
                  </a:ext>
                </a:extLst>
              </p:cNvPr>
              <p:cNvSpPr/>
              <p:nvPr/>
            </p:nvSpPr>
            <p:spPr>
              <a:xfrm>
                <a:off x="340367" y="6298902"/>
                <a:ext cx="2998268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Tag &amp; variable rule validation</a:t>
                </a:r>
                <a:endParaRPr lang="en-US" sz="8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1" name="Text 45">
                <a:extLst>
                  <a:ext uri="{FF2B5EF4-FFF2-40B4-BE49-F238E27FC236}">
                    <a16:creationId xmlns:a16="http://schemas.microsoft.com/office/drawing/2014/main" id="{BB9CFA09-1930-FFEC-5AFD-9E18B77D596E}"/>
                  </a:ext>
                </a:extLst>
              </p:cNvPr>
              <p:cNvSpPr/>
              <p:nvPr/>
            </p:nvSpPr>
            <p:spPr>
              <a:xfrm>
                <a:off x="3532071" y="6298902"/>
                <a:ext cx="365111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1E2D3D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Rules applied across all crawled pages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Text 46">
                <a:extLst>
                  <a:ext uri="{FF2B5EF4-FFF2-40B4-BE49-F238E27FC236}">
                    <a16:creationId xmlns:a16="http://schemas.microsoft.com/office/drawing/2014/main" id="{BD421CD4-99F2-5613-46A7-3255D0E8CFE3}"/>
                  </a:ext>
                </a:extLst>
              </p:cNvPr>
              <p:cNvSpPr/>
              <p:nvPr/>
            </p:nvSpPr>
            <p:spPr>
              <a:xfrm>
                <a:off x="7376624" y="6298902"/>
                <a:ext cx="4473222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dirty="0">
                    <a:solidFill>
                      <a:srgbClr val="1E2D3D"/>
                    </a:solidFill>
                    <a:latin typeface="Arial" panose="020B0604020202020204" pitchFamily="34" charset="0"/>
                    <a:ea typeface="Calibri" pitchFamily="34" charset="-122"/>
                    <a:cs typeface="Arial" panose="020B0604020202020204" pitchFamily="34" charset="0"/>
                  </a:rPr>
                  <a:t>Rules applied per journey step - ideal for conversion event validation</a:t>
                </a:r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3" name="Shape 47">
                <a:extLst>
                  <a:ext uri="{FF2B5EF4-FFF2-40B4-BE49-F238E27FC236}">
                    <a16:creationId xmlns:a16="http://schemas.microsoft.com/office/drawing/2014/main" id="{C393F6DD-7E7D-FC1E-2C6F-E3E6EED31579}"/>
                  </a:ext>
                </a:extLst>
              </p:cNvPr>
              <p:cNvSpPr/>
              <p:nvPr/>
            </p:nvSpPr>
            <p:spPr>
              <a:xfrm>
                <a:off x="3459532" y="6298902"/>
                <a:ext cx="0" cy="256032"/>
              </a:xfrm>
              <a:prstGeom prst="line">
                <a:avLst/>
              </a:prstGeom>
              <a:noFill/>
              <a:ln w="635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Shape 48">
                <a:extLst>
                  <a:ext uri="{FF2B5EF4-FFF2-40B4-BE49-F238E27FC236}">
                    <a16:creationId xmlns:a16="http://schemas.microsoft.com/office/drawing/2014/main" id="{EB25A6D1-EB27-5328-66A3-AD050BF4F4CC}"/>
                  </a:ext>
                </a:extLst>
              </p:cNvPr>
              <p:cNvSpPr/>
              <p:nvPr/>
            </p:nvSpPr>
            <p:spPr>
              <a:xfrm>
                <a:off x="7304086" y="6298902"/>
                <a:ext cx="0" cy="256032"/>
              </a:xfrm>
              <a:prstGeom prst="line">
                <a:avLst/>
              </a:prstGeom>
              <a:noFill/>
              <a:ln w="6350">
                <a:solidFill>
                  <a:srgbClr val="D4DDE6"/>
                </a:solidFill>
                <a:prstDash val="solid"/>
              </a:ln>
            </p:spPr>
            <p:txBody>
              <a:bodyPr/>
              <a:lstStyle/>
              <a:p>
                <a:endParaRPr lang="en-IN" sz="7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6" name="Text 14">
              <a:extLst>
                <a:ext uri="{FF2B5EF4-FFF2-40B4-BE49-F238E27FC236}">
                  <a16:creationId xmlns:a16="http://schemas.microsoft.com/office/drawing/2014/main" id="{7F381E6E-5928-F559-1DF2-C2E46DB4DF81}"/>
                </a:ext>
              </a:extLst>
            </p:cNvPr>
            <p:cNvSpPr/>
            <p:nvPr/>
          </p:nvSpPr>
          <p:spPr>
            <a:xfrm>
              <a:off x="276496" y="4724610"/>
              <a:ext cx="88148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defTabSz="913880">
                <a:defRPr/>
              </a:pPr>
              <a:r>
                <a:rPr lang="en-US" sz="1600" dirty="0">
                  <a:solidFill>
                    <a:srgbClr val="2C35D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AUDIT vs JOURNEY — CAPABILITY COMPARISON (per ObservePoint documentation)</a:t>
              </a:r>
            </a:p>
          </p:txBody>
        </p:sp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C9BC3177-9658-137A-7B28-3F733522CB9A}"/>
              </a:ext>
            </a:extLst>
          </p:cNvPr>
          <p:cNvSpPr txBox="1"/>
          <p:nvPr/>
        </p:nvSpPr>
        <p:spPr>
          <a:xfrm>
            <a:off x="4181032" y="6657945"/>
            <a:ext cx="763949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00" dirty="0">
                <a:latin typeface="+mj-lt"/>
                <a:ea typeface="Calibri" pitchFamily="34" charset="-122"/>
                <a:cs typeface="Calibri" pitchFamily="34" charset="-120"/>
              </a:rPr>
              <a:t>Source: ObservePoint Privacy Compliance Implementation Guide · Creating Audits · Creating Journeys · </a:t>
            </a:r>
            <a:r>
              <a:rPr lang="en-US" sz="700" dirty="0" err="1">
                <a:latin typeface="+mj-lt"/>
                <a:ea typeface="Calibri" pitchFamily="34" charset="-122"/>
                <a:cs typeface="Calibri" pitchFamily="34" charset="-120"/>
              </a:rPr>
              <a:t>ClickAll</a:t>
            </a:r>
            <a:r>
              <a:rPr lang="en-US" sz="700" dirty="0">
                <a:latin typeface="+mj-lt"/>
                <a:ea typeface="Calibri" pitchFamily="34" charset="-122"/>
                <a:cs typeface="Calibri" pitchFamily="34" charset="-120"/>
              </a:rPr>
              <a:t> + Solution · Journey Best Practices  |  help.observepoint.com</a:t>
            </a:r>
            <a:endParaRPr lang="en-US" sz="700" dirty="0">
              <a:latin typeface="+mj-lt"/>
            </a:endParaRPr>
          </a:p>
        </p:txBody>
      </p:sp>
      <p:sp>
        <p:nvSpPr>
          <p:cNvPr id="85" name="Shape 2">
            <a:extLst>
              <a:ext uri="{FF2B5EF4-FFF2-40B4-BE49-F238E27FC236}">
                <a16:creationId xmlns:a16="http://schemas.microsoft.com/office/drawing/2014/main" id="{89C3A217-4315-8F83-4CE8-DF94E3CCB6C3}"/>
              </a:ext>
            </a:extLst>
          </p:cNvPr>
          <p:cNvSpPr/>
          <p:nvPr/>
        </p:nvSpPr>
        <p:spPr>
          <a:xfrm>
            <a:off x="10571146" y="84295"/>
            <a:ext cx="1554480" cy="512064"/>
          </a:xfrm>
          <a:prstGeom prst="roundRect">
            <a:avLst>
              <a:gd name="adj" fmla="val 8929"/>
            </a:avLst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1A5A0F5-6568-18DF-B511-421F8B509063}"/>
              </a:ext>
            </a:extLst>
          </p:cNvPr>
          <p:cNvSpPr txBox="1"/>
          <p:nvPr/>
        </p:nvSpPr>
        <p:spPr>
          <a:xfrm>
            <a:off x="10678477" y="208480"/>
            <a:ext cx="14176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4661458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B5E3-4EEB-8072-A6AE-2E1014B2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3BCAA8-630B-318B-B0E4-BB6A63078D12}"/>
              </a:ext>
            </a:extLst>
          </p:cNvPr>
          <p:cNvSpPr/>
          <p:nvPr/>
        </p:nvSpPr>
        <p:spPr>
          <a:xfrm>
            <a:off x="104848" y="810139"/>
            <a:ext cx="11991250" cy="30828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F63663-A207-529F-3D34-D6C283B5F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98B77-332E-004E-BD2A-A6DBBD4442FD}" type="slidenum">
              <a:rPr kumimoji="0" lang="sv-S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sv-S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FF9ACBBC-DE41-EC22-06D9-C681E8E63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31" y="219472"/>
            <a:ext cx="11873140" cy="468193"/>
          </a:xfrm>
        </p:spPr>
        <p:txBody>
          <a:bodyPr vert="horz"/>
          <a:lstStyle/>
          <a:p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ObservePoint HAR Analyzer - App Log Validation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B303A50-1692-FFB6-50D9-2CF3E10CF26B}"/>
              </a:ext>
            </a:extLst>
          </p:cNvPr>
          <p:cNvGrpSpPr/>
          <p:nvPr/>
        </p:nvGrpSpPr>
        <p:grpSpPr>
          <a:xfrm>
            <a:off x="340367" y="938447"/>
            <a:ext cx="5687344" cy="2755729"/>
            <a:chOff x="292114" y="939336"/>
            <a:chExt cx="5687344" cy="3418240"/>
          </a:xfrm>
        </p:grpSpPr>
        <p:sp>
          <p:nvSpPr>
            <p:cNvPr id="21" name="Shape 4">
              <a:extLst>
                <a:ext uri="{FF2B5EF4-FFF2-40B4-BE49-F238E27FC236}">
                  <a16:creationId xmlns:a16="http://schemas.microsoft.com/office/drawing/2014/main" id="{008BEE19-691C-AFA8-EC20-6F4FD518D8DA}"/>
                </a:ext>
              </a:extLst>
            </p:cNvPr>
            <p:cNvSpPr/>
            <p:nvPr/>
          </p:nvSpPr>
          <p:spPr>
            <a:xfrm>
              <a:off x="292114" y="956369"/>
              <a:ext cx="5682755" cy="3401207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2700">
              <a:solidFill>
                <a:srgbClr val="D4DDE6"/>
              </a:solidFill>
              <a:prstDash val="solid"/>
            </a:ln>
            <a:effectLst>
              <a:outerShdw blurRad="889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9C8B39B5-F87C-04D3-A875-128895258918}"/>
                </a:ext>
              </a:extLst>
            </p:cNvPr>
            <p:cNvSpPr/>
            <p:nvPr/>
          </p:nvSpPr>
          <p:spPr>
            <a:xfrm>
              <a:off x="296703" y="939336"/>
              <a:ext cx="5682755" cy="417692"/>
            </a:xfrm>
            <a:prstGeom prst="roundRect">
              <a:avLst>
                <a:gd name="adj" fmla="val 25000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Shape 6">
              <a:extLst>
                <a:ext uri="{FF2B5EF4-FFF2-40B4-BE49-F238E27FC236}">
                  <a16:creationId xmlns:a16="http://schemas.microsoft.com/office/drawing/2014/main" id="{057B7DFD-4E74-1BC6-C8EB-CF956154B9EB}"/>
                </a:ext>
              </a:extLst>
            </p:cNvPr>
            <p:cNvSpPr/>
            <p:nvPr/>
          </p:nvSpPr>
          <p:spPr>
            <a:xfrm>
              <a:off x="296702" y="1178017"/>
              <a:ext cx="5682755" cy="179011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 7">
              <a:extLst>
                <a:ext uri="{FF2B5EF4-FFF2-40B4-BE49-F238E27FC236}">
                  <a16:creationId xmlns:a16="http://schemas.microsoft.com/office/drawing/2014/main" id="{F01BD359-3D20-E646-6595-86AFE03E3435}"/>
                </a:ext>
              </a:extLst>
            </p:cNvPr>
            <p:cNvSpPr/>
            <p:nvPr/>
          </p:nvSpPr>
          <p:spPr>
            <a:xfrm>
              <a:off x="316399" y="956369"/>
              <a:ext cx="5634185" cy="4176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CURRENT STATE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3" name="Text 8">
              <a:extLst>
                <a:ext uri="{FF2B5EF4-FFF2-40B4-BE49-F238E27FC236}">
                  <a16:creationId xmlns:a16="http://schemas.microsoft.com/office/drawing/2014/main" id="{2283C166-E3FF-DEA8-B63D-D348C737B1E0}"/>
                </a:ext>
              </a:extLst>
            </p:cNvPr>
            <p:cNvSpPr/>
            <p:nvPr/>
          </p:nvSpPr>
          <p:spPr>
            <a:xfrm>
              <a:off x="413540" y="1433731"/>
              <a:ext cx="5439903" cy="28641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0E1259"/>
                  </a:solidFill>
                  <a:latin typeface="Arial" panose="020B0604020202020204"/>
                </a:rPr>
                <a:t>ObservePoint rules exist only for web audits - no coverage for mobile app network traffic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0E1259"/>
                  </a:solidFill>
                  <a:latin typeface="Arial" panose="020B0604020202020204"/>
                </a:rPr>
                <a:t>App analytics validation is done manually by inspecting network logs through proxy tools like Charles Proxy or Proxyman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0E1259"/>
                  </a:solidFill>
                  <a:latin typeface="Arial" panose="020B0604020202020204"/>
                </a:rPr>
                <a:t>No structured pass/fail reporting for app tag &amp; variable conditions - errors are caught reactively, often after a release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0E1259"/>
                  </a:solidFill>
                  <a:latin typeface="Arial" panose="020B0604020202020204"/>
                </a:rPr>
                <a:t>HAR Analyzer is available in ObservePoint, but no Test Configuration (Device profile) has been created for iOS or Android apps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0E1259"/>
                  </a:solidFill>
                  <a:latin typeface="Arial" panose="020B0604020202020204"/>
                </a:rPr>
                <a:t>Rules cannot be applied to app HAR files without a Device profile configured in HAR Analyzer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DE2AF04-9AB8-87F3-9D09-BF7DEB6EFF78}"/>
              </a:ext>
            </a:extLst>
          </p:cNvPr>
          <p:cNvGrpSpPr/>
          <p:nvPr/>
        </p:nvGrpSpPr>
        <p:grpSpPr>
          <a:xfrm>
            <a:off x="6345855" y="950072"/>
            <a:ext cx="5682754" cy="2737807"/>
            <a:chOff x="4700016" y="768096"/>
            <a:chExt cx="4279392" cy="2084832"/>
          </a:xfrm>
        </p:grpSpPr>
        <p:sp>
          <p:nvSpPr>
            <p:cNvPr id="35" name="Shape 9">
              <a:extLst>
                <a:ext uri="{FF2B5EF4-FFF2-40B4-BE49-F238E27FC236}">
                  <a16:creationId xmlns:a16="http://schemas.microsoft.com/office/drawing/2014/main" id="{99193051-D658-FFA0-739F-959900AC01B9}"/>
                </a:ext>
              </a:extLst>
            </p:cNvPr>
            <p:cNvSpPr/>
            <p:nvPr/>
          </p:nvSpPr>
          <p:spPr>
            <a:xfrm>
              <a:off x="4700016" y="768096"/>
              <a:ext cx="4279392" cy="2084832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2700">
              <a:solidFill>
                <a:srgbClr val="D4DDE6"/>
              </a:solidFill>
              <a:prstDash val="solid"/>
            </a:ln>
            <a:effectLst>
              <a:outerShdw blurRad="889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Shape 10">
              <a:extLst>
                <a:ext uri="{FF2B5EF4-FFF2-40B4-BE49-F238E27FC236}">
                  <a16:creationId xmlns:a16="http://schemas.microsoft.com/office/drawing/2014/main" id="{9CC75A65-C3F8-7F81-D27D-AE1EBF2B13FE}"/>
                </a:ext>
              </a:extLst>
            </p:cNvPr>
            <p:cNvSpPr/>
            <p:nvPr/>
          </p:nvSpPr>
          <p:spPr>
            <a:xfrm>
              <a:off x="4700016" y="768096"/>
              <a:ext cx="4279392" cy="256032"/>
            </a:xfrm>
            <a:prstGeom prst="roundRect">
              <a:avLst>
                <a:gd name="adj" fmla="val 25000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7" name="Shape 11">
              <a:extLst>
                <a:ext uri="{FF2B5EF4-FFF2-40B4-BE49-F238E27FC236}">
                  <a16:creationId xmlns:a16="http://schemas.microsoft.com/office/drawing/2014/main" id="{D8076904-1A95-2183-9A80-F010F394975F}"/>
                </a:ext>
              </a:extLst>
            </p:cNvPr>
            <p:cNvSpPr/>
            <p:nvPr/>
          </p:nvSpPr>
          <p:spPr>
            <a:xfrm>
              <a:off x="4700016" y="914400"/>
              <a:ext cx="4279392" cy="109728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 12">
              <a:extLst>
                <a:ext uri="{FF2B5EF4-FFF2-40B4-BE49-F238E27FC236}">
                  <a16:creationId xmlns:a16="http://schemas.microsoft.com/office/drawing/2014/main" id="{227CE168-3455-F51E-31E5-02B292974EF0}"/>
                </a:ext>
              </a:extLst>
            </p:cNvPr>
            <p:cNvSpPr/>
            <p:nvPr/>
          </p:nvSpPr>
          <p:spPr>
            <a:xfrm>
              <a:off x="4718304" y="768096"/>
              <a:ext cx="424281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RECOMMENDATION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9" name="Text 13">
              <a:extLst>
                <a:ext uri="{FF2B5EF4-FFF2-40B4-BE49-F238E27FC236}">
                  <a16:creationId xmlns:a16="http://schemas.microsoft.com/office/drawing/2014/main" id="{EFD333D2-EE6C-FC48-B3BF-12F6DB09B988}"/>
                </a:ext>
              </a:extLst>
            </p:cNvPr>
            <p:cNvSpPr/>
            <p:nvPr/>
          </p:nvSpPr>
          <p:spPr>
            <a:xfrm>
              <a:off x="4791456" y="1060704"/>
              <a:ext cx="4096512" cy="17556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0E1259"/>
                  </a:solidFill>
                  <a:latin typeface="Arial" panose="020B0604020202020204"/>
                </a:rPr>
                <a:t>Create a Test Configuration (Device profile) in ObservePoint HAR Analyzer for each app (iOS / Android) - this is the prerequisite before any rules can be applied</a:t>
              </a:r>
            </a:p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0E1259"/>
                  </a:solidFill>
                  <a:latin typeface="Arial" panose="020B0604020202020204"/>
                </a:rPr>
                <a:t>Generate HAR files for critical app user flows using Charles Proxy, Proxyman, or Device Farm tools (BrowserStack / SauceLabs) and upload to HAR Analyzer</a:t>
              </a:r>
            </a:p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0E1259"/>
                  </a:solidFill>
                  <a:latin typeface="Arial" panose="020B0604020202020204"/>
                </a:rPr>
                <a:t>Apply Tag &amp; Variable Rules to the Device profile; ObservePoint automatically checks every uploaded HAR against these rules and produces pass/fail results</a:t>
              </a:r>
            </a:p>
            <a:p>
              <a:pPr marL="171450" indent="-171450"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sz="1200" dirty="0">
                  <a:solidFill>
                    <a:srgbClr val="0E1259"/>
                  </a:solidFill>
                  <a:latin typeface="Arial" panose="020B0604020202020204"/>
                </a:rPr>
                <a:t>Automate HAR uploads via the ObservePoint API (GET credentials → upload to S3 → POST to trigger) to integrate with each app release cycle</a:t>
              </a:r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861E1487-598E-0052-33FB-2343442D2021}"/>
              </a:ext>
            </a:extLst>
          </p:cNvPr>
          <p:cNvSpPr/>
          <p:nvPr/>
        </p:nvSpPr>
        <p:spPr>
          <a:xfrm>
            <a:off x="100375" y="3973477"/>
            <a:ext cx="11991250" cy="19991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62D2A24A-DB67-C9DD-A083-3F7BC9B946E0}"/>
              </a:ext>
            </a:extLst>
          </p:cNvPr>
          <p:cNvSpPr/>
          <p:nvPr/>
        </p:nvSpPr>
        <p:spPr>
          <a:xfrm>
            <a:off x="276496" y="4094230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3880">
              <a:defRPr/>
            </a:pPr>
            <a:r>
              <a:rPr lang="en-US" sz="1600" dirty="0">
                <a:solidFill>
                  <a:srgbClr val="2C35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RULE STRATEGY — UPDATE EXISTING OR CREATE NEW APP-SPECIFIC RULES?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1CFE77E-FFC9-39BE-0805-2119E3FCE0A1}"/>
              </a:ext>
            </a:extLst>
          </p:cNvPr>
          <p:cNvSpPr txBox="1"/>
          <p:nvPr/>
        </p:nvSpPr>
        <p:spPr>
          <a:xfrm>
            <a:off x="4552508" y="6658051"/>
            <a:ext cx="763949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00" dirty="0">
                <a:latin typeface="+mj-lt"/>
                <a:ea typeface="Calibri" pitchFamily="34" charset="-122"/>
                <a:cs typeface="Calibri" pitchFamily="34" charset="-120"/>
              </a:rPr>
              <a:t>Source: ObservePoint HAR Analyzer Help Docs · Analytics Validation Implementation Guide · Privacy Compliance Implementation Guide  |  help.observepoint.com</a:t>
            </a:r>
          </a:p>
        </p:txBody>
      </p:sp>
      <p:sp>
        <p:nvSpPr>
          <p:cNvPr id="85" name="Shape 2">
            <a:extLst>
              <a:ext uri="{FF2B5EF4-FFF2-40B4-BE49-F238E27FC236}">
                <a16:creationId xmlns:a16="http://schemas.microsoft.com/office/drawing/2014/main" id="{2DC67657-CF10-D04B-6AD0-460630445AA0}"/>
              </a:ext>
            </a:extLst>
          </p:cNvPr>
          <p:cNvSpPr/>
          <p:nvPr/>
        </p:nvSpPr>
        <p:spPr>
          <a:xfrm>
            <a:off x="10571146" y="84295"/>
            <a:ext cx="1554480" cy="512064"/>
          </a:xfrm>
          <a:prstGeom prst="roundRect">
            <a:avLst>
              <a:gd name="adj" fmla="val 8929"/>
            </a:avLst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3DF1CB-4FF7-8D75-8C23-F0FCB357461A}"/>
              </a:ext>
            </a:extLst>
          </p:cNvPr>
          <p:cNvSpPr txBox="1"/>
          <p:nvPr/>
        </p:nvSpPr>
        <p:spPr>
          <a:xfrm>
            <a:off x="10678477" y="208480"/>
            <a:ext cx="14176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RECOMMENDATION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918200D-0371-0FC0-8D2E-5E53169D5A62}"/>
              </a:ext>
            </a:extLst>
          </p:cNvPr>
          <p:cNvGrpSpPr/>
          <p:nvPr/>
        </p:nvGrpSpPr>
        <p:grpSpPr>
          <a:xfrm>
            <a:off x="340367" y="4406641"/>
            <a:ext cx="5682755" cy="1529890"/>
            <a:chOff x="292114" y="939336"/>
            <a:chExt cx="5687344" cy="3556041"/>
          </a:xfrm>
        </p:grpSpPr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805F1770-AF4A-D199-3FA2-EE66598C0E9A}"/>
                </a:ext>
              </a:extLst>
            </p:cNvPr>
            <p:cNvSpPr/>
            <p:nvPr/>
          </p:nvSpPr>
          <p:spPr>
            <a:xfrm>
              <a:off x="292114" y="956369"/>
              <a:ext cx="5682755" cy="3401207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2700">
              <a:solidFill>
                <a:srgbClr val="D4DDE6"/>
              </a:solidFill>
              <a:prstDash val="solid"/>
            </a:ln>
            <a:effectLst>
              <a:outerShdw blurRad="889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889F7B82-3399-D02B-6F2B-3D6276CCBABC}"/>
                </a:ext>
              </a:extLst>
            </p:cNvPr>
            <p:cNvSpPr/>
            <p:nvPr/>
          </p:nvSpPr>
          <p:spPr>
            <a:xfrm>
              <a:off x="296703" y="939336"/>
              <a:ext cx="5682755" cy="508062"/>
            </a:xfrm>
            <a:prstGeom prst="roundRect">
              <a:avLst>
                <a:gd name="adj" fmla="val 25000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D0EFA331-332E-9AC4-B13D-C3F3950F69B3}"/>
                </a:ext>
              </a:extLst>
            </p:cNvPr>
            <p:cNvSpPr/>
            <p:nvPr/>
          </p:nvSpPr>
          <p:spPr>
            <a:xfrm>
              <a:off x="296702" y="1178017"/>
              <a:ext cx="5682755" cy="269381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71D3D753-61E1-D677-A3C7-88730A4115A8}"/>
                </a:ext>
              </a:extLst>
            </p:cNvPr>
            <p:cNvSpPr/>
            <p:nvPr/>
          </p:nvSpPr>
          <p:spPr>
            <a:xfrm>
              <a:off x="316398" y="996146"/>
              <a:ext cx="5634185" cy="41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Option A - Update Existing Web Rules</a:t>
              </a:r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94B219CD-7908-4C1A-2249-BD8517D857DC}"/>
                </a:ext>
              </a:extLst>
            </p:cNvPr>
            <p:cNvSpPr/>
            <p:nvPr/>
          </p:nvSpPr>
          <p:spPr>
            <a:xfrm>
              <a:off x="413539" y="1631201"/>
              <a:ext cx="5439903" cy="2864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930" dirty="0">
                  <a:solidFill>
                    <a:srgbClr val="0E1259"/>
                  </a:solidFill>
                  <a:latin typeface="Arial" panose="020B0604020202020204"/>
                </a:rPr>
                <a:t>Feasible only if app network requests share the same tag endpoints and variable naming as web (e.g. mParticle server-side hits, Adobe Analytics mobile SDK calls)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930" dirty="0">
                  <a:solidFill>
                    <a:srgbClr val="0E1259"/>
                  </a:solidFill>
                  <a:latin typeface="Arial" panose="020B0604020202020204"/>
                </a:rPr>
                <a:t>Review existing rules: check whether URL pattern conditions and variable assertions work against the app HAR request structure before reusing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930" dirty="0">
                  <a:solidFill>
                    <a:srgbClr val="0E1259"/>
                  </a:solidFill>
                  <a:latin typeface="Arial" panose="020B0604020202020204"/>
                </a:rPr>
                <a:t>Update URL filters in existing rules to include app-specific endpoints alongside web domains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930" dirty="0">
                  <a:solidFill>
                    <a:srgbClr val="0E1259"/>
                  </a:solidFill>
                  <a:latin typeface="Arial" panose="020B0604020202020204"/>
                </a:rPr>
                <a:t>Risk: app events (e.g. </a:t>
              </a:r>
              <a:r>
                <a:rPr lang="en-US" sz="930" dirty="0" err="1">
                  <a:solidFill>
                    <a:srgbClr val="0E1259"/>
                  </a:solidFill>
                  <a:latin typeface="Arial" panose="020B0604020202020204"/>
                </a:rPr>
                <a:t>screen_view</a:t>
              </a:r>
              <a:r>
                <a:rPr lang="en-US" sz="930" dirty="0">
                  <a:solidFill>
                    <a:srgbClr val="0E1259"/>
                  </a:solidFill>
                  <a:latin typeface="Arial" panose="020B0604020202020204"/>
                </a:rPr>
                <a:t>, </a:t>
              </a:r>
              <a:r>
                <a:rPr lang="en-US" sz="930" dirty="0" err="1">
                  <a:solidFill>
                    <a:srgbClr val="0E1259"/>
                  </a:solidFill>
                  <a:latin typeface="Arial" panose="020B0604020202020204"/>
                </a:rPr>
                <a:t>app_launch</a:t>
              </a:r>
              <a:r>
                <a:rPr lang="en-US" sz="930" dirty="0">
                  <a:solidFill>
                    <a:srgbClr val="0E1259"/>
                  </a:solidFill>
                  <a:latin typeface="Arial" panose="020B0604020202020204"/>
                </a:rPr>
                <a:t>) differ structurally from web pageview events - shared rules may produce false positives or miss app-only variables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B9E116C-59C3-B7C2-2CF0-2086444C21A0}"/>
              </a:ext>
            </a:extLst>
          </p:cNvPr>
          <p:cNvGrpSpPr/>
          <p:nvPr/>
        </p:nvGrpSpPr>
        <p:grpSpPr>
          <a:xfrm>
            <a:off x="6345855" y="4406641"/>
            <a:ext cx="5682755" cy="1529890"/>
            <a:chOff x="292114" y="939336"/>
            <a:chExt cx="5687344" cy="3556041"/>
          </a:xfrm>
        </p:grpSpPr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A041892E-A2DC-6015-AA75-FBF45C12CF76}"/>
                </a:ext>
              </a:extLst>
            </p:cNvPr>
            <p:cNvSpPr/>
            <p:nvPr/>
          </p:nvSpPr>
          <p:spPr>
            <a:xfrm>
              <a:off x="292114" y="956369"/>
              <a:ext cx="5682755" cy="3401207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2700">
              <a:solidFill>
                <a:srgbClr val="D4DDE6"/>
              </a:solidFill>
              <a:prstDash val="solid"/>
            </a:ln>
            <a:effectLst>
              <a:outerShdw blurRad="889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Shape 5">
              <a:extLst>
                <a:ext uri="{FF2B5EF4-FFF2-40B4-BE49-F238E27FC236}">
                  <a16:creationId xmlns:a16="http://schemas.microsoft.com/office/drawing/2014/main" id="{25C58E82-75A0-F6C2-293A-129D6CCF6EA1}"/>
                </a:ext>
              </a:extLst>
            </p:cNvPr>
            <p:cNvSpPr/>
            <p:nvPr/>
          </p:nvSpPr>
          <p:spPr>
            <a:xfrm>
              <a:off x="296703" y="939336"/>
              <a:ext cx="5682755" cy="508062"/>
            </a:xfrm>
            <a:prstGeom prst="roundRect">
              <a:avLst>
                <a:gd name="adj" fmla="val 25000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506FC22D-4320-6BF1-9E69-5FED81B42990}"/>
                </a:ext>
              </a:extLst>
            </p:cNvPr>
            <p:cNvSpPr/>
            <p:nvPr/>
          </p:nvSpPr>
          <p:spPr>
            <a:xfrm>
              <a:off x="296702" y="1178017"/>
              <a:ext cx="5682755" cy="269381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0CCA02C1-56F6-C7B9-6DE6-4F2ECA87C7B4}"/>
                </a:ext>
              </a:extLst>
            </p:cNvPr>
            <p:cNvSpPr/>
            <p:nvPr/>
          </p:nvSpPr>
          <p:spPr>
            <a:xfrm>
              <a:off x="316398" y="996146"/>
              <a:ext cx="5634185" cy="41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Option B - Create Dedicated App Rules (Recommended)</a:t>
              </a:r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BBA42DB9-7FB7-B026-3E52-8607C46C3A4D}"/>
                </a:ext>
              </a:extLst>
            </p:cNvPr>
            <p:cNvSpPr/>
            <p:nvPr/>
          </p:nvSpPr>
          <p:spPr>
            <a:xfrm>
              <a:off x="413539" y="1631201"/>
              <a:ext cx="5439903" cy="2864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925" dirty="0">
                  <a:solidFill>
                    <a:srgbClr val="0E1259"/>
                  </a:solidFill>
                  <a:latin typeface="Arial" panose="020B0604020202020204"/>
                </a:rPr>
                <a:t>Create separate Tag &amp; Variable Rules targeting app-specific network patterns: mParticle s2s events (s2s.mparticle.com), Adobe mobile SDK hits, consent state payloads per app flow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925" dirty="0">
                  <a:solidFill>
                    <a:srgbClr val="0E1259"/>
                  </a:solidFill>
                  <a:latin typeface="Arial" panose="020B0604020202020204"/>
                </a:rPr>
                <a:t>Map critical app user flows (app launch, login, purchase, consent accept/withdraw) as distinct test cases - generate one HAR file per flow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925" dirty="0">
                  <a:solidFill>
                    <a:srgbClr val="0E1259"/>
                  </a:solidFill>
                  <a:latin typeface="Arial" panose="020B0604020202020204"/>
                </a:rPr>
                <a:t>Rules reused across every app release HAR upload - no maintenance overhead on web audit rules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925" dirty="0">
                  <a:solidFill>
                    <a:srgbClr val="0E1259"/>
                  </a:solidFill>
                  <a:latin typeface="Arial" panose="020B0604020202020204"/>
                </a:rPr>
                <a:t>Cleaner isolation: avoids false positives; app-native rules are precise to the app's tagging structure and variable naming conventions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2522F31-7AC0-64BA-C293-02DDCC33A712}"/>
              </a:ext>
            </a:extLst>
          </p:cNvPr>
          <p:cNvSpPr/>
          <p:nvPr/>
        </p:nvSpPr>
        <p:spPr>
          <a:xfrm>
            <a:off x="100375" y="6039371"/>
            <a:ext cx="12025251" cy="4014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 26">
            <a:extLst>
              <a:ext uri="{FF2B5EF4-FFF2-40B4-BE49-F238E27FC236}">
                <a16:creationId xmlns:a16="http://schemas.microsoft.com/office/drawing/2014/main" id="{F91F2E78-3085-29DB-EF5A-4A3F1E53D355}"/>
              </a:ext>
            </a:extLst>
          </p:cNvPr>
          <p:cNvSpPr/>
          <p:nvPr/>
        </p:nvSpPr>
        <p:spPr>
          <a:xfrm>
            <a:off x="239645" y="5987032"/>
            <a:ext cx="11784379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30" b="1" i="1" dirty="0">
                <a:solidFill>
                  <a:srgbClr val="0E1259"/>
                </a:solidFill>
                <a:latin typeface="Arial" panose="020B0604020202020204"/>
              </a:rPr>
              <a:t>Per ObservePoint documentation: 'Journeys do not directly support unapproved tag and cookie alerts’ - HAR Analyzer with dedicated Device profiles and Tag &amp; Variable Rules is the correct path for app log validation. (Source: help.observepoint.com)</a:t>
            </a:r>
          </a:p>
        </p:txBody>
      </p:sp>
    </p:spTree>
    <p:extLst>
      <p:ext uri="{BB962C8B-B14F-4D97-AF65-F5344CB8AC3E}">
        <p14:creationId xmlns:p14="http://schemas.microsoft.com/office/powerpoint/2010/main" val="1315347604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87647-69E4-2F04-B720-642BCFF3D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9600180A-1579-61A5-5BF5-DD6434978E07}"/>
              </a:ext>
            </a:extLst>
          </p:cNvPr>
          <p:cNvSpPr/>
          <p:nvPr/>
        </p:nvSpPr>
        <p:spPr>
          <a:xfrm>
            <a:off x="143098" y="5423453"/>
            <a:ext cx="11982527" cy="10725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8B3C1E-E7C7-F7A7-FA38-D650EF0E0F19}"/>
              </a:ext>
            </a:extLst>
          </p:cNvPr>
          <p:cNvSpPr/>
          <p:nvPr/>
        </p:nvSpPr>
        <p:spPr>
          <a:xfrm>
            <a:off x="134376" y="716377"/>
            <a:ext cx="11991250" cy="205649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2F6165-245C-0547-D2B7-8CDFE68E7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20524" y="6517097"/>
            <a:ext cx="305102" cy="16986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C98B77-332E-004E-BD2A-A6DBBD4442FD}" type="slidenum">
              <a:rPr kumimoji="0" lang="sv-SE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sv-SE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9C42CB77-684F-267F-EDFD-6C0598D80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31" y="219472"/>
            <a:ext cx="11873140" cy="468193"/>
          </a:xfrm>
        </p:spPr>
        <p:txBody>
          <a:bodyPr vert="horz"/>
          <a:lstStyle/>
          <a:p>
            <a:r>
              <a:rPr lang="fr-F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Consent Signal Propagation — mParticle as CDP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9FD36AD-43A3-6B12-E311-0D54E11CE87E}"/>
              </a:ext>
            </a:extLst>
          </p:cNvPr>
          <p:cNvSpPr/>
          <p:nvPr/>
        </p:nvSpPr>
        <p:spPr>
          <a:xfrm>
            <a:off x="134376" y="2859036"/>
            <a:ext cx="11991250" cy="19991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B3DB7DE2-2E0A-71DA-8DF1-2A3E8B110980}"/>
              </a:ext>
            </a:extLst>
          </p:cNvPr>
          <p:cNvSpPr/>
          <p:nvPr/>
        </p:nvSpPr>
        <p:spPr>
          <a:xfrm>
            <a:off x="276496" y="2970280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3880">
              <a:defRPr/>
            </a:pPr>
            <a:r>
              <a:rPr lang="en-US" sz="1400" dirty="0">
                <a:solidFill>
                  <a:srgbClr val="2C35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NEEDS TO BE CONFIGURED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C6CA6D1-04D8-C7D9-E790-20406AF83FEB}"/>
              </a:ext>
            </a:extLst>
          </p:cNvPr>
          <p:cNvSpPr txBox="1"/>
          <p:nvPr/>
        </p:nvSpPr>
        <p:spPr>
          <a:xfrm>
            <a:off x="4049052" y="6562695"/>
            <a:ext cx="763949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00" dirty="0">
                <a:latin typeface="+mj-lt"/>
                <a:ea typeface="Calibri" pitchFamily="34" charset="-122"/>
                <a:cs typeface="Calibri" pitchFamily="34" charset="-120"/>
              </a:rPr>
              <a:t>Tools: OneTrust · Adobe Tags · mParticle Web SDK · </a:t>
            </a:r>
            <a:r>
              <a:rPr lang="en-US" sz="700" dirty="0" err="1">
                <a:latin typeface="+mj-lt"/>
                <a:ea typeface="Calibri" pitchFamily="34" charset="-122"/>
                <a:cs typeface="Calibri" pitchFamily="34" charset="-120"/>
              </a:rPr>
              <a:t>IDSync</a:t>
            </a:r>
            <a:r>
              <a:rPr lang="en-US" sz="700" dirty="0">
                <a:latin typeface="+mj-lt"/>
                <a:ea typeface="Calibri" pitchFamily="34" charset="-122"/>
                <a:cs typeface="Calibri" pitchFamily="34" charset="-120"/>
              </a:rPr>
              <a:t> · Consent State API · OpenDSR API (v3)  |  Standards: IAB TCF 2.0 · GDPR · CCPA  |  Source: docs.mparticle.com</a:t>
            </a:r>
          </a:p>
        </p:txBody>
      </p:sp>
      <p:sp>
        <p:nvSpPr>
          <p:cNvPr id="85" name="Shape 2">
            <a:extLst>
              <a:ext uri="{FF2B5EF4-FFF2-40B4-BE49-F238E27FC236}">
                <a16:creationId xmlns:a16="http://schemas.microsoft.com/office/drawing/2014/main" id="{2A93A119-3463-4F18-CECD-2E6AD8CF2667}"/>
              </a:ext>
            </a:extLst>
          </p:cNvPr>
          <p:cNvSpPr/>
          <p:nvPr/>
        </p:nvSpPr>
        <p:spPr>
          <a:xfrm>
            <a:off x="10571146" y="112870"/>
            <a:ext cx="1554480" cy="512064"/>
          </a:xfrm>
          <a:prstGeom prst="roundRect">
            <a:avLst>
              <a:gd name="adj" fmla="val 8929"/>
            </a:avLst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1C051FA-FBFF-D256-9F23-9140016F1B98}"/>
              </a:ext>
            </a:extLst>
          </p:cNvPr>
          <p:cNvSpPr txBox="1"/>
          <p:nvPr/>
        </p:nvSpPr>
        <p:spPr>
          <a:xfrm>
            <a:off x="10828097" y="241759"/>
            <a:ext cx="14176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mParticle CDP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B6060D-EC63-4FFC-EAEC-99ADCC91EACC}"/>
              </a:ext>
            </a:extLst>
          </p:cNvPr>
          <p:cNvGrpSpPr/>
          <p:nvPr/>
        </p:nvGrpSpPr>
        <p:grpSpPr>
          <a:xfrm>
            <a:off x="340367" y="3282691"/>
            <a:ext cx="3792721" cy="1529890"/>
            <a:chOff x="292114" y="939336"/>
            <a:chExt cx="5687344" cy="3556041"/>
          </a:xfrm>
        </p:grpSpPr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F67CDFCD-E748-4748-10CB-F25636C73D76}"/>
                </a:ext>
              </a:extLst>
            </p:cNvPr>
            <p:cNvSpPr/>
            <p:nvPr/>
          </p:nvSpPr>
          <p:spPr>
            <a:xfrm>
              <a:off x="292114" y="956369"/>
              <a:ext cx="5682755" cy="3401207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2700">
              <a:solidFill>
                <a:srgbClr val="D4DDE6"/>
              </a:solidFill>
              <a:prstDash val="solid"/>
            </a:ln>
            <a:effectLst>
              <a:outerShdw blurRad="889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267B7B24-1E72-3BCC-8065-68D91715F20F}"/>
                </a:ext>
              </a:extLst>
            </p:cNvPr>
            <p:cNvSpPr/>
            <p:nvPr/>
          </p:nvSpPr>
          <p:spPr>
            <a:xfrm>
              <a:off x="296703" y="939336"/>
              <a:ext cx="5682755" cy="508062"/>
            </a:xfrm>
            <a:prstGeom prst="roundRect">
              <a:avLst>
                <a:gd name="adj" fmla="val 25000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Shape 6">
              <a:extLst>
                <a:ext uri="{FF2B5EF4-FFF2-40B4-BE49-F238E27FC236}">
                  <a16:creationId xmlns:a16="http://schemas.microsoft.com/office/drawing/2014/main" id="{3E3120A4-546B-9894-FC4D-D2AB68F86B46}"/>
                </a:ext>
              </a:extLst>
            </p:cNvPr>
            <p:cNvSpPr/>
            <p:nvPr/>
          </p:nvSpPr>
          <p:spPr>
            <a:xfrm>
              <a:off x="296702" y="1178017"/>
              <a:ext cx="5682755" cy="269381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CE2AEDF5-D57B-9B81-E12D-29F7B80B5287}"/>
                </a:ext>
              </a:extLst>
            </p:cNvPr>
            <p:cNvSpPr/>
            <p:nvPr/>
          </p:nvSpPr>
          <p:spPr>
            <a:xfrm>
              <a:off x="316398" y="996146"/>
              <a:ext cx="5634185" cy="41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CMP → Adobe Tags → mParticle</a:t>
              </a:r>
            </a:p>
          </p:txBody>
        </p:sp>
        <p:sp>
          <p:nvSpPr>
            <p:cNvPr id="9" name="Text 8">
              <a:extLst>
                <a:ext uri="{FF2B5EF4-FFF2-40B4-BE49-F238E27FC236}">
                  <a16:creationId xmlns:a16="http://schemas.microsoft.com/office/drawing/2014/main" id="{88AA7EFF-EA1D-A3A9-BFB7-8327C33191F2}"/>
                </a:ext>
              </a:extLst>
            </p:cNvPr>
            <p:cNvSpPr/>
            <p:nvPr/>
          </p:nvSpPr>
          <p:spPr>
            <a:xfrm>
              <a:off x="413539" y="1631201"/>
              <a:ext cx="5439903" cy="2864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OneTrust fires consent event to Adobe Tags dataLayer on accept/withdraw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Adobe Tags rule reads OnetrustActiveGroups or OptanonConsent cookie and sends consent state to mParticle Web SDK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Map OneTrust purpose categories to mParticle GDPR/CCPA consent purposes defined in workspace settings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BF43BAF-2F33-B1E7-A961-E3A4CB10EB11}"/>
              </a:ext>
            </a:extLst>
          </p:cNvPr>
          <p:cNvSpPr/>
          <p:nvPr/>
        </p:nvSpPr>
        <p:spPr>
          <a:xfrm>
            <a:off x="134376" y="4937519"/>
            <a:ext cx="11991250" cy="4014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 26">
            <a:extLst>
              <a:ext uri="{FF2B5EF4-FFF2-40B4-BE49-F238E27FC236}">
                <a16:creationId xmlns:a16="http://schemas.microsoft.com/office/drawing/2014/main" id="{B87ED810-277E-4E2E-6030-8F093A9A563A}"/>
              </a:ext>
            </a:extLst>
          </p:cNvPr>
          <p:cNvSpPr/>
          <p:nvPr/>
        </p:nvSpPr>
        <p:spPr>
          <a:xfrm>
            <a:off x="239646" y="4875655"/>
            <a:ext cx="1150924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930" b="1" i="1" dirty="0">
                <a:solidFill>
                  <a:srgbClr val="0E1259"/>
                </a:solidFill>
                <a:latin typeface="Arial" panose="020B0604020202020204"/>
              </a:rPr>
              <a:t>Key Principle: mParticle Consent Forwarding Rules are the enforcement gate — EVERY output must have a rule, or it will receive data regardless of consent. Define consent purposes first in Workspace Settings before coding.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8BE397E-436D-0FB2-F0D4-A54C9A1AD950}"/>
              </a:ext>
            </a:extLst>
          </p:cNvPr>
          <p:cNvSpPr/>
          <p:nvPr/>
        </p:nvSpPr>
        <p:spPr>
          <a:xfrm>
            <a:off x="193431" y="754998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3880">
              <a:defRPr/>
            </a:pPr>
            <a:r>
              <a:rPr lang="en-US" sz="1400" dirty="0">
                <a:solidFill>
                  <a:srgbClr val="2C35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CONSENT FLOW  →  CONFIGURATION NEEDED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CA7B945-6973-34D2-8ADB-64E457226762}"/>
              </a:ext>
            </a:extLst>
          </p:cNvPr>
          <p:cNvGrpSpPr/>
          <p:nvPr/>
        </p:nvGrpSpPr>
        <p:grpSpPr>
          <a:xfrm>
            <a:off x="1810486" y="1118875"/>
            <a:ext cx="8814815" cy="1482330"/>
            <a:chOff x="4851400" y="1739900"/>
            <a:chExt cx="8813800" cy="2049342"/>
          </a:xfrm>
        </p:grpSpPr>
        <p:sp>
          <p:nvSpPr>
            <p:cNvPr id="20" name="Flow Card 1">
              <a:extLst>
                <a:ext uri="{FF2B5EF4-FFF2-40B4-BE49-F238E27FC236}">
                  <a16:creationId xmlns:a16="http://schemas.microsoft.com/office/drawing/2014/main" id="{811FFF62-BB57-1B88-8CED-E61561313896}"/>
                </a:ext>
              </a:extLst>
            </p:cNvPr>
            <p:cNvSpPr/>
            <p:nvPr/>
          </p:nvSpPr>
          <p:spPr>
            <a:xfrm>
              <a:off x="4851400" y="1739900"/>
              <a:ext cx="1600200" cy="204934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Flow Title 1">
              <a:extLst>
                <a:ext uri="{FF2B5EF4-FFF2-40B4-BE49-F238E27FC236}">
                  <a16:creationId xmlns:a16="http://schemas.microsoft.com/office/drawing/2014/main" id="{7E8B392A-013C-1B81-0247-5F0994BA13E6}"/>
                </a:ext>
              </a:extLst>
            </p:cNvPr>
            <p:cNvSpPr txBox="1"/>
            <p:nvPr/>
          </p:nvSpPr>
          <p:spPr>
            <a:xfrm>
              <a:off x="4937491" y="1902276"/>
              <a:ext cx="1397000" cy="935607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User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Browser /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App</a:t>
              </a:r>
            </a:p>
          </p:txBody>
        </p:sp>
        <p:sp>
          <p:nvSpPr>
            <p:cNvPr id="29" name="Flow Body 1">
              <a:extLst>
                <a:ext uri="{FF2B5EF4-FFF2-40B4-BE49-F238E27FC236}">
                  <a16:creationId xmlns:a16="http://schemas.microsoft.com/office/drawing/2014/main" id="{C0FFEF72-A8EE-1A2B-9948-C7A00A0892DB}"/>
                </a:ext>
              </a:extLst>
            </p:cNvPr>
            <p:cNvSpPr txBox="1"/>
            <p:nvPr/>
          </p:nvSpPr>
          <p:spPr>
            <a:xfrm>
              <a:off x="4937491" y="3016490"/>
              <a:ext cx="1371600" cy="318957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Consent action</a:t>
              </a:r>
            </a:p>
          </p:txBody>
        </p:sp>
        <p:cxnSp>
          <p:nvCxnSpPr>
            <p:cNvPr id="30" name="Flow Arrow 1">
              <a:extLst>
                <a:ext uri="{FF2B5EF4-FFF2-40B4-BE49-F238E27FC236}">
                  <a16:creationId xmlns:a16="http://schemas.microsoft.com/office/drawing/2014/main" id="{D8076B55-061D-3C78-ABC2-62FC98739B8D}"/>
                </a:ext>
              </a:extLst>
            </p:cNvPr>
            <p:cNvCxnSpPr/>
            <p:nvPr/>
          </p:nvCxnSpPr>
          <p:spPr>
            <a:xfrm>
              <a:off x="64770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low Card 2">
              <a:extLst>
                <a:ext uri="{FF2B5EF4-FFF2-40B4-BE49-F238E27FC236}">
                  <a16:creationId xmlns:a16="http://schemas.microsoft.com/office/drawing/2014/main" id="{3A3FA9B9-4D9D-B39E-143A-5F52A2E39941}"/>
                </a:ext>
              </a:extLst>
            </p:cNvPr>
            <p:cNvSpPr/>
            <p:nvPr/>
          </p:nvSpPr>
          <p:spPr>
            <a:xfrm>
              <a:off x="6654801" y="1739901"/>
              <a:ext cx="1600200" cy="2049341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4" name="Flow Title 2">
              <a:extLst>
                <a:ext uri="{FF2B5EF4-FFF2-40B4-BE49-F238E27FC236}">
                  <a16:creationId xmlns:a16="http://schemas.microsoft.com/office/drawing/2014/main" id="{3CCB78D3-4C32-D142-688B-A94B1A5F002C}"/>
                </a:ext>
              </a:extLst>
            </p:cNvPr>
            <p:cNvSpPr txBox="1"/>
            <p:nvPr/>
          </p:nvSpPr>
          <p:spPr>
            <a:xfrm>
              <a:off x="6756400" y="2048607"/>
              <a:ext cx="1397000" cy="65917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OneTrust</a:t>
              </a:r>
              <a:endParaRPr kumimoji="0" lang="en-IN" sz="1300" b="1" i="0" u="none" strike="noStrike" kern="1200" cap="none" spc="0" normalizeH="0" baseline="0" noProof="0" dirty="0">
                <a:ln>
                  <a:noFill/>
                </a:ln>
                <a:solidFill>
                  <a:srgbClr val="0E1259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/ CMP</a:t>
              </a:r>
            </a:p>
          </p:txBody>
        </p:sp>
        <p:sp>
          <p:nvSpPr>
            <p:cNvPr id="45" name="Flow Body 2">
              <a:extLst>
                <a:ext uri="{FF2B5EF4-FFF2-40B4-BE49-F238E27FC236}">
                  <a16:creationId xmlns:a16="http://schemas.microsoft.com/office/drawing/2014/main" id="{40C4C93D-09D6-4005-20F2-09FA9CAEBF43}"/>
                </a:ext>
              </a:extLst>
            </p:cNvPr>
            <p:cNvSpPr txBox="1"/>
            <p:nvPr/>
          </p:nvSpPr>
          <p:spPr>
            <a:xfrm>
              <a:off x="6769100" y="3016490"/>
              <a:ext cx="1371600" cy="531596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Consent event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fired</a:t>
              </a:r>
            </a:p>
          </p:txBody>
        </p:sp>
        <p:cxnSp>
          <p:nvCxnSpPr>
            <p:cNvPr id="46" name="Flow Arrow 2">
              <a:extLst>
                <a:ext uri="{FF2B5EF4-FFF2-40B4-BE49-F238E27FC236}">
                  <a16:creationId xmlns:a16="http://schemas.microsoft.com/office/drawing/2014/main" id="{260D65FE-1829-870E-9E43-736A88082D93}"/>
                </a:ext>
              </a:extLst>
            </p:cNvPr>
            <p:cNvCxnSpPr/>
            <p:nvPr/>
          </p:nvCxnSpPr>
          <p:spPr>
            <a:xfrm>
              <a:off x="82804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low Card 3">
              <a:extLst>
                <a:ext uri="{FF2B5EF4-FFF2-40B4-BE49-F238E27FC236}">
                  <a16:creationId xmlns:a16="http://schemas.microsoft.com/office/drawing/2014/main" id="{8997164C-47AC-8DB4-59B4-4179EC78DBD4}"/>
                </a:ext>
              </a:extLst>
            </p:cNvPr>
            <p:cNvSpPr/>
            <p:nvPr/>
          </p:nvSpPr>
          <p:spPr>
            <a:xfrm>
              <a:off x="8458200" y="1739900"/>
              <a:ext cx="1600200" cy="204934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54" name="Flow Arrow 3">
              <a:extLst>
                <a:ext uri="{FF2B5EF4-FFF2-40B4-BE49-F238E27FC236}">
                  <a16:creationId xmlns:a16="http://schemas.microsoft.com/office/drawing/2014/main" id="{16CE26C3-FC5A-5951-03CA-9F5086CF0686}"/>
                </a:ext>
              </a:extLst>
            </p:cNvPr>
            <p:cNvCxnSpPr/>
            <p:nvPr/>
          </p:nvCxnSpPr>
          <p:spPr>
            <a:xfrm>
              <a:off x="100838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low Card 4">
              <a:extLst>
                <a:ext uri="{FF2B5EF4-FFF2-40B4-BE49-F238E27FC236}">
                  <a16:creationId xmlns:a16="http://schemas.microsoft.com/office/drawing/2014/main" id="{39856DFA-4011-9668-4AC7-2EFA24ABEEF2}"/>
                </a:ext>
              </a:extLst>
            </p:cNvPr>
            <p:cNvSpPr/>
            <p:nvPr/>
          </p:nvSpPr>
          <p:spPr>
            <a:xfrm>
              <a:off x="10261601" y="1739901"/>
              <a:ext cx="1600200" cy="2049341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62" name="Flow Arrow 4">
              <a:extLst>
                <a:ext uri="{FF2B5EF4-FFF2-40B4-BE49-F238E27FC236}">
                  <a16:creationId xmlns:a16="http://schemas.microsoft.com/office/drawing/2014/main" id="{6BC8CF95-292E-A782-A096-7DE3B3CF1919}"/>
                </a:ext>
              </a:extLst>
            </p:cNvPr>
            <p:cNvCxnSpPr/>
            <p:nvPr/>
          </p:nvCxnSpPr>
          <p:spPr>
            <a:xfrm>
              <a:off x="118872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Flow Card 5">
              <a:extLst>
                <a:ext uri="{FF2B5EF4-FFF2-40B4-BE49-F238E27FC236}">
                  <a16:creationId xmlns:a16="http://schemas.microsoft.com/office/drawing/2014/main" id="{C74F214D-0980-DD0E-8502-F4FD55744514}"/>
                </a:ext>
              </a:extLst>
            </p:cNvPr>
            <p:cNvSpPr/>
            <p:nvPr/>
          </p:nvSpPr>
          <p:spPr>
            <a:xfrm>
              <a:off x="12065000" y="1739901"/>
              <a:ext cx="1600200" cy="2024019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8" name="Flow Title 2">
              <a:extLst>
                <a:ext uri="{FF2B5EF4-FFF2-40B4-BE49-F238E27FC236}">
                  <a16:creationId xmlns:a16="http://schemas.microsoft.com/office/drawing/2014/main" id="{67B73DE9-09D3-7E21-DDF5-B0CBA8586E8D}"/>
                </a:ext>
              </a:extLst>
            </p:cNvPr>
            <p:cNvSpPr txBox="1"/>
            <p:nvPr/>
          </p:nvSpPr>
          <p:spPr>
            <a:xfrm>
              <a:off x="8559800" y="1924670"/>
              <a:ext cx="1397000" cy="935607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Adobe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Tags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(Launch)</a:t>
              </a:r>
            </a:p>
          </p:txBody>
        </p:sp>
        <p:sp>
          <p:nvSpPr>
            <p:cNvPr id="89" name="Flow Body 2">
              <a:extLst>
                <a:ext uri="{FF2B5EF4-FFF2-40B4-BE49-F238E27FC236}">
                  <a16:creationId xmlns:a16="http://schemas.microsoft.com/office/drawing/2014/main" id="{FA686463-9343-A536-B409-0F356BBFEB78}"/>
                </a:ext>
              </a:extLst>
            </p:cNvPr>
            <p:cNvSpPr txBox="1"/>
            <p:nvPr/>
          </p:nvSpPr>
          <p:spPr>
            <a:xfrm>
              <a:off x="8509002" y="2996695"/>
              <a:ext cx="1498599" cy="471784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Tag 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forwards to mParticle</a:t>
              </a:r>
            </a:p>
          </p:txBody>
        </p:sp>
        <p:sp>
          <p:nvSpPr>
            <p:cNvPr id="90" name="Flow Title 2">
              <a:extLst>
                <a:ext uri="{FF2B5EF4-FFF2-40B4-BE49-F238E27FC236}">
                  <a16:creationId xmlns:a16="http://schemas.microsoft.com/office/drawing/2014/main" id="{F9CF89E1-7D35-6F67-88D9-E0242A4AFC1B}"/>
                </a:ext>
              </a:extLst>
            </p:cNvPr>
            <p:cNvSpPr txBox="1"/>
            <p:nvPr/>
          </p:nvSpPr>
          <p:spPr>
            <a:xfrm>
              <a:off x="10363201" y="2077162"/>
              <a:ext cx="1397000" cy="65917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mParticle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Ingest</a:t>
              </a:r>
            </a:p>
          </p:txBody>
        </p:sp>
        <p:sp>
          <p:nvSpPr>
            <p:cNvPr id="91" name="Flow Body 2">
              <a:extLst>
                <a:ext uri="{FF2B5EF4-FFF2-40B4-BE49-F238E27FC236}">
                  <a16:creationId xmlns:a16="http://schemas.microsoft.com/office/drawing/2014/main" id="{4CD5B677-0A22-5C64-704F-DACD907AA2B2}"/>
                </a:ext>
              </a:extLst>
            </p:cNvPr>
            <p:cNvSpPr txBox="1"/>
            <p:nvPr/>
          </p:nvSpPr>
          <p:spPr>
            <a:xfrm>
              <a:off x="10363201" y="2996994"/>
              <a:ext cx="1371600" cy="53159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Server-side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or Web SDK</a:t>
              </a:r>
            </a:p>
          </p:txBody>
        </p:sp>
        <p:sp>
          <p:nvSpPr>
            <p:cNvPr id="92" name="Flow Title 2">
              <a:extLst>
                <a:ext uri="{FF2B5EF4-FFF2-40B4-BE49-F238E27FC236}">
                  <a16:creationId xmlns:a16="http://schemas.microsoft.com/office/drawing/2014/main" id="{241FFEB7-5C7B-877D-3592-FC03DD332A34}"/>
                </a:ext>
              </a:extLst>
            </p:cNvPr>
            <p:cNvSpPr txBox="1"/>
            <p:nvPr/>
          </p:nvSpPr>
          <p:spPr>
            <a:xfrm>
              <a:off x="12166602" y="2091440"/>
              <a:ext cx="1397000" cy="659179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mParticle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Outputs</a:t>
              </a:r>
            </a:p>
          </p:txBody>
        </p:sp>
        <p:sp>
          <p:nvSpPr>
            <p:cNvPr id="93" name="Flow Body 2">
              <a:extLst>
                <a:ext uri="{FF2B5EF4-FFF2-40B4-BE49-F238E27FC236}">
                  <a16:creationId xmlns:a16="http://schemas.microsoft.com/office/drawing/2014/main" id="{DD01951E-74DB-A884-A984-56468DCB9E87}"/>
                </a:ext>
              </a:extLst>
            </p:cNvPr>
            <p:cNvSpPr txBox="1"/>
            <p:nvPr/>
          </p:nvSpPr>
          <p:spPr>
            <a:xfrm>
              <a:off x="12209342" y="3011529"/>
              <a:ext cx="1371600" cy="744232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300+ integrations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Audiences</a:t>
              </a:r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9FA9643-A476-A87B-165D-24DEFF8E09CC}"/>
              </a:ext>
            </a:extLst>
          </p:cNvPr>
          <p:cNvGrpSpPr/>
          <p:nvPr/>
        </p:nvGrpSpPr>
        <p:grpSpPr>
          <a:xfrm>
            <a:off x="4285449" y="3277720"/>
            <a:ext cx="3792721" cy="1539062"/>
            <a:chOff x="292114" y="939336"/>
            <a:chExt cx="5687344" cy="3577360"/>
          </a:xfrm>
        </p:grpSpPr>
        <p:sp>
          <p:nvSpPr>
            <p:cNvPr id="109" name="Shape 4">
              <a:extLst>
                <a:ext uri="{FF2B5EF4-FFF2-40B4-BE49-F238E27FC236}">
                  <a16:creationId xmlns:a16="http://schemas.microsoft.com/office/drawing/2014/main" id="{5A8DC3D7-F6DB-7DBD-3A9E-06E0CD03A8CD}"/>
                </a:ext>
              </a:extLst>
            </p:cNvPr>
            <p:cNvSpPr/>
            <p:nvPr/>
          </p:nvSpPr>
          <p:spPr>
            <a:xfrm>
              <a:off x="292114" y="956369"/>
              <a:ext cx="5682755" cy="3401207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2700">
              <a:solidFill>
                <a:srgbClr val="D4DDE6"/>
              </a:solidFill>
              <a:prstDash val="solid"/>
            </a:ln>
            <a:effectLst>
              <a:outerShdw blurRad="889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F674FE62-5065-4775-A847-8F75D5E455A0}"/>
                </a:ext>
              </a:extLst>
            </p:cNvPr>
            <p:cNvSpPr/>
            <p:nvPr/>
          </p:nvSpPr>
          <p:spPr>
            <a:xfrm>
              <a:off x="296703" y="939336"/>
              <a:ext cx="5682755" cy="508062"/>
            </a:xfrm>
            <a:prstGeom prst="roundRect">
              <a:avLst>
                <a:gd name="adj" fmla="val 25000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1" name="Shape 6">
              <a:extLst>
                <a:ext uri="{FF2B5EF4-FFF2-40B4-BE49-F238E27FC236}">
                  <a16:creationId xmlns:a16="http://schemas.microsoft.com/office/drawing/2014/main" id="{6653CC07-B43B-2872-B3EC-0FD50AFAEAB1}"/>
                </a:ext>
              </a:extLst>
            </p:cNvPr>
            <p:cNvSpPr/>
            <p:nvPr/>
          </p:nvSpPr>
          <p:spPr>
            <a:xfrm>
              <a:off x="296702" y="1178017"/>
              <a:ext cx="5682755" cy="269381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2" name="Text 7">
              <a:extLst>
                <a:ext uri="{FF2B5EF4-FFF2-40B4-BE49-F238E27FC236}">
                  <a16:creationId xmlns:a16="http://schemas.microsoft.com/office/drawing/2014/main" id="{D3E71AD7-2DF7-936E-56DD-67D00C25E457}"/>
                </a:ext>
              </a:extLst>
            </p:cNvPr>
            <p:cNvSpPr/>
            <p:nvPr/>
          </p:nvSpPr>
          <p:spPr>
            <a:xfrm>
              <a:off x="316398" y="996146"/>
              <a:ext cx="5634185" cy="41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mParticle Consent Configuration (corrected SDK)</a:t>
              </a:r>
            </a:p>
          </p:txBody>
        </p:sp>
        <p:sp>
          <p:nvSpPr>
            <p:cNvPr id="113" name="Text 8">
              <a:extLst>
                <a:ext uri="{FF2B5EF4-FFF2-40B4-BE49-F238E27FC236}">
                  <a16:creationId xmlns:a16="http://schemas.microsoft.com/office/drawing/2014/main" id="{F8E96C30-E997-6794-2533-A61C5A53B4FB}"/>
                </a:ext>
              </a:extLst>
            </p:cNvPr>
            <p:cNvSpPr/>
            <p:nvPr/>
          </p:nvSpPr>
          <p:spPr>
            <a:xfrm>
              <a:off x="367946" y="1652520"/>
              <a:ext cx="5582638" cy="2864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Step 1 - Create consent state object: var 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consentState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 = mParticle.Consent.createConsentState()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Step 2 - Create GDPR consent per purpose: var 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gdprConsent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 = 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mParticle.Consent.createGDPRConsent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(true, 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Date.now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(), 'policy-doc-v1')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Step 3 - Add purpose to state: 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consentState.addGDPRConsentState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('analytics', 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gdprConsent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)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Step 4 - Apply to user: 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mParticle.Identity.getCurrentUser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().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setConsentState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(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consentState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)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481A55E-0B62-F54F-312F-46E3AF75C6AB}"/>
              </a:ext>
            </a:extLst>
          </p:cNvPr>
          <p:cNvGrpSpPr/>
          <p:nvPr/>
        </p:nvGrpSpPr>
        <p:grpSpPr>
          <a:xfrm>
            <a:off x="8230531" y="3272749"/>
            <a:ext cx="3792721" cy="1529890"/>
            <a:chOff x="292114" y="939336"/>
            <a:chExt cx="5687344" cy="3556041"/>
          </a:xfrm>
        </p:grpSpPr>
        <p:sp>
          <p:nvSpPr>
            <p:cNvPr id="115" name="Shape 4">
              <a:extLst>
                <a:ext uri="{FF2B5EF4-FFF2-40B4-BE49-F238E27FC236}">
                  <a16:creationId xmlns:a16="http://schemas.microsoft.com/office/drawing/2014/main" id="{6108724A-F04B-D3AC-2512-A0069BFE63A3}"/>
                </a:ext>
              </a:extLst>
            </p:cNvPr>
            <p:cNvSpPr/>
            <p:nvPr/>
          </p:nvSpPr>
          <p:spPr>
            <a:xfrm>
              <a:off x="292114" y="956369"/>
              <a:ext cx="5682755" cy="3401207"/>
            </a:xfrm>
            <a:prstGeom prst="roundRect">
              <a:avLst>
                <a:gd name="adj" fmla="val 3070"/>
              </a:avLst>
            </a:prstGeom>
            <a:solidFill>
              <a:srgbClr val="FFFFFF"/>
            </a:solidFill>
            <a:ln w="12700">
              <a:solidFill>
                <a:srgbClr val="D4DDE6"/>
              </a:solidFill>
              <a:prstDash val="solid"/>
            </a:ln>
            <a:effectLst>
              <a:outerShdw blurRad="88900" dist="25400" dir="27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Shape 5">
              <a:extLst>
                <a:ext uri="{FF2B5EF4-FFF2-40B4-BE49-F238E27FC236}">
                  <a16:creationId xmlns:a16="http://schemas.microsoft.com/office/drawing/2014/main" id="{18E49132-163B-C44F-92EB-F639BCE868DF}"/>
                </a:ext>
              </a:extLst>
            </p:cNvPr>
            <p:cNvSpPr/>
            <p:nvPr/>
          </p:nvSpPr>
          <p:spPr>
            <a:xfrm>
              <a:off x="296703" y="939336"/>
              <a:ext cx="5682755" cy="508062"/>
            </a:xfrm>
            <a:prstGeom prst="roundRect">
              <a:avLst>
                <a:gd name="adj" fmla="val 25000"/>
              </a:avLst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7" name="Shape 6">
              <a:extLst>
                <a:ext uri="{FF2B5EF4-FFF2-40B4-BE49-F238E27FC236}">
                  <a16:creationId xmlns:a16="http://schemas.microsoft.com/office/drawing/2014/main" id="{4463847F-FF09-C205-23AA-613FA362DFBD}"/>
                </a:ext>
              </a:extLst>
            </p:cNvPr>
            <p:cNvSpPr/>
            <p:nvPr/>
          </p:nvSpPr>
          <p:spPr>
            <a:xfrm>
              <a:off x="296702" y="1178017"/>
              <a:ext cx="5682755" cy="269381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8" name="Text 7">
              <a:extLst>
                <a:ext uri="{FF2B5EF4-FFF2-40B4-BE49-F238E27FC236}">
                  <a16:creationId xmlns:a16="http://schemas.microsoft.com/office/drawing/2014/main" id="{587CB27B-BA61-A904-DCA8-BB351895BBFC}"/>
                </a:ext>
              </a:extLst>
            </p:cNvPr>
            <p:cNvSpPr/>
            <p:nvPr/>
          </p:nvSpPr>
          <p:spPr>
            <a:xfrm>
              <a:off x="316398" y="996146"/>
              <a:ext cx="5634185" cy="4176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mParticle Output &amp; Audience Control</a:t>
              </a:r>
            </a:p>
          </p:txBody>
        </p:sp>
        <p:sp>
          <p:nvSpPr>
            <p:cNvPr id="119" name="Text 8">
              <a:extLst>
                <a:ext uri="{FF2B5EF4-FFF2-40B4-BE49-F238E27FC236}">
                  <a16:creationId xmlns:a16="http://schemas.microsoft.com/office/drawing/2014/main" id="{0BFD8C03-2A52-236B-0442-89268978C707}"/>
                </a:ext>
              </a:extLst>
            </p:cNvPr>
            <p:cNvSpPr/>
            <p:nvPr/>
          </p:nvSpPr>
          <p:spPr>
            <a:xfrm>
              <a:off x="413539" y="1631201"/>
              <a:ext cx="5439903" cy="28641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CRITICAL: Assign a Consent Rule to EVERY output integration - outputs without rules forward data regardless of consent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Consent Forwarding Rules: block/allow per purpose (e.g., block Google Ads output if 'marketing' purpose not granted)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Audience Builder: filter by consent state field - include only users where purpose is opted-in</a:t>
              </a:r>
            </a:p>
            <a:p>
              <a:pPr marL="171450" indent="-171450">
                <a:buFont typeface="Arial" panose="020B0604020202020204" pitchFamily="34" charset="0"/>
                <a:buChar char="•"/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Data Privacy Controls: configure per-output attribute suppression for non-consented profiles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17FC51B5-0BB8-7012-63F2-4C99AA7A1713}"/>
              </a:ext>
            </a:extLst>
          </p:cNvPr>
          <p:cNvSpPr>
            <a:spLocks noGrp="1"/>
          </p:cNvSpPr>
          <p:nvPr/>
        </p:nvSpPr>
        <p:spPr>
          <a:xfrm>
            <a:off x="369834" y="5444551"/>
            <a:ext cx="2787609" cy="988451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1423D23-4C1D-1573-7FC3-D4DF54E051BC}"/>
              </a:ext>
            </a:extLst>
          </p:cNvPr>
          <p:cNvSpPr>
            <a:spLocks noGrp="1"/>
          </p:cNvSpPr>
          <p:nvPr/>
        </p:nvSpPr>
        <p:spPr>
          <a:xfrm>
            <a:off x="1111290" y="5475606"/>
            <a:ext cx="1304696" cy="234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861"/>
          </a:bodyPr>
          <a:lstStyle/>
          <a:p>
            <a:pPr algn="ctr">
              <a:defRPr sz="1028" b="1" i="0">
                <a:solidFill>
                  <a:srgbClr val="072A4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028" i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Consent State API</a:t>
            </a:r>
            <a:endParaRPr sz="1028" i="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Aptos Display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835B5C9-B39E-7BA0-D62D-C2FE70106FC2}"/>
              </a:ext>
            </a:extLst>
          </p:cNvPr>
          <p:cNvSpPr>
            <a:spLocks noGrp="1"/>
          </p:cNvSpPr>
          <p:nvPr/>
        </p:nvSpPr>
        <p:spPr>
          <a:xfrm>
            <a:off x="536937" y="5720417"/>
            <a:ext cx="2547101" cy="722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10" b="0" i="0">
                <a:solidFill>
                  <a:srgbClr val="001D3D"/>
                </a:solidFill>
                <a:latin typeface="Aptos"/>
                <a:ea typeface="Aptos"/>
                <a:cs typeface="Aptos"/>
              </a:defRPr>
            </a:pPr>
            <a:r>
              <a:rPr lang="en-IN" sz="800" b="0" i="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createConsentState</a:t>
            </a:r>
            <a:r>
              <a:rPr lang="en-IN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() → </a:t>
            </a:r>
            <a:r>
              <a:rPr lang="en-IN" sz="800" b="0" i="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addGDPRConsentState</a:t>
            </a:r>
            <a:r>
              <a:rPr lang="en-IN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(purpose, </a:t>
            </a:r>
            <a:r>
              <a:rPr lang="en-IN" sz="800" b="0" i="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gdprConsent</a:t>
            </a:r>
            <a:r>
              <a:rPr lang="en-IN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) → </a:t>
            </a:r>
            <a:r>
              <a:rPr lang="en-IN" sz="800" b="0" i="0" dirty="0" err="1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setConsentState</a:t>
            </a:r>
            <a:r>
              <a:rPr lang="en-IN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(). Purposes defined per workspace in mParticle settings.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A54F982C-B632-D176-094B-29C4DB3714CE}"/>
              </a:ext>
            </a:extLst>
          </p:cNvPr>
          <p:cNvSpPr>
            <a:spLocks noGrp="1"/>
          </p:cNvSpPr>
          <p:nvPr/>
        </p:nvSpPr>
        <p:spPr>
          <a:xfrm>
            <a:off x="3311154" y="5450647"/>
            <a:ext cx="2787609" cy="988451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5714133-90A9-A4A2-CCD0-7DBEFAD81E99}"/>
              </a:ext>
            </a:extLst>
          </p:cNvPr>
          <p:cNvSpPr>
            <a:spLocks noGrp="1"/>
          </p:cNvSpPr>
          <p:nvPr/>
        </p:nvSpPr>
        <p:spPr>
          <a:xfrm>
            <a:off x="4052610" y="5481702"/>
            <a:ext cx="1304696" cy="234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861"/>
          </a:bodyPr>
          <a:lstStyle/>
          <a:p>
            <a:pPr algn="ctr">
              <a:defRPr sz="1028" b="1" i="0">
                <a:solidFill>
                  <a:srgbClr val="072A4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028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IDSync</a:t>
            </a:r>
            <a:r>
              <a:rPr lang="en-IN" sz="1028" i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 &amp; Identity</a:t>
            </a:r>
            <a:endParaRPr sz="1028" i="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Aptos Display"/>
              <a:cs typeface="Arial" panose="020B0604020202020204" pitchFamily="34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B2A97EE-7188-986B-183F-0179B7F32D6F}"/>
              </a:ext>
            </a:extLst>
          </p:cNvPr>
          <p:cNvSpPr>
            <a:spLocks noGrp="1"/>
          </p:cNvSpPr>
          <p:nvPr/>
        </p:nvSpPr>
        <p:spPr>
          <a:xfrm>
            <a:off x="3478257" y="5726513"/>
            <a:ext cx="2547101" cy="722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10" b="0" i="0">
                <a:solidFill>
                  <a:srgbClr val="001D3D"/>
                </a:solidFill>
                <a:latin typeface="Aptos"/>
                <a:ea typeface="Aptos"/>
                <a:cs typeface="Aptos"/>
              </a:defRPr>
            </a:pPr>
            <a:r>
              <a:rPr lang="en-US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Unified identity graph ensures consent state follows user across web, mobile &amp; server — no consent gaps on device switch via MPID.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70184046-5ECD-26AA-93BF-A36D9111A45B}"/>
              </a:ext>
            </a:extLst>
          </p:cNvPr>
          <p:cNvSpPr>
            <a:spLocks noGrp="1"/>
          </p:cNvSpPr>
          <p:nvPr/>
        </p:nvSpPr>
        <p:spPr>
          <a:xfrm>
            <a:off x="6252474" y="5456743"/>
            <a:ext cx="2787609" cy="988451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0DDB32AD-55A6-07B9-1A1D-973ED1ADACEB}"/>
              </a:ext>
            </a:extLst>
          </p:cNvPr>
          <p:cNvSpPr>
            <a:spLocks noGrp="1"/>
          </p:cNvSpPr>
          <p:nvPr/>
        </p:nvSpPr>
        <p:spPr>
          <a:xfrm>
            <a:off x="6993929" y="5487798"/>
            <a:ext cx="1515445" cy="234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361"/>
          </a:bodyPr>
          <a:lstStyle/>
          <a:p>
            <a:pPr algn="ctr">
              <a:defRPr sz="1028" b="1" i="0">
                <a:solidFill>
                  <a:srgbClr val="072A4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028" i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Consent Forwarding Rules</a:t>
            </a:r>
            <a:endParaRPr sz="1028" i="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Aptos Display"/>
              <a:cs typeface="Arial" panose="020B0604020202020204" pitchFamily="34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26BC5EBA-27DA-0064-DAEB-68E869F11644}"/>
              </a:ext>
            </a:extLst>
          </p:cNvPr>
          <p:cNvSpPr>
            <a:spLocks noGrp="1"/>
          </p:cNvSpPr>
          <p:nvPr/>
        </p:nvSpPr>
        <p:spPr>
          <a:xfrm>
            <a:off x="6419577" y="5732609"/>
            <a:ext cx="2547101" cy="722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10" b="0" i="0">
                <a:solidFill>
                  <a:srgbClr val="001D3D"/>
                </a:solidFill>
                <a:latin typeface="Aptos"/>
                <a:ea typeface="Aptos"/>
                <a:cs typeface="Aptos"/>
              </a:defRPr>
            </a:pPr>
            <a:r>
              <a:rPr lang="en-US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Per-output rules in mParticle dashboard: block/allow/suppress attributes based on consent purpose. Must be set for EVERY output.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CFFAF487-16E3-3E29-581A-34946B22D7D0}"/>
              </a:ext>
            </a:extLst>
          </p:cNvPr>
          <p:cNvSpPr>
            <a:spLocks noGrp="1"/>
          </p:cNvSpPr>
          <p:nvPr/>
        </p:nvSpPr>
        <p:spPr>
          <a:xfrm>
            <a:off x="9193794" y="5462839"/>
            <a:ext cx="2787609" cy="988451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BF093F0-A84D-8137-CE21-AC0DD00F7BE2}"/>
              </a:ext>
            </a:extLst>
          </p:cNvPr>
          <p:cNvSpPr>
            <a:spLocks noGrp="1"/>
          </p:cNvSpPr>
          <p:nvPr/>
        </p:nvSpPr>
        <p:spPr>
          <a:xfrm>
            <a:off x="9935250" y="5493894"/>
            <a:ext cx="1304696" cy="23474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861"/>
          </a:bodyPr>
          <a:lstStyle/>
          <a:p>
            <a:pPr algn="ctr">
              <a:defRPr sz="1028" b="1" i="0">
                <a:solidFill>
                  <a:srgbClr val="072A4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028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OpenDSR</a:t>
            </a:r>
            <a:r>
              <a:rPr lang="en-IN" sz="1028" i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 Delete API</a:t>
            </a:r>
            <a:endParaRPr sz="1028" i="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ea typeface="Aptos Display"/>
              <a:cs typeface="Arial" panose="020B0604020202020204" pitchFamily="34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43E83A7-B0B1-7903-4900-504FB6902C23}"/>
              </a:ext>
            </a:extLst>
          </p:cNvPr>
          <p:cNvSpPr>
            <a:spLocks noGrp="1"/>
          </p:cNvSpPr>
          <p:nvPr/>
        </p:nvSpPr>
        <p:spPr>
          <a:xfrm>
            <a:off x="9360897" y="5738705"/>
            <a:ext cx="2547101" cy="722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10" b="0" i="0">
                <a:solidFill>
                  <a:srgbClr val="001D3D"/>
                </a:solidFill>
                <a:latin typeface="Aptos"/>
                <a:ea typeface="Aptos"/>
                <a:cs typeface="Aptos"/>
              </a:defRPr>
            </a:pPr>
            <a:r>
              <a:rPr lang="en-US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Use OpenDSR API (opendsr.mparticle.com/v3/requests/) for GDPR-compliant erasure — NOT the Bulk Profile Deletion API which is non-compliant.</a:t>
            </a:r>
          </a:p>
        </p:txBody>
      </p:sp>
    </p:spTree>
    <p:extLst>
      <p:ext uri="{BB962C8B-B14F-4D97-AF65-F5344CB8AC3E}">
        <p14:creationId xmlns:p14="http://schemas.microsoft.com/office/powerpoint/2010/main" val="246147146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7F7F4-BA27-4C75-8894-85EB4FBA4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335751-10E5-F736-D9A6-2932B11F1DC2}"/>
              </a:ext>
            </a:extLst>
          </p:cNvPr>
          <p:cNvSpPr/>
          <p:nvPr/>
        </p:nvSpPr>
        <p:spPr>
          <a:xfrm>
            <a:off x="134376" y="1241499"/>
            <a:ext cx="11991250" cy="1745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3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7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Title 6">
            <a:extLst>
              <a:ext uri="{FF2B5EF4-FFF2-40B4-BE49-F238E27FC236}">
                <a16:creationId xmlns:a16="http://schemas.microsoft.com/office/drawing/2014/main" id="{11FD5257-3E7D-7749-703E-872AA1ED6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431" y="219472"/>
            <a:ext cx="11873140" cy="468193"/>
          </a:xfrm>
        </p:spPr>
        <p:txBody>
          <a:bodyPr vert="horz"/>
          <a:lstStyle/>
          <a:p>
            <a:r>
              <a:rPr lang="fr-FR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 Subject Request (DSR) Handling - AEP/RTCDP vs mParticle</a:t>
            </a:r>
          </a:p>
        </p:txBody>
      </p:sp>
      <p:sp>
        <p:nvSpPr>
          <p:cNvPr id="85" name="Shape 2">
            <a:extLst>
              <a:ext uri="{FF2B5EF4-FFF2-40B4-BE49-F238E27FC236}">
                <a16:creationId xmlns:a16="http://schemas.microsoft.com/office/drawing/2014/main" id="{2785FC82-8100-E75E-7F81-2209CDAF8CF2}"/>
              </a:ext>
            </a:extLst>
          </p:cNvPr>
          <p:cNvSpPr/>
          <p:nvPr/>
        </p:nvSpPr>
        <p:spPr>
          <a:xfrm>
            <a:off x="10571146" y="84295"/>
            <a:ext cx="1554480" cy="512064"/>
          </a:xfrm>
          <a:prstGeom prst="roundRect">
            <a:avLst>
              <a:gd name="adj" fmla="val 8929"/>
            </a:avLst>
          </a:prstGeom>
          <a:solidFill>
            <a:schemeClr val="tx2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D661E3-2A48-8FC5-147C-C4B2B0EDE068}"/>
              </a:ext>
            </a:extLst>
          </p:cNvPr>
          <p:cNvSpPr txBox="1"/>
          <p:nvPr/>
        </p:nvSpPr>
        <p:spPr>
          <a:xfrm>
            <a:off x="10828097" y="213184"/>
            <a:ext cx="14176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ICO Compliant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6F583C2-BA6A-EDCB-8508-5A8B30266A16}"/>
              </a:ext>
            </a:extLst>
          </p:cNvPr>
          <p:cNvSpPr/>
          <p:nvPr/>
        </p:nvSpPr>
        <p:spPr>
          <a:xfrm>
            <a:off x="193431" y="1280119"/>
            <a:ext cx="8814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3880">
              <a:defRPr/>
            </a:pPr>
            <a:r>
              <a:rPr lang="en-US" sz="1200" b="1" dirty="0">
                <a:solidFill>
                  <a:srgbClr val="2C35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DSR LIFECYCLE - HOW A DELETION REQUEST IS PROCESSED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DD1928-2896-FA39-6128-3EB52FC20E79}"/>
              </a:ext>
            </a:extLst>
          </p:cNvPr>
          <p:cNvGrpSpPr/>
          <p:nvPr/>
        </p:nvGrpSpPr>
        <p:grpSpPr>
          <a:xfrm>
            <a:off x="1797800" y="1570700"/>
            <a:ext cx="8814815" cy="1275440"/>
            <a:chOff x="4851400" y="1739900"/>
            <a:chExt cx="8813800" cy="2049342"/>
          </a:xfrm>
        </p:grpSpPr>
        <p:sp>
          <p:nvSpPr>
            <p:cNvPr id="20" name="Flow Card 1">
              <a:extLst>
                <a:ext uri="{FF2B5EF4-FFF2-40B4-BE49-F238E27FC236}">
                  <a16:creationId xmlns:a16="http://schemas.microsoft.com/office/drawing/2014/main" id="{F82516E7-E34E-B752-1FEC-98F589EDFE25}"/>
                </a:ext>
              </a:extLst>
            </p:cNvPr>
            <p:cNvSpPr/>
            <p:nvPr/>
          </p:nvSpPr>
          <p:spPr>
            <a:xfrm>
              <a:off x="4851400" y="1739900"/>
              <a:ext cx="1600200" cy="204934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7" name="Flow Title 1">
              <a:extLst>
                <a:ext uri="{FF2B5EF4-FFF2-40B4-BE49-F238E27FC236}">
                  <a16:creationId xmlns:a16="http://schemas.microsoft.com/office/drawing/2014/main" id="{1FBA85B1-7CF5-BD3A-28E5-1A5C01978D99}"/>
                </a:ext>
              </a:extLst>
            </p:cNvPr>
            <p:cNvSpPr txBox="1"/>
            <p:nvPr/>
          </p:nvSpPr>
          <p:spPr>
            <a:xfrm>
              <a:off x="4937491" y="2412412"/>
              <a:ext cx="1397000" cy="339684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DSR Received</a:t>
              </a:r>
            </a:p>
          </p:txBody>
        </p:sp>
        <p:sp>
          <p:nvSpPr>
            <p:cNvPr id="29" name="Flow Body 1">
              <a:extLst>
                <a:ext uri="{FF2B5EF4-FFF2-40B4-BE49-F238E27FC236}">
                  <a16:creationId xmlns:a16="http://schemas.microsoft.com/office/drawing/2014/main" id="{EF1659B2-DB41-51BD-1349-CF4182FD8926}"/>
                </a:ext>
              </a:extLst>
            </p:cNvPr>
            <p:cNvSpPr txBox="1"/>
            <p:nvPr/>
          </p:nvSpPr>
          <p:spPr>
            <a:xfrm>
              <a:off x="4937491" y="3016489"/>
              <a:ext cx="1371600" cy="471784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Via Privacy portal,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email or in-app</a:t>
              </a:r>
            </a:p>
          </p:txBody>
        </p:sp>
        <p:cxnSp>
          <p:nvCxnSpPr>
            <p:cNvPr id="30" name="Flow Arrow 1">
              <a:extLst>
                <a:ext uri="{FF2B5EF4-FFF2-40B4-BE49-F238E27FC236}">
                  <a16:creationId xmlns:a16="http://schemas.microsoft.com/office/drawing/2014/main" id="{2A11DFD3-133B-155E-0F81-0DCEDB2762C7}"/>
                </a:ext>
              </a:extLst>
            </p:cNvPr>
            <p:cNvCxnSpPr/>
            <p:nvPr/>
          </p:nvCxnSpPr>
          <p:spPr>
            <a:xfrm>
              <a:off x="64770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Flow Card 2">
              <a:extLst>
                <a:ext uri="{FF2B5EF4-FFF2-40B4-BE49-F238E27FC236}">
                  <a16:creationId xmlns:a16="http://schemas.microsoft.com/office/drawing/2014/main" id="{1234BA14-8999-EA84-F7CE-9DCFA9BFDC9D}"/>
                </a:ext>
              </a:extLst>
            </p:cNvPr>
            <p:cNvSpPr/>
            <p:nvPr/>
          </p:nvSpPr>
          <p:spPr>
            <a:xfrm>
              <a:off x="6654801" y="1739901"/>
              <a:ext cx="1600200" cy="2049341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4" name="Flow Title 2">
              <a:extLst>
                <a:ext uri="{FF2B5EF4-FFF2-40B4-BE49-F238E27FC236}">
                  <a16:creationId xmlns:a16="http://schemas.microsoft.com/office/drawing/2014/main" id="{B17B9B04-BCA1-F2ED-5AF3-5DC5E4B859D8}"/>
                </a:ext>
              </a:extLst>
            </p:cNvPr>
            <p:cNvSpPr txBox="1"/>
            <p:nvPr/>
          </p:nvSpPr>
          <p:spPr>
            <a:xfrm>
              <a:off x="6743700" y="2450576"/>
              <a:ext cx="1397000" cy="339684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Identity Verified</a:t>
              </a:r>
            </a:p>
          </p:txBody>
        </p:sp>
        <p:sp>
          <p:nvSpPr>
            <p:cNvPr id="45" name="Flow Body 2">
              <a:extLst>
                <a:ext uri="{FF2B5EF4-FFF2-40B4-BE49-F238E27FC236}">
                  <a16:creationId xmlns:a16="http://schemas.microsoft.com/office/drawing/2014/main" id="{94507CF9-D2F2-29F6-06CF-0BA58E08E613}"/>
                </a:ext>
              </a:extLst>
            </p:cNvPr>
            <p:cNvSpPr txBox="1"/>
            <p:nvPr/>
          </p:nvSpPr>
          <p:spPr>
            <a:xfrm>
              <a:off x="6769100" y="3016489"/>
              <a:ext cx="1371600" cy="471784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Match ECID/email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to user profile</a:t>
              </a:r>
            </a:p>
          </p:txBody>
        </p:sp>
        <p:cxnSp>
          <p:nvCxnSpPr>
            <p:cNvPr id="46" name="Flow Arrow 2">
              <a:extLst>
                <a:ext uri="{FF2B5EF4-FFF2-40B4-BE49-F238E27FC236}">
                  <a16:creationId xmlns:a16="http://schemas.microsoft.com/office/drawing/2014/main" id="{58B847E7-EFAB-643F-BF38-8FF3583FA70A}"/>
                </a:ext>
              </a:extLst>
            </p:cNvPr>
            <p:cNvCxnSpPr/>
            <p:nvPr/>
          </p:nvCxnSpPr>
          <p:spPr>
            <a:xfrm>
              <a:off x="82804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Flow Card 3">
              <a:extLst>
                <a:ext uri="{FF2B5EF4-FFF2-40B4-BE49-F238E27FC236}">
                  <a16:creationId xmlns:a16="http://schemas.microsoft.com/office/drawing/2014/main" id="{C992AD2A-8BFB-0233-0BF1-2A8E66859CDD}"/>
                </a:ext>
              </a:extLst>
            </p:cNvPr>
            <p:cNvSpPr/>
            <p:nvPr/>
          </p:nvSpPr>
          <p:spPr>
            <a:xfrm>
              <a:off x="8458200" y="1739900"/>
              <a:ext cx="1600200" cy="2049342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54" name="Flow Arrow 3">
              <a:extLst>
                <a:ext uri="{FF2B5EF4-FFF2-40B4-BE49-F238E27FC236}">
                  <a16:creationId xmlns:a16="http://schemas.microsoft.com/office/drawing/2014/main" id="{CB7FFD5A-2257-42B2-4828-380914F50F41}"/>
                </a:ext>
              </a:extLst>
            </p:cNvPr>
            <p:cNvCxnSpPr/>
            <p:nvPr/>
          </p:nvCxnSpPr>
          <p:spPr>
            <a:xfrm>
              <a:off x="100838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low Card 4">
              <a:extLst>
                <a:ext uri="{FF2B5EF4-FFF2-40B4-BE49-F238E27FC236}">
                  <a16:creationId xmlns:a16="http://schemas.microsoft.com/office/drawing/2014/main" id="{49C19A5A-9797-A33F-358E-8B720EDB2D8B}"/>
                </a:ext>
              </a:extLst>
            </p:cNvPr>
            <p:cNvSpPr/>
            <p:nvPr/>
          </p:nvSpPr>
          <p:spPr>
            <a:xfrm>
              <a:off x="10261601" y="1739901"/>
              <a:ext cx="1600200" cy="2049341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62" name="Flow Arrow 4">
              <a:extLst>
                <a:ext uri="{FF2B5EF4-FFF2-40B4-BE49-F238E27FC236}">
                  <a16:creationId xmlns:a16="http://schemas.microsoft.com/office/drawing/2014/main" id="{9F6DBFC9-2DE1-95E4-6ECF-2B40EABB37FA}"/>
                </a:ext>
              </a:extLst>
            </p:cNvPr>
            <p:cNvCxnSpPr/>
            <p:nvPr/>
          </p:nvCxnSpPr>
          <p:spPr>
            <a:xfrm>
              <a:off x="11887200" y="2806700"/>
              <a:ext cx="139700" cy="0"/>
            </a:xfrm>
            <a:prstGeom prst="line">
              <a:avLst/>
            </a:prstGeom>
            <a:ln w="22860">
              <a:solidFill>
                <a:srgbClr val="06264A"/>
              </a:solidFill>
              <a:prstDash val="solid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Flow Card 5">
              <a:extLst>
                <a:ext uri="{FF2B5EF4-FFF2-40B4-BE49-F238E27FC236}">
                  <a16:creationId xmlns:a16="http://schemas.microsoft.com/office/drawing/2014/main" id="{04E99129-F7A7-9B7E-4C7E-ECFE730C3B48}"/>
                </a:ext>
              </a:extLst>
            </p:cNvPr>
            <p:cNvSpPr/>
            <p:nvPr/>
          </p:nvSpPr>
          <p:spPr>
            <a:xfrm>
              <a:off x="12065000" y="1739901"/>
              <a:ext cx="1600200" cy="2024019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0160">
              <a:solidFill>
                <a:srgbClr val="BFD4E6"/>
              </a:solidFill>
              <a:prstDash val="solid"/>
            </a:ln>
            <a:effectLst>
              <a:outerShdw blurRad="63500" dist="29621" dir="3542194" rotWithShape="0">
                <a:srgbClr val="9FAFC0">
                  <a:alpha val="16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88" name="Flow Title 2">
              <a:extLst>
                <a:ext uri="{FF2B5EF4-FFF2-40B4-BE49-F238E27FC236}">
                  <a16:creationId xmlns:a16="http://schemas.microsoft.com/office/drawing/2014/main" id="{C3C685C9-2EC8-E692-061F-53AAA87DAF11}"/>
                </a:ext>
              </a:extLst>
            </p:cNvPr>
            <p:cNvSpPr txBox="1"/>
            <p:nvPr/>
          </p:nvSpPr>
          <p:spPr>
            <a:xfrm>
              <a:off x="8559801" y="2450575"/>
              <a:ext cx="1397000" cy="339684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Job Submitted</a:t>
              </a:r>
            </a:p>
          </p:txBody>
        </p:sp>
        <p:sp>
          <p:nvSpPr>
            <p:cNvPr id="89" name="Flow Body 2">
              <a:extLst>
                <a:ext uri="{FF2B5EF4-FFF2-40B4-BE49-F238E27FC236}">
                  <a16:creationId xmlns:a16="http://schemas.microsoft.com/office/drawing/2014/main" id="{D6AF2B25-3BCB-D867-9BEA-97554AD94C73}"/>
                </a:ext>
              </a:extLst>
            </p:cNvPr>
            <p:cNvSpPr txBox="1"/>
            <p:nvPr/>
          </p:nvSpPr>
          <p:spPr>
            <a:xfrm>
              <a:off x="8509002" y="2996695"/>
              <a:ext cx="1498599" cy="471784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API call to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Privacy Service</a:t>
              </a:r>
            </a:p>
          </p:txBody>
        </p:sp>
        <p:sp>
          <p:nvSpPr>
            <p:cNvPr id="90" name="Flow Title 2">
              <a:extLst>
                <a:ext uri="{FF2B5EF4-FFF2-40B4-BE49-F238E27FC236}">
                  <a16:creationId xmlns:a16="http://schemas.microsoft.com/office/drawing/2014/main" id="{E01A6FC5-011E-A977-1676-5ACA7EABB620}"/>
                </a:ext>
              </a:extLst>
            </p:cNvPr>
            <p:cNvSpPr txBox="1"/>
            <p:nvPr/>
          </p:nvSpPr>
          <p:spPr>
            <a:xfrm>
              <a:off x="10363199" y="2464117"/>
              <a:ext cx="1397000" cy="339684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Data Deleted</a:t>
              </a:r>
            </a:p>
          </p:txBody>
        </p:sp>
        <p:sp>
          <p:nvSpPr>
            <p:cNvPr id="91" name="Flow Body 2">
              <a:extLst>
                <a:ext uri="{FF2B5EF4-FFF2-40B4-BE49-F238E27FC236}">
                  <a16:creationId xmlns:a16="http://schemas.microsoft.com/office/drawing/2014/main" id="{8BD932C0-E6BB-4EA9-59E2-4EB78828485B}"/>
                </a:ext>
              </a:extLst>
            </p:cNvPr>
            <p:cNvSpPr txBox="1"/>
            <p:nvPr/>
          </p:nvSpPr>
          <p:spPr>
            <a:xfrm>
              <a:off x="10363201" y="2996994"/>
              <a:ext cx="1371600" cy="531595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Server-side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or Web SDK</a:t>
              </a:r>
            </a:p>
          </p:txBody>
        </p:sp>
        <p:sp>
          <p:nvSpPr>
            <p:cNvPr id="92" name="Flow Title 2">
              <a:extLst>
                <a:ext uri="{FF2B5EF4-FFF2-40B4-BE49-F238E27FC236}">
                  <a16:creationId xmlns:a16="http://schemas.microsoft.com/office/drawing/2014/main" id="{2FE6682D-5F86-EA99-E49E-F36CC6FC626B}"/>
                </a:ext>
              </a:extLst>
            </p:cNvPr>
            <p:cNvSpPr txBox="1"/>
            <p:nvPr/>
          </p:nvSpPr>
          <p:spPr>
            <a:xfrm>
              <a:off x="12166598" y="2464117"/>
              <a:ext cx="1397000" cy="339684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Confirmed</a:t>
              </a:r>
            </a:p>
          </p:txBody>
        </p:sp>
        <p:sp>
          <p:nvSpPr>
            <p:cNvPr id="93" name="Flow Body 2">
              <a:extLst>
                <a:ext uri="{FF2B5EF4-FFF2-40B4-BE49-F238E27FC236}">
                  <a16:creationId xmlns:a16="http://schemas.microsoft.com/office/drawing/2014/main" id="{62D6F1B2-0797-C4E9-7066-F86EE00FE433}"/>
                </a:ext>
              </a:extLst>
            </p:cNvPr>
            <p:cNvSpPr txBox="1"/>
            <p:nvPr/>
          </p:nvSpPr>
          <p:spPr>
            <a:xfrm>
              <a:off x="12209342" y="3011529"/>
              <a:ext cx="1371600" cy="471784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Receipt stored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E1259">
                      <a:lumMod val="7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for ICO evidence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4EF58A-CE8A-AE1D-690C-08FAC217AA29}"/>
              </a:ext>
            </a:extLst>
          </p:cNvPr>
          <p:cNvGrpSpPr/>
          <p:nvPr/>
        </p:nvGrpSpPr>
        <p:grpSpPr>
          <a:xfrm>
            <a:off x="2454985" y="1602686"/>
            <a:ext cx="280363" cy="257351"/>
            <a:chOff x="3893296" y="1442464"/>
            <a:chExt cx="280363" cy="257351"/>
          </a:xfrm>
        </p:grpSpPr>
        <p:sp>
          <p:nvSpPr>
            <p:cNvPr id="11" name="Flow Badge 1">
              <a:extLst>
                <a:ext uri="{FF2B5EF4-FFF2-40B4-BE49-F238E27FC236}">
                  <a16:creationId xmlns:a16="http://schemas.microsoft.com/office/drawing/2014/main" id="{267762F0-76DE-AF67-0704-A0FBB998D390}"/>
                </a:ext>
              </a:extLst>
            </p:cNvPr>
            <p:cNvSpPr/>
            <p:nvPr/>
          </p:nvSpPr>
          <p:spPr>
            <a:xfrm>
              <a:off x="3893296" y="1442464"/>
              <a:ext cx="280363" cy="257351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2" name="Flow Badge Text 1">
              <a:extLst>
                <a:ext uri="{FF2B5EF4-FFF2-40B4-BE49-F238E27FC236}">
                  <a16:creationId xmlns:a16="http://schemas.microsoft.com/office/drawing/2014/main" id="{E6ADB726-F49F-451F-829A-C1C8A8A26149}"/>
                </a:ext>
              </a:extLst>
            </p:cNvPr>
            <p:cNvSpPr txBox="1"/>
            <p:nvPr/>
          </p:nvSpPr>
          <p:spPr>
            <a:xfrm>
              <a:off x="3893296" y="1470037"/>
              <a:ext cx="280363" cy="18933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DDAA76-621C-796E-98F9-2698A234BA1D}"/>
              </a:ext>
            </a:extLst>
          </p:cNvPr>
          <p:cNvGrpSpPr/>
          <p:nvPr/>
        </p:nvGrpSpPr>
        <p:grpSpPr>
          <a:xfrm>
            <a:off x="4274104" y="1616940"/>
            <a:ext cx="280363" cy="265918"/>
            <a:chOff x="3893296" y="1433897"/>
            <a:chExt cx="280363" cy="265918"/>
          </a:xfrm>
        </p:grpSpPr>
        <p:sp>
          <p:nvSpPr>
            <p:cNvPr id="15" name="Flow Badge 1">
              <a:extLst>
                <a:ext uri="{FF2B5EF4-FFF2-40B4-BE49-F238E27FC236}">
                  <a16:creationId xmlns:a16="http://schemas.microsoft.com/office/drawing/2014/main" id="{D08A7CF0-8CC5-2275-2E94-5D62F77BD5BB}"/>
                </a:ext>
              </a:extLst>
            </p:cNvPr>
            <p:cNvSpPr/>
            <p:nvPr/>
          </p:nvSpPr>
          <p:spPr>
            <a:xfrm>
              <a:off x="3893296" y="1442464"/>
              <a:ext cx="280363" cy="257351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1" name="Flow Badge Text 1">
              <a:extLst>
                <a:ext uri="{FF2B5EF4-FFF2-40B4-BE49-F238E27FC236}">
                  <a16:creationId xmlns:a16="http://schemas.microsoft.com/office/drawing/2014/main" id="{3B9709CA-7AB6-E116-61D6-9A47927CF0A4}"/>
                </a:ext>
              </a:extLst>
            </p:cNvPr>
            <p:cNvSpPr txBox="1"/>
            <p:nvPr/>
          </p:nvSpPr>
          <p:spPr>
            <a:xfrm>
              <a:off x="3893296" y="1433897"/>
              <a:ext cx="280363" cy="2616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1200" b="1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953A09-0575-2C7A-AF2D-8EB9506E8BFA}"/>
              </a:ext>
            </a:extLst>
          </p:cNvPr>
          <p:cNvGrpSpPr/>
          <p:nvPr/>
        </p:nvGrpSpPr>
        <p:grpSpPr>
          <a:xfrm>
            <a:off x="6065027" y="1614761"/>
            <a:ext cx="280363" cy="265918"/>
            <a:chOff x="3893296" y="1433897"/>
            <a:chExt cx="280363" cy="265918"/>
          </a:xfrm>
        </p:grpSpPr>
        <p:sp>
          <p:nvSpPr>
            <p:cNvPr id="23" name="Flow Badge 1">
              <a:extLst>
                <a:ext uri="{FF2B5EF4-FFF2-40B4-BE49-F238E27FC236}">
                  <a16:creationId xmlns:a16="http://schemas.microsoft.com/office/drawing/2014/main" id="{079C8F37-C43F-4058-B6BF-BA9A42EC6F84}"/>
                </a:ext>
              </a:extLst>
            </p:cNvPr>
            <p:cNvSpPr/>
            <p:nvPr/>
          </p:nvSpPr>
          <p:spPr>
            <a:xfrm>
              <a:off x="3893296" y="1442464"/>
              <a:ext cx="280363" cy="257351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Flow Badge Text 1">
              <a:extLst>
                <a:ext uri="{FF2B5EF4-FFF2-40B4-BE49-F238E27FC236}">
                  <a16:creationId xmlns:a16="http://schemas.microsoft.com/office/drawing/2014/main" id="{8810AEC4-66E0-4F23-8AD3-DAE5BAD0CB44}"/>
                </a:ext>
              </a:extLst>
            </p:cNvPr>
            <p:cNvSpPr txBox="1"/>
            <p:nvPr/>
          </p:nvSpPr>
          <p:spPr>
            <a:xfrm>
              <a:off x="3893296" y="1433897"/>
              <a:ext cx="280363" cy="2616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D6162F3-0E7E-54B9-803C-E189F5D07095}"/>
              </a:ext>
            </a:extLst>
          </p:cNvPr>
          <p:cNvGrpSpPr/>
          <p:nvPr/>
        </p:nvGrpSpPr>
        <p:grpSpPr>
          <a:xfrm>
            <a:off x="7881319" y="1612632"/>
            <a:ext cx="280363" cy="265918"/>
            <a:chOff x="3893296" y="1433897"/>
            <a:chExt cx="280363" cy="265918"/>
          </a:xfrm>
        </p:grpSpPr>
        <p:sp>
          <p:nvSpPr>
            <p:cNvPr id="26" name="Flow Badge 1">
              <a:extLst>
                <a:ext uri="{FF2B5EF4-FFF2-40B4-BE49-F238E27FC236}">
                  <a16:creationId xmlns:a16="http://schemas.microsoft.com/office/drawing/2014/main" id="{503FC99D-6399-EC19-198F-A9E5AEABDF95}"/>
                </a:ext>
              </a:extLst>
            </p:cNvPr>
            <p:cNvSpPr/>
            <p:nvPr/>
          </p:nvSpPr>
          <p:spPr>
            <a:xfrm>
              <a:off x="3893296" y="1442464"/>
              <a:ext cx="280363" cy="257351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8" name="Flow Badge Text 1">
              <a:extLst>
                <a:ext uri="{FF2B5EF4-FFF2-40B4-BE49-F238E27FC236}">
                  <a16:creationId xmlns:a16="http://schemas.microsoft.com/office/drawing/2014/main" id="{43782B62-1C37-BFEC-1984-C730D157EA04}"/>
                </a:ext>
              </a:extLst>
            </p:cNvPr>
            <p:cNvSpPr txBox="1"/>
            <p:nvPr/>
          </p:nvSpPr>
          <p:spPr>
            <a:xfrm>
              <a:off x="3893296" y="1433897"/>
              <a:ext cx="280363" cy="2616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AC5D757-5742-05DE-C18D-154DEE0034E2}"/>
              </a:ext>
            </a:extLst>
          </p:cNvPr>
          <p:cNvGrpSpPr/>
          <p:nvPr/>
        </p:nvGrpSpPr>
        <p:grpSpPr>
          <a:xfrm>
            <a:off x="9684926" y="1610478"/>
            <a:ext cx="280363" cy="265918"/>
            <a:chOff x="3893296" y="1433897"/>
            <a:chExt cx="280363" cy="265918"/>
          </a:xfrm>
        </p:grpSpPr>
        <p:sp>
          <p:nvSpPr>
            <p:cNvPr id="33" name="Flow Badge 1">
              <a:extLst>
                <a:ext uri="{FF2B5EF4-FFF2-40B4-BE49-F238E27FC236}">
                  <a16:creationId xmlns:a16="http://schemas.microsoft.com/office/drawing/2014/main" id="{4551398D-5F9A-E812-D987-3A136D272F3E}"/>
                </a:ext>
              </a:extLst>
            </p:cNvPr>
            <p:cNvSpPr/>
            <p:nvPr/>
          </p:nvSpPr>
          <p:spPr>
            <a:xfrm>
              <a:off x="3893296" y="1442464"/>
              <a:ext cx="280363" cy="257351"/>
            </a:xfrm>
            <a:prstGeom prst="ellipse">
              <a:avLst/>
            </a:prstGeom>
            <a:solidFill>
              <a:srgbClr val="00206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4" name="Flow Badge Text 1">
              <a:extLst>
                <a:ext uri="{FF2B5EF4-FFF2-40B4-BE49-F238E27FC236}">
                  <a16:creationId xmlns:a16="http://schemas.microsoft.com/office/drawing/2014/main" id="{33EC02E0-1A40-FA27-C0E8-CB8D79D93000}"/>
                </a:ext>
              </a:extLst>
            </p:cNvPr>
            <p:cNvSpPr txBox="1"/>
            <p:nvPr/>
          </p:nvSpPr>
          <p:spPr>
            <a:xfrm>
              <a:off x="3893296" y="1433897"/>
              <a:ext cx="280363" cy="261610"/>
            </a:xfrm>
            <a:prstGeom prst="rect">
              <a:avLst/>
            </a:prstGeom>
            <a:noFill/>
          </p:spPr>
          <p:txBody>
            <a:bodyPr vert="horz" wrap="square" lIns="63500" tIns="38100" rIns="63500" bIns="3810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5B1BF97-2649-E6B5-1859-DC30C0DCB519}"/>
              </a:ext>
            </a:extLst>
          </p:cNvPr>
          <p:cNvGrpSpPr/>
          <p:nvPr/>
        </p:nvGrpSpPr>
        <p:grpSpPr>
          <a:xfrm>
            <a:off x="150407" y="737489"/>
            <a:ext cx="11991250" cy="536448"/>
            <a:chOff x="134376" y="5056630"/>
            <a:chExt cx="11991250" cy="536448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7824F2F-B966-F86D-4BC6-D41DD5B8C35D}"/>
                </a:ext>
              </a:extLst>
            </p:cNvPr>
            <p:cNvSpPr/>
            <p:nvPr/>
          </p:nvSpPr>
          <p:spPr>
            <a:xfrm>
              <a:off x="134376" y="5118494"/>
              <a:ext cx="11991250" cy="4014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6" name="Text 26">
              <a:extLst>
                <a:ext uri="{FF2B5EF4-FFF2-40B4-BE49-F238E27FC236}">
                  <a16:creationId xmlns:a16="http://schemas.microsoft.com/office/drawing/2014/main" id="{1F8550D0-5AB2-3E0F-93CC-F07F35C65111}"/>
                </a:ext>
              </a:extLst>
            </p:cNvPr>
            <p:cNvSpPr/>
            <p:nvPr/>
          </p:nvSpPr>
          <p:spPr>
            <a:xfrm>
              <a:off x="239646" y="5056630"/>
              <a:ext cx="115092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defRPr/>
              </a:pPr>
              <a:r>
                <a:rPr lang="en-US" sz="930" b="1" dirty="0">
                  <a:solidFill>
                    <a:srgbClr val="0E1259"/>
                  </a:solidFill>
                  <a:latin typeface="Arial" panose="020B0604020202020204"/>
                </a:rPr>
                <a:t>ICO Update: When consent is withdrawn, organizations must delete existing personal data collected under that consent. DSR (Right to Erasure) must be fulfilled within 30 days per UK GDPR Art. 17.</a:t>
              </a: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0F0F7A96-8075-0E0A-7DDD-182E1C428FE5}"/>
              </a:ext>
            </a:extLst>
          </p:cNvPr>
          <p:cNvSpPr/>
          <p:nvPr/>
        </p:nvSpPr>
        <p:spPr>
          <a:xfrm>
            <a:off x="134439" y="3027751"/>
            <a:ext cx="11991250" cy="27628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F0C2401B-D995-044B-DF3D-3426B26C4BBE}"/>
              </a:ext>
            </a:extLst>
          </p:cNvPr>
          <p:cNvSpPr/>
          <p:nvPr/>
        </p:nvSpPr>
        <p:spPr>
          <a:xfrm>
            <a:off x="1354116" y="3065619"/>
            <a:ext cx="4631118" cy="26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3880">
              <a:defRPr/>
            </a:pPr>
            <a:r>
              <a:rPr lang="en-US" sz="1200" b="1" dirty="0">
                <a:solidFill>
                  <a:srgbClr val="2C35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APPROACH - AEP / RTCDP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56DA5DA-9D88-5FBD-070D-D21D5255D685}"/>
              </a:ext>
            </a:extLst>
          </p:cNvPr>
          <p:cNvGrpSpPr/>
          <p:nvPr/>
        </p:nvGrpSpPr>
        <p:grpSpPr>
          <a:xfrm>
            <a:off x="193431" y="3349747"/>
            <a:ext cx="5809351" cy="2405872"/>
            <a:chOff x="219456" y="3291840"/>
            <a:chExt cx="5730240" cy="2405872"/>
          </a:xfrm>
        </p:grpSpPr>
        <p:sp>
          <p:nvSpPr>
            <p:cNvPr id="40" name="Shape 34">
              <a:extLst>
                <a:ext uri="{FF2B5EF4-FFF2-40B4-BE49-F238E27FC236}">
                  <a16:creationId xmlns:a16="http://schemas.microsoft.com/office/drawing/2014/main" id="{BD010C65-DC27-A908-A5C9-65E2C1E2D5CE}"/>
                </a:ext>
              </a:extLst>
            </p:cNvPr>
            <p:cNvSpPr/>
            <p:nvPr/>
          </p:nvSpPr>
          <p:spPr>
            <a:xfrm>
              <a:off x="219456" y="3291840"/>
              <a:ext cx="5730240" cy="536448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127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41" name="Text 35">
              <a:extLst>
                <a:ext uri="{FF2B5EF4-FFF2-40B4-BE49-F238E27FC236}">
                  <a16:creationId xmlns:a16="http://schemas.microsoft.com/office/drawing/2014/main" id="{FCE148D0-6F07-920A-4225-AE28712AE3CE}"/>
                </a:ext>
              </a:extLst>
            </p:cNvPr>
            <p:cNvSpPr/>
            <p:nvPr/>
          </p:nvSpPr>
          <p:spPr>
            <a:xfrm>
              <a:off x="341376" y="3316224"/>
              <a:ext cx="158496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Privacy Service API</a:t>
              </a:r>
            </a:p>
          </p:txBody>
        </p:sp>
        <p:sp>
          <p:nvSpPr>
            <p:cNvPr id="42" name="Text 36">
              <a:extLst>
                <a:ext uri="{FF2B5EF4-FFF2-40B4-BE49-F238E27FC236}">
                  <a16:creationId xmlns:a16="http://schemas.microsoft.com/office/drawing/2014/main" id="{BE04A137-596F-2738-B868-63777B745E3D}"/>
                </a:ext>
              </a:extLst>
            </p:cNvPr>
            <p:cNvSpPr/>
            <p:nvPr/>
          </p:nvSpPr>
          <p:spPr>
            <a:xfrm>
              <a:off x="1975104" y="3316224"/>
              <a:ext cx="3877056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POST https://platform.adobe.io/data/core/privacy/jobs — payload includes regulation:'gdpr', action:['delete'], userIDs with namespace (email, ECID, CRM ID) and type ('standard'/'custom').</a:t>
              </a:r>
            </a:p>
          </p:txBody>
        </p:sp>
        <p:sp>
          <p:nvSpPr>
            <p:cNvPr id="43" name="Shape 37">
              <a:extLst>
                <a:ext uri="{FF2B5EF4-FFF2-40B4-BE49-F238E27FC236}">
                  <a16:creationId xmlns:a16="http://schemas.microsoft.com/office/drawing/2014/main" id="{45232902-1FF6-7D12-A197-6DABCF2FE5F0}"/>
                </a:ext>
              </a:extLst>
            </p:cNvPr>
            <p:cNvSpPr/>
            <p:nvPr/>
          </p:nvSpPr>
          <p:spPr>
            <a:xfrm>
              <a:off x="219456" y="3901440"/>
              <a:ext cx="5730240" cy="536448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127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48" name="Text 38">
              <a:extLst>
                <a:ext uri="{FF2B5EF4-FFF2-40B4-BE49-F238E27FC236}">
                  <a16:creationId xmlns:a16="http://schemas.microsoft.com/office/drawing/2014/main" id="{B05B05F9-1328-AAAE-6E04-26A93378C086}"/>
                </a:ext>
              </a:extLst>
            </p:cNvPr>
            <p:cNvSpPr/>
            <p:nvPr/>
          </p:nvSpPr>
          <p:spPr>
            <a:xfrm>
              <a:off x="341376" y="3925824"/>
              <a:ext cx="158496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Profile &amp; Data Lake</a:t>
              </a:r>
              <a:endParaRPr 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endParaRPr>
            </a:p>
          </p:txBody>
        </p:sp>
        <p:sp>
          <p:nvSpPr>
            <p:cNvPr id="49" name="Text 39">
              <a:extLst>
                <a:ext uri="{FF2B5EF4-FFF2-40B4-BE49-F238E27FC236}">
                  <a16:creationId xmlns:a16="http://schemas.microsoft.com/office/drawing/2014/main" id="{8F776EBE-7828-E3DB-6FBF-09B34DE4652C}"/>
                </a:ext>
              </a:extLst>
            </p:cNvPr>
            <p:cNvSpPr/>
            <p:nvPr/>
          </p:nvSpPr>
          <p:spPr>
            <a:xfrm>
              <a:off x="1975104" y="3925824"/>
              <a:ext cx="3877056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Deletion propagates to Real-Time Customer Profile store AND data lake separately — include both 'profileService' and 'AdobeCloudPlatform' in the 'include' array of the request.</a:t>
              </a:r>
            </a:p>
          </p:txBody>
        </p:sp>
        <p:sp>
          <p:nvSpPr>
            <p:cNvPr id="50" name="Shape 40">
              <a:extLst>
                <a:ext uri="{FF2B5EF4-FFF2-40B4-BE49-F238E27FC236}">
                  <a16:creationId xmlns:a16="http://schemas.microsoft.com/office/drawing/2014/main" id="{A9A89626-1A02-087C-73D2-C8EC729FC60F}"/>
                </a:ext>
              </a:extLst>
            </p:cNvPr>
            <p:cNvSpPr/>
            <p:nvPr/>
          </p:nvSpPr>
          <p:spPr>
            <a:xfrm>
              <a:off x="219456" y="4511040"/>
              <a:ext cx="5730240" cy="536448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127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51" name="Text 41">
              <a:extLst>
                <a:ext uri="{FF2B5EF4-FFF2-40B4-BE49-F238E27FC236}">
                  <a16:creationId xmlns:a16="http://schemas.microsoft.com/office/drawing/2014/main" id="{EE20E30C-AEFE-E92B-7D8B-2859A6706CF2}"/>
                </a:ext>
              </a:extLst>
            </p:cNvPr>
            <p:cNvSpPr/>
            <p:nvPr/>
          </p:nvSpPr>
          <p:spPr>
            <a:xfrm>
              <a:off x="341376" y="4535424"/>
              <a:ext cx="158496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Identity Graph</a:t>
              </a:r>
              <a:endParaRPr 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endParaRPr>
            </a:p>
          </p:txBody>
        </p:sp>
        <p:sp>
          <p:nvSpPr>
            <p:cNvPr id="52" name="Text 42">
              <a:extLst>
                <a:ext uri="{FF2B5EF4-FFF2-40B4-BE49-F238E27FC236}">
                  <a16:creationId xmlns:a16="http://schemas.microsoft.com/office/drawing/2014/main" id="{FD2F5AF9-833A-09A5-EDF7-68D72A09FA96}"/>
                </a:ext>
              </a:extLst>
            </p:cNvPr>
            <p:cNvSpPr/>
            <p:nvPr/>
          </p:nvSpPr>
          <p:spPr>
            <a:xfrm>
              <a:off x="1975104" y="4535424"/>
              <a:ext cx="3877056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Include 'identity' in the include array to remove all identity namespaces linked to the ECID/email — prevents re-association after deletion.</a:t>
              </a:r>
            </a:p>
          </p:txBody>
        </p:sp>
        <p:sp>
          <p:nvSpPr>
            <p:cNvPr id="53" name="Shape 43">
              <a:extLst>
                <a:ext uri="{FF2B5EF4-FFF2-40B4-BE49-F238E27FC236}">
                  <a16:creationId xmlns:a16="http://schemas.microsoft.com/office/drawing/2014/main" id="{67DB0A55-CE62-DD92-0DA2-9F1D7627F6C7}"/>
                </a:ext>
              </a:extLst>
            </p:cNvPr>
            <p:cNvSpPr/>
            <p:nvPr/>
          </p:nvSpPr>
          <p:spPr>
            <a:xfrm>
              <a:off x="219456" y="5161264"/>
              <a:ext cx="5730240" cy="536448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127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56" name="Text 44">
              <a:extLst>
                <a:ext uri="{FF2B5EF4-FFF2-40B4-BE49-F238E27FC236}">
                  <a16:creationId xmlns:a16="http://schemas.microsoft.com/office/drawing/2014/main" id="{222675AA-685A-82E2-F0AA-8AAE95491268}"/>
                </a:ext>
              </a:extLst>
            </p:cNvPr>
            <p:cNvSpPr/>
            <p:nvPr/>
          </p:nvSpPr>
          <p:spPr>
            <a:xfrm>
              <a:off x="341376" y="5145024"/>
              <a:ext cx="158496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Destination Suppression</a:t>
              </a:r>
              <a:endParaRPr lang="en-US" sz="900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</a:endParaRPr>
            </a:p>
          </p:txBody>
        </p:sp>
        <p:sp>
          <p:nvSpPr>
            <p:cNvPr id="57" name="Text 45">
              <a:extLst>
                <a:ext uri="{FF2B5EF4-FFF2-40B4-BE49-F238E27FC236}">
                  <a16:creationId xmlns:a16="http://schemas.microsoft.com/office/drawing/2014/main" id="{9D56E2FB-BB93-193A-F4D1-A67D0E880753}"/>
                </a:ext>
              </a:extLst>
            </p:cNvPr>
            <p:cNvSpPr/>
            <p:nvPr/>
          </p:nvSpPr>
          <p:spPr>
            <a:xfrm>
              <a:off x="1975104" y="5145024"/>
              <a:ext cx="3877056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Deleted</a:t>
              </a:r>
              <a:r>
                <a:rPr lang="en-US" sz="1000" dirty="0">
                  <a:solidFill>
                    <a:srgbClr val="1A2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profiles are removed from all active audience segments — destinations stop receiving them on next scheduled activation run.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993B7A6-BA56-82EE-13A2-CAD45BC965C1}"/>
              </a:ext>
            </a:extLst>
          </p:cNvPr>
          <p:cNvGrpSpPr/>
          <p:nvPr/>
        </p:nvGrpSpPr>
        <p:grpSpPr>
          <a:xfrm>
            <a:off x="6263008" y="3341038"/>
            <a:ext cx="5809351" cy="2405872"/>
            <a:chOff x="219456" y="3291840"/>
            <a:chExt cx="5730240" cy="2405872"/>
          </a:xfrm>
        </p:grpSpPr>
        <p:sp>
          <p:nvSpPr>
            <p:cNvPr id="75" name="Shape 34">
              <a:extLst>
                <a:ext uri="{FF2B5EF4-FFF2-40B4-BE49-F238E27FC236}">
                  <a16:creationId xmlns:a16="http://schemas.microsoft.com/office/drawing/2014/main" id="{76C21E2E-815D-8356-B45D-F9BD07D1A928}"/>
                </a:ext>
              </a:extLst>
            </p:cNvPr>
            <p:cNvSpPr/>
            <p:nvPr/>
          </p:nvSpPr>
          <p:spPr>
            <a:xfrm>
              <a:off x="219456" y="3291840"/>
              <a:ext cx="5730240" cy="536448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127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77" name="Text 35">
              <a:extLst>
                <a:ext uri="{FF2B5EF4-FFF2-40B4-BE49-F238E27FC236}">
                  <a16:creationId xmlns:a16="http://schemas.microsoft.com/office/drawing/2014/main" id="{4D225494-42B3-AD4C-CA39-6EE31320589A}"/>
                </a:ext>
              </a:extLst>
            </p:cNvPr>
            <p:cNvSpPr/>
            <p:nvPr/>
          </p:nvSpPr>
          <p:spPr>
            <a:xfrm>
              <a:off x="341376" y="3316224"/>
              <a:ext cx="158496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OpenDSR API</a:t>
              </a:r>
            </a:p>
          </p:txBody>
        </p:sp>
        <p:sp>
          <p:nvSpPr>
            <p:cNvPr id="79" name="Text 36">
              <a:extLst>
                <a:ext uri="{FF2B5EF4-FFF2-40B4-BE49-F238E27FC236}">
                  <a16:creationId xmlns:a16="http://schemas.microsoft.com/office/drawing/2014/main" id="{045E37E8-9A91-D4A5-ABB8-801C977BC829}"/>
                </a:ext>
              </a:extLst>
            </p:cNvPr>
            <p:cNvSpPr/>
            <p:nvPr/>
          </p:nvSpPr>
          <p:spPr>
            <a:xfrm>
              <a:off x="1975104" y="3316224"/>
              <a:ext cx="3877056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POST https://opendsr.mparticle.com/v3/requests/ with 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subject_request_type:'erasure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', </a:t>
              </a:r>
              <a:r>
                <a:rPr lang="en-US" sz="860" dirty="0" err="1">
                  <a:solidFill>
                    <a:srgbClr val="0E1259"/>
                  </a:solidFill>
                  <a:latin typeface="Arial" panose="020B0604020202020204"/>
                </a:rPr>
                <a:t>subject_identities</a:t>
              </a: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 (email or MPID). Use v3 to enable forwarding to outputs.</a:t>
              </a:r>
            </a:p>
          </p:txBody>
        </p:sp>
        <p:sp>
          <p:nvSpPr>
            <p:cNvPr id="80" name="Shape 37">
              <a:extLst>
                <a:ext uri="{FF2B5EF4-FFF2-40B4-BE49-F238E27FC236}">
                  <a16:creationId xmlns:a16="http://schemas.microsoft.com/office/drawing/2014/main" id="{51B83386-E820-EE65-E70F-0914629E7360}"/>
                </a:ext>
              </a:extLst>
            </p:cNvPr>
            <p:cNvSpPr/>
            <p:nvPr/>
          </p:nvSpPr>
          <p:spPr>
            <a:xfrm>
              <a:off x="219456" y="3901440"/>
              <a:ext cx="5730240" cy="536448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127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81" name="Text 38">
              <a:extLst>
                <a:ext uri="{FF2B5EF4-FFF2-40B4-BE49-F238E27FC236}">
                  <a16:creationId xmlns:a16="http://schemas.microsoft.com/office/drawing/2014/main" id="{8BC51F5E-FE7F-7355-EAF3-625983BA09B7}"/>
                </a:ext>
              </a:extLst>
            </p:cNvPr>
            <p:cNvSpPr/>
            <p:nvPr/>
          </p:nvSpPr>
          <p:spPr>
            <a:xfrm>
              <a:off x="341376" y="3925824"/>
              <a:ext cx="158496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Profile &amp; Events</a:t>
              </a:r>
            </a:p>
          </p:txBody>
        </p:sp>
        <p:sp>
          <p:nvSpPr>
            <p:cNvPr id="84" name="Text 39">
              <a:extLst>
                <a:ext uri="{FF2B5EF4-FFF2-40B4-BE49-F238E27FC236}">
                  <a16:creationId xmlns:a16="http://schemas.microsoft.com/office/drawing/2014/main" id="{BE0BD351-ADD6-C32A-35AB-7A934EF855EF}"/>
                </a:ext>
              </a:extLst>
            </p:cNvPr>
            <p:cNvSpPr/>
            <p:nvPr/>
          </p:nvSpPr>
          <p:spPr>
            <a:xfrm>
              <a:off x="1975104" y="3925824"/>
              <a:ext cx="3877056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User profile record and all associated event history queued for deletion from mParticle data store. Bulk Profile Deletion API must NOT be used — it is explicitly not GDPR/CCPA compliant.</a:t>
              </a:r>
            </a:p>
          </p:txBody>
        </p:sp>
        <p:sp>
          <p:nvSpPr>
            <p:cNvPr id="87" name="Shape 40">
              <a:extLst>
                <a:ext uri="{FF2B5EF4-FFF2-40B4-BE49-F238E27FC236}">
                  <a16:creationId xmlns:a16="http://schemas.microsoft.com/office/drawing/2014/main" id="{CA7E1BF7-3329-B83C-5A86-010AF796D9DA}"/>
                </a:ext>
              </a:extLst>
            </p:cNvPr>
            <p:cNvSpPr/>
            <p:nvPr/>
          </p:nvSpPr>
          <p:spPr>
            <a:xfrm>
              <a:off x="219456" y="4511040"/>
              <a:ext cx="5730240" cy="536448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127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94" name="Text 41">
              <a:extLst>
                <a:ext uri="{FF2B5EF4-FFF2-40B4-BE49-F238E27FC236}">
                  <a16:creationId xmlns:a16="http://schemas.microsoft.com/office/drawing/2014/main" id="{EF0BF92C-3DF2-6F26-E8FE-C509FBE2A66E}"/>
                </a:ext>
              </a:extLst>
            </p:cNvPr>
            <p:cNvSpPr/>
            <p:nvPr/>
          </p:nvSpPr>
          <p:spPr>
            <a:xfrm>
              <a:off x="341376" y="4535424"/>
              <a:ext cx="158496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Output Forwarding</a:t>
              </a:r>
            </a:p>
          </p:txBody>
        </p:sp>
        <p:sp>
          <p:nvSpPr>
            <p:cNvPr id="95" name="Text 42">
              <a:extLst>
                <a:ext uri="{FF2B5EF4-FFF2-40B4-BE49-F238E27FC236}">
                  <a16:creationId xmlns:a16="http://schemas.microsoft.com/office/drawing/2014/main" id="{DBDD7EED-60BE-A8D9-E56E-E6697FD8D8EF}"/>
                </a:ext>
              </a:extLst>
            </p:cNvPr>
            <p:cNvSpPr/>
            <p:nvPr/>
          </p:nvSpPr>
          <p:spPr>
            <a:xfrm>
              <a:off x="1975104" y="4535424"/>
              <a:ext cx="3877056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defRPr/>
              </a:pPr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mParticle forwards erasure requests to connected integrations (Adobe Analytics, Google Ads, Braze etc.) automatically via v3 OpenDSR API. DSR forwarding status tracked in dashboard.</a:t>
              </a:r>
            </a:p>
          </p:txBody>
        </p:sp>
        <p:sp>
          <p:nvSpPr>
            <p:cNvPr id="96" name="Shape 43">
              <a:extLst>
                <a:ext uri="{FF2B5EF4-FFF2-40B4-BE49-F238E27FC236}">
                  <a16:creationId xmlns:a16="http://schemas.microsoft.com/office/drawing/2014/main" id="{58079908-C655-49FA-0C90-32D80FF2D322}"/>
                </a:ext>
              </a:extLst>
            </p:cNvPr>
            <p:cNvSpPr/>
            <p:nvPr/>
          </p:nvSpPr>
          <p:spPr>
            <a:xfrm>
              <a:off x="219456" y="5161264"/>
              <a:ext cx="5730240" cy="536448"/>
            </a:xfrm>
            <a:prstGeom prst="roundRect">
              <a:avLst>
                <a:gd name="adj" fmla="val 11364"/>
              </a:avLst>
            </a:prstGeom>
            <a:solidFill>
              <a:srgbClr val="FFFFFF"/>
            </a:solidFill>
            <a:ln w="12700">
              <a:noFill/>
              <a:prstDash val="solid"/>
            </a:ln>
            <a:effectLst>
              <a:outerShdw blurRad="50800" dist="12700" dir="27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97" name="Text 44">
              <a:extLst>
                <a:ext uri="{FF2B5EF4-FFF2-40B4-BE49-F238E27FC236}">
                  <a16:creationId xmlns:a16="http://schemas.microsoft.com/office/drawing/2014/main" id="{F3B07611-AA70-00C2-8A22-3ED0E46AF548}"/>
                </a:ext>
              </a:extLst>
            </p:cNvPr>
            <p:cNvSpPr/>
            <p:nvPr/>
          </p:nvSpPr>
          <p:spPr>
            <a:xfrm>
              <a:off x="341376" y="5145024"/>
              <a:ext cx="1584960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00" b="1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Calibri" pitchFamily="34" charset="-122"/>
                  <a:cs typeface="Calibri" pitchFamily="34" charset="-120"/>
                </a:rPr>
                <a:t>Audience Removal</a:t>
              </a:r>
            </a:p>
          </p:txBody>
        </p:sp>
        <p:sp>
          <p:nvSpPr>
            <p:cNvPr id="98" name="Text 45">
              <a:extLst>
                <a:ext uri="{FF2B5EF4-FFF2-40B4-BE49-F238E27FC236}">
                  <a16:creationId xmlns:a16="http://schemas.microsoft.com/office/drawing/2014/main" id="{1D90CB0C-7A10-177B-D88F-1441EE4BEFBD}"/>
                </a:ext>
              </a:extLst>
            </p:cNvPr>
            <p:cNvSpPr/>
            <p:nvPr/>
          </p:nvSpPr>
          <p:spPr>
            <a:xfrm>
              <a:off x="1975104" y="5145024"/>
              <a:ext cx="3877056" cy="487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60" dirty="0">
                  <a:solidFill>
                    <a:srgbClr val="0E1259"/>
                  </a:solidFill>
                  <a:latin typeface="Arial" panose="020B0604020202020204"/>
                </a:rPr>
                <a:t>User removed from all mParticle Audiences — stops forwarding to audience-based downstream tools. Forwarding status: Pending → Sent/Failed per integration.</a:t>
              </a:r>
            </a:p>
          </p:txBody>
        </p:sp>
      </p:grpSp>
      <p:sp>
        <p:nvSpPr>
          <p:cNvPr id="99" name="Text 14">
            <a:extLst>
              <a:ext uri="{FF2B5EF4-FFF2-40B4-BE49-F238E27FC236}">
                <a16:creationId xmlns:a16="http://schemas.microsoft.com/office/drawing/2014/main" id="{2EC37576-1442-33F6-350E-32D668CB459D}"/>
              </a:ext>
            </a:extLst>
          </p:cNvPr>
          <p:cNvSpPr/>
          <p:nvPr/>
        </p:nvSpPr>
        <p:spPr>
          <a:xfrm>
            <a:off x="7305206" y="3073192"/>
            <a:ext cx="4631118" cy="26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3880">
              <a:defRPr/>
            </a:pPr>
            <a:r>
              <a:rPr lang="en-US" sz="1200" b="1" dirty="0">
                <a:solidFill>
                  <a:srgbClr val="2C35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IMPLEMENTATION APPROACH - mPARTICLE</a:t>
            </a:r>
          </a:p>
        </p:txBody>
      </p:sp>
      <p:sp>
        <p:nvSpPr>
          <p:cNvPr id="100" name="Shape 58">
            <a:extLst>
              <a:ext uri="{FF2B5EF4-FFF2-40B4-BE49-F238E27FC236}">
                <a16:creationId xmlns:a16="http://schemas.microsoft.com/office/drawing/2014/main" id="{EB7A19AF-9C27-62C6-A896-8AC00115778E}"/>
              </a:ext>
            </a:extLst>
          </p:cNvPr>
          <p:cNvSpPr/>
          <p:nvPr/>
        </p:nvSpPr>
        <p:spPr>
          <a:xfrm>
            <a:off x="6113417" y="3064483"/>
            <a:ext cx="0" cy="268242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604C4D46-002E-76A9-9868-EF978BB1A279}"/>
              </a:ext>
            </a:extLst>
          </p:cNvPr>
          <p:cNvSpPr/>
          <p:nvPr/>
        </p:nvSpPr>
        <p:spPr>
          <a:xfrm>
            <a:off x="134376" y="5820063"/>
            <a:ext cx="11982527" cy="8667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0254BCC6-B18F-8579-44BB-BA5EF5EBEC53}"/>
              </a:ext>
            </a:extLst>
          </p:cNvPr>
          <p:cNvSpPr>
            <a:spLocks noGrp="1"/>
          </p:cNvSpPr>
          <p:nvPr/>
        </p:nvSpPr>
        <p:spPr>
          <a:xfrm>
            <a:off x="361112" y="5850685"/>
            <a:ext cx="2787609" cy="754277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1AF9821-0DCC-A00C-D3F2-160732BAEA86}"/>
              </a:ext>
            </a:extLst>
          </p:cNvPr>
          <p:cNvSpPr>
            <a:spLocks noGrp="1"/>
          </p:cNvSpPr>
          <p:nvPr/>
        </p:nvSpPr>
        <p:spPr>
          <a:xfrm>
            <a:off x="1102568" y="5872215"/>
            <a:ext cx="1304696" cy="1791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861"/>
          </a:bodyPr>
          <a:lstStyle/>
          <a:p>
            <a:pPr algn="ctr">
              <a:defRPr sz="1028" b="1" i="0">
                <a:solidFill>
                  <a:srgbClr val="072A4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028" i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AEP Audit Log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B673607-C6AD-A6F9-30DA-7742F99195D7}"/>
              </a:ext>
            </a:extLst>
          </p:cNvPr>
          <p:cNvSpPr>
            <a:spLocks noGrp="1"/>
          </p:cNvSpPr>
          <p:nvPr/>
        </p:nvSpPr>
        <p:spPr>
          <a:xfrm>
            <a:off x="528215" y="6117026"/>
            <a:ext cx="2547101" cy="3504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10" b="0" i="0">
                <a:solidFill>
                  <a:srgbClr val="001D3D"/>
                </a:solidFill>
                <a:latin typeface="Aptos"/>
                <a:ea typeface="Aptos"/>
                <a:cs typeface="Aptos"/>
              </a:defRPr>
            </a:pPr>
            <a:r>
              <a:rPr lang="en-US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Privacy Service provides job status &amp; completion receipts — retain as evidence for ICO audit trail.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64FCF584-870E-9721-5598-86D71B4B5AF3}"/>
              </a:ext>
            </a:extLst>
          </p:cNvPr>
          <p:cNvSpPr>
            <a:spLocks noGrp="1"/>
          </p:cNvSpPr>
          <p:nvPr/>
        </p:nvSpPr>
        <p:spPr>
          <a:xfrm>
            <a:off x="3302432" y="5847256"/>
            <a:ext cx="2787609" cy="754277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4F246AF2-A1AD-DEB7-26D7-58793FFDEDF5}"/>
              </a:ext>
            </a:extLst>
          </p:cNvPr>
          <p:cNvSpPr>
            <a:spLocks noGrp="1"/>
          </p:cNvSpPr>
          <p:nvPr/>
        </p:nvSpPr>
        <p:spPr>
          <a:xfrm>
            <a:off x="4043888" y="5878311"/>
            <a:ext cx="1304696" cy="1791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861"/>
          </a:bodyPr>
          <a:lstStyle/>
          <a:p>
            <a:pPr algn="ctr">
              <a:defRPr sz="1028" b="1" i="0">
                <a:solidFill>
                  <a:srgbClr val="072A4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028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AEP Timeline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5310785-37DA-F2C9-10E5-ADBE7A67C40E}"/>
              </a:ext>
            </a:extLst>
          </p:cNvPr>
          <p:cNvSpPr>
            <a:spLocks noGrp="1"/>
          </p:cNvSpPr>
          <p:nvPr/>
        </p:nvSpPr>
        <p:spPr>
          <a:xfrm>
            <a:off x="3469535" y="6123122"/>
            <a:ext cx="2547101" cy="551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10" b="0" i="0">
                <a:solidFill>
                  <a:srgbClr val="001D3D"/>
                </a:solidFill>
                <a:latin typeface="Aptos"/>
                <a:ea typeface="Aptos"/>
                <a:cs typeface="Aptos"/>
              </a:defRPr>
            </a:pPr>
            <a:r>
              <a:rPr lang="en-US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30-day statutory window. Processing time varies by data volume and Adobe application; profile deletion typically faster than data lake.</a:t>
            </a:r>
          </a:p>
        </p:txBody>
      </p: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85C05652-B869-49F6-22E7-5F45B68B277E}"/>
              </a:ext>
            </a:extLst>
          </p:cNvPr>
          <p:cNvSpPr>
            <a:spLocks noGrp="1"/>
          </p:cNvSpPr>
          <p:nvPr/>
        </p:nvSpPr>
        <p:spPr>
          <a:xfrm>
            <a:off x="6243752" y="5853352"/>
            <a:ext cx="2787609" cy="754277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10971FBF-A515-8C2E-DE22-981077F90EDF}"/>
              </a:ext>
            </a:extLst>
          </p:cNvPr>
          <p:cNvSpPr>
            <a:spLocks noGrp="1"/>
          </p:cNvSpPr>
          <p:nvPr/>
        </p:nvSpPr>
        <p:spPr>
          <a:xfrm>
            <a:off x="6985207" y="5884407"/>
            <a:ext cx="1515445" cy="1791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861"/>
          </a:bodyPr>
          <a:lstStyle/>
          <a:p>
            <a:pPr algn="ctr">
              <a:defRPr sz="1028" b="1" i="0">
                <a:solidFill>
                  <a:srgbClr val="072A4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028" b="1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mP</a:t>
            </a:r>
            <a:r>
              <a:rPr lang="en-IN" sz="1028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 Audit Log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15D5B0B-A1CF-2226-6974-DD00EA1D025B}"/>
              </a:ext>
            </a:extLst>
          </p:cNvPr>
          <p:cNvSpPr>
            <a:spLocks noGrp="1"/>
          </p:cNvSpPr>
          <p:nvPr/>
        </p:nvSpPr>
        <p:spPr>
          <a:xfrm>
            <a:off x="6410855" y="6129218"/>
            <a:ext cx="2547101" cy="551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10" b="0" i="0">
                <a:solidFill>
                  <a:srgbClr val="001D3D"/>
                </a:solidFill>
                <a:latin typeface="Aptos"/>
                <a:ea typeface="Aptos"/>
                <a:cs typeface="Aptos"/>
              </a:defRPr>
            </a:pPr>
            <a:r>
              <a:rPr lang="en-US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mParticle Dashboard (Privacy tab) shows OpenDSR job status per request. Export completion confirmations for ICO evidence.</a:t>
            </a:r>
          </a:p>
        </p:txBody>
      </p: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325562E-D520-5CB0-9CC0-405F65F0D2E7}"/>
              </a:ext>
            </a:extLst>
          </p:cNvPr>
          <p:cNvSpPr>
            <a:spLocks noGrp="1"/>
          </p:cNvSpPr>
          <p:nvPr/>
        </p:nvSpPr>
        <p:spPr>
          <a:xfrm>
            <a:off x="9185072" y="5859448"/>
            <a:ext cx="2787609" cy="754277"/>
          </a:xfrm>
          <a:prstGeom prst="roundRect">
            <a:avLst>
              <a:gd name="adj" fmla="val 6034"/>
            </a:avLst>
          </a:prstGeom>
          <a:solidFill>
            <a:srgbClr val="FFFFFF"/>
          </a:solidFill>
          <a:ln w="7620">
            <a:solidFill>
              <a:srgbClr val="DCE6F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17A7306-6792-76B0-8E9A-915E9E2F0881}"/>
              </a:ext>
            </a:extLst>
          </p:cNvPr>
          <p:cNvSpPr>
            <a:spLocks noGrp="1"/>
          </p:cNvSpPr>
          <p:nvPr/>
        </p:nvSpPr>
        <p:spPr>
          <a:xfrm>
            <a:off x="9926528" y="5890503"/>
            <a:ext cx="1304696" cy="17913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861"/>
          </a:bodyPr>
          <a:lstStyle/>
          <a:p>
            <a:pPr algn="ctr">
              <a:defRPr sz="1028" b="1" i="0">
                <a:solidFill>
                  <a:srgbClr val="072A4F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028" b="1" i="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mP</a:t>
            </a:r>
            <a:r>
              <a:rPr lang="en-IN" sz="1028" b="1" i="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 Timeline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50C2BBB-7B34-E57C-A244-5221E962BC39}"/>
              </a:ext>
            </a:extLst>
          </p:cNvPr>
          <p:cNvSpPr>
            <a:spLocks noGrp="1"/>
          </p:cNvSpPr>
          <p:nvPr/>
        </p:nvSpPr>
        <p:spPr>
          <a:xfrm>
            <a:off x="9352175" y="6135314"/>
            <a:ext cx="2547101" cy="551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buNone/>
              <a:defRPr sz="810" b="0" i="0">
                <a:solidFill>
                  <a:srgbClr val="001D3D"/>
                </a:solidFill>
                <a:latin typeface="Aptos"/>
                <a:ea typeface="Aptos"/>
                <a:cs typeface="Aptos"/>
              </a:defRPr>
            </a:pPr>
            <a:r>
              <a:rPr lang="en-US" sz="800" b="0" i="0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</a:rPr>
              <a:t>OpenDSR erasure fulfilled within 30-day SLA. Callbacks sent every 15 minutes as status changes (Pending → Sent/Failed).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CD23F91-FF83-CD50-2379-8AD753407CA9}"/>
              </a:ext>
            </a:extLst>
          </p:cNvPr>
          <p:cNvSpPr txBox="1"/>
          <p:nvPr/>
        </p:nvSpPr>
        <p:spPr>
          <a:xfrm>
            <a:off x="3075316" y="6657945"/>
            <a:ext cx="8613228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700" dirty="0">
                <a:latin typeface="+mj-lt"/>
                <a:ea typeface="Calibri" pitchFamily="34" charset="-122"/>
                <a:cs typeface="Calibri" pitchFamily="34" charset="-120"/>
              </a:rPr>
              <a:t>Regulation: UK GDPR Art. 17 (Right to Erasure)  |  APIs: AEP Privacy Service (platform.adobe.io/data/core/privacy/jobs) · mParticle OpenDSR v3 (opendsr.mparticle.com/v3/requests/)  |  SLA: 30 days</a:t>
            </a:r>
          </a:p>
        </p:txBody>
      </p:sp>
    </p:spTree>
    <p:extLst>
      <p:ext uri="{BB962C8B-B14F-4D97-AF65-F5344CB8AC3E}">
        <p14:creationId xmlns:p14="http://schemas.microsoft.com/office/powerpoint/2010/main" val="8094024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White">
  <a:themeElements>
    <a:clrScheme name="Custom 27">
      <a:dk1>
        <a:srgbClr val="000000"/>
      </a:dk1>
      <a:lt1>
        <a:srgbClr val="FFFFFF"/>
      </a:lt1>
      <a:dk2>
        <a:srgbClr val="0E1259"/>
      </a:dk2>
      <a:lt2>
        <a:srgbClr val="F7F5F2"/>
      </a:lt2>
      <a:accent1>
        <a:srgbClr val="007BFF"/>
      </a:accent1>
      <a:accent2>
        <a:srgbClr val="8CC6FF"/>
      </a:accent2>
      <a:accent3>
        <a:srgbClr val="71007B"/>
      </a:accent3>
      <a:accent4>
        <a:srgbClr val="FF9600"/>
      </a:accent4>
      <a:accent5>
        <a:srgbClr val="008765"/>
      </a:accent5>
      <a:accent6>
        <a:srgbClr val="C150C9"/>
      </a:accent6>
      <a:hlink>
        <a:srgbClr val="FF9600"/>
      </a:hlink>
      <a:folHlink>
        <a:srgbClr val="FFD79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Clerx Digital ppt template" id="{6B5C8273-BA28-AB41-9C5E-B7CB62A478E6}" vid="{C3E02240-5A5E-8A4C-8AD0-41F0E8A08DC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2207</Words>
  <Application>Microsoft Office PowerPoint</Application>
  <PresentationFormat>Widescreen</PresentationFormat>
  <Paragraphs>210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Edmondsans Regular</vt:lpstr>
      <vt:lpstr>Wingdings</vt:lpstr>
      <vt:lpstr>White</vt:lpstr>
      <vt:lpstr>Case Study - OneTrust A/B Testing for Consent Performance Improvement </vt:lpstr>
      <vt:lpstr>ObservePoint - Removing the Web Coverage Blindspot</vt:lpstr>
      <vt:lpstr>ObservePoint HAR Analyzer - App Log Validation</vt:lpstr>
      <vt:lpstr>Consent Signal Propagation — mParticle as CDP</vt:lpstr>
      <vt:lpstr>Data Subject Request (DSR) Handling - AEP/RTCDP vs mParticle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Rajavel T</dc:creator>
  <cp:lastModifiedBy>Rajavel T</cp:lastModifiedBy>
  <cp:revision>184</cp:revision>
  <dcterms:created xsi:type="dcterms:W3CDTF">2026-06-24T19:13:01Z</dcterms:created>
  <dcterms:modified xsi:type="dcterms:W3CDTF">2026-06-25T15:25:04Z</dcterms:modified>
</cp:coreProperties>
</file>